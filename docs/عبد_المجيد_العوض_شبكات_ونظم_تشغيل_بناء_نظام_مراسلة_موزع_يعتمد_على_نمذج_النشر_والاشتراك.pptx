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8" r:id="rId2"/>
    <p:sldId id="257" r:id="rId3"/>
    <p:sldId id="256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99" r:id="rId16"/>
    <p:sldId id="272" r:id="rId17"/>
    <p:sldId id="276" r:id="rId18"/>
    <p:sldId id="277" r:id="rId19"/>
    <p:sldId id="278" r:id="rId20"/>
    <p:sldId id="279" r:id="rId21"/>
    <p:sldId id="280" r:id="rId22"/>
    <p:sldId id="281" r:id="rId23"/>
    <p:sldId id="273" r:id="rId24"/>
    <p:sldId id="282" r:id="rId25"/>
    <p:sldId id="284" r:id="rId26"/>
    <p:sldId id="285" r:id="rId27"/>
    <p:sldId id="286" r:id="rId28"/>
    <p:sldId id="287" r:id="rId29"/>
    <p:sldId id="288" r:id="rId30"/>
    <p:sldId id="289" r:id="rId31"/>
    <p:sldId id="274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8" r:id="rId40"/>
    <p:sldId id="25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463B"/>
    <a:srgbClr val="385F58"/>
    <a:srgbClr val="BEA77E"/>
    <a:srgbClr val="FFFFFF"/>
    <a:srgbClr val="DFCBAA"/>
    <a:srgbClr val="E7D5A4"/>
    <a:srgbClr val="395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50" d="100"/>
          <a:sy n="50" d="100"/>
        </p:scale>
        <p:origin x="1925" y="653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9628D-6231-41F7-A4D7-3A1EE7B22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E6432-B747-4029-ADD7-5442B405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7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17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56BF-DF7E-69D3-3045-60F33674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03D16-47AE-D3FD-0F79-699B7AC16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1925B-E8BD-0F24-78BC-252C05784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5AFFA-1C61-19B7-0869-E8E2D369A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4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3B20B-7E4D-EDC0-D41F-BD4E4146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8824C-1E6C-3A1B-9C35-4AD3E9D00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1A7D8-24D2-0D24-17E8-92D9A492F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053F0-942F-6037-8A14-A590DCCCD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04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2B60-C930-1BA6-4B9A-14142A7E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C631F-17F6-A64E-8A27-50EDDE300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C835A-9928-833E-01B1-A85231636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CE8BF-0D0E-F5DD-5FF2-F61131E94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49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E7EC-7B54-819F-928C-F13BE1B9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4FF48-C68E-6896-B84C-EEE1330F1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8BC27-DB63-FF38-5D4B-ECCB4430C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BF11A-EE04-BCF1-4092-83227D78D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35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B331-956E-6BDF-E5A7-9F722B7B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C316C-1B5F-ADBB-D278-659DD1351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7AA0E-7518-2976-0E07-2552010F5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10166-EE45-EC6E-39FF-4BA6A5FE0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30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8E780-E2C6-0A12-7CE1-41003006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2D371-EE61-B7D1-C809-A27ABD5FB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18FA6-3056-EF27-C7A7-90D8B1E97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0EAC1-174D-4A33-8CEE-9B48358B4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37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AB02-252D-E7BB-0E0F-1BB5A5F8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00CEA-475F-7891-8D1A-4C652F6C8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9D937-BD3F-4844-C683-32AE25AAF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174F4-9B21-19AE-6EE2-1C2CEDFFB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66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82798-8D6E-2E77-4845-EBD9521A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0F592-F73F-04A6-42B6-45ABC0AF1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48962-B896-52C0-6527-084845C57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FB6C-4647-013E-3B08-E84539B83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9570-48D6-BE68-AE15-F2695B98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66A12-739B-4E30-A002-0C73EC915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45180-9DF1-1516-2D4D-026081F10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74817-DF5E-5813-8820-AA4C6A95F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14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19BDF-286F-BA0A-2639-C73DA26A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A09DA-954E-F754-A109-E43D7EA6F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F5AB0-46F8-0615-AEB2-C2AB5459A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E0621-4C0B-015A-4C10-B010420E3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6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B0BCA-A186-90F7-69BE-754BD5EE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EC19F-7DA7-2790-A912-67A6AB027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51092-98CB-210E-ECD0-7CFBD13CE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09A06-1C11-3526-FBA3-1DA1B3805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67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857E2-F6D3-6290-6A0E-01E62A45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5580B-94D5-AB5C-5157-66F147352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5F720-BDAD-0A43-1CD6-43E5862F3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8206C-E328-2911-18F7-375FDB974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33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4DDC-E518-18F6-EB32-47E378BE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49278-FC39-6D21-F037-D48A8CA53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27DE1-9A22-95D8-7A49-8AFF09A88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48224-AC4D-FA3A-8176-705C66791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98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AEB1-64CA-42CD-57C8-2844387A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BF7CC-5AE3-0547-9044-2521C811F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B7A8B-914D-6406-F36A-A0C46591C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80C3-AA42-1080-F47B-33AB14299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03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1B0D-4D5A-6520-C313-CD699416F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FA292-1008-4A12-99DC-C294A84B6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AB953-BF0C-65FF-F94E-9E5E779CE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0212E-530F-BAFD-615F-D322C8337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66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C44C-3ADF-4F35-0F37-9EF52700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61552-54F5-CF3F-0B62-B38E5B09F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34383-75BE-2DD0-C039-EAB9E1648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9DBC3-9DF5-D069-6C9D-9B62FFC1E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2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C577-CDB1-054F-15A1-485B01A6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143F9-BAC6-2609-AD3C-9A6B6B69E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3BCE2-5704-7DA0-32E7-73478B259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CE7DA-36C1-3356-82A3-08B369F5E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38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2610-B656-1AC9-3DC7-9B768297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DAF92-5D1F-312C-27B8-EB09A2813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65FA8-A8CB-5D61-7108-5585B9489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E16CB-1225-80B8-8E04-4C89C7F22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9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9A8F-D20F-F8A9-56CC-50730FF0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6EBAD-FDF9-81C3-6AAC-80037F476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8F370-2AA9-9DAD-7423-0191DBBF0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FDE51-8F3F-A904-7A63-EB1AD9B31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75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38B37-DEBE-025E-507C-16FC7ED4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B28E5-4738-69F9-D261-B9F805C9E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61BFA-8582-0520-28F4-2128E9374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9CB3D-64FA-1A77-6684-B9B3278F2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932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BCFC7-1FA6-BB44-7F77-D2130E2E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5F472-0CEE-9F15-7B35-8A728CAA6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13748-B5B1-38DC-632D-6C0E556FB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A23E8-F63D-5C58-4D2C-114B09F64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62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21817-3CCB-1AD1-8A05-242E96F1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8D1EA-192A-6590-23B5-CC50324C2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4A8C0-E5EB-38B2-E177-857EB1EFA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C9922-8944-5F68-468A-CDBFFD248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021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67029-C95C-6065-1161-06973C57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478C3-D6E3-DBA1-1DBF-F4F19F840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A821A-7F46-22A7-CC4F-B2B4B3193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BD1C5-F001-9D44-6624-C7E467A4B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83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A16B3-CEF3-38C2-A50F-BB06CC9E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CADB6-411A-947C-64F7-E72DC8409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3E3B8-6A2F-BE4F-9C6A-90BA2F923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DCE94-86EF-88EF-E703-735BDE685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94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8EF52-4FCE-8AFA-6D66-D6B4E54A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58918B-8907-9750-BEF9-1E070F18D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1DF34-126E-6B38-0DA8-0B9B13319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5B11D-286D-B895-C3C5-95DD30664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830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DBCE-7959-7A69-1429-D65E4011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0676D-AD92-7C6B-2D79-DD97A7D8E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BC036-5AFF-57B8-454C-26AAA8AA7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1EBEF-4318-0E10-958B-67782A25F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46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E586F-875B-4196-4827-8FA3E205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5B06B-754E-C536-9FD5-74CC83B05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79786-3991-94ED-F3C9-54C04E689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588EB-794D-2F1E-0D47-3F8D83F05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387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8524-791C-B5E6-8517-B48C36F4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695E4-422C-6E0C-DE6A-CB7B9AE6A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49B4B-89F2-A151-ABB0-76AB51EE5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2475-08FA-7A25-1AAD-87BD991AB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6432-B747-4029-ADD7-5442B4053CB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8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D201-B944-EF1F-5D0B-9B5E979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61E7D-0727-2273-2CC5-7607678F4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1C287-B0FA-01B4-39FD-6196BD363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9E550-AC07-5EB2-2CF2-2422573E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4A0CE-E5F9-31BC-AE3C-4E6BA9B9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C89E-99E9-877B-5222-EEA3A4C6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52C2E-7549-496F-9F65-29B65E13D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F3163-868C-94B4-6380-DFEF89E6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7CE02-5EF8-B344-7C82-1C05ED1B1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F0999-BF89-025C-BB33-BBE01513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7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A615-C5B7-13EC-4501-ED1661CB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C275A-61CC-CD2E-B158-5D83B57FF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5BFC1-D471-0BB6-FEF6-B691D6F2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F3346-EDE3-B4FC-39DD-37975EDC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32108-361A-C466-7271-BCA9BD67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43B8-06D7-DE53-BF2F-33870879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FD0C-D1AA-D99F-7488-5ED1885D3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CDAF0-838C-0B86-2B94-078F46A90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AC63E-0B70-1085-5510-C319A01F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FCFC8-AFAF-D0BB-C48B-46E746C4F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8DFF4-6636-0C7A-0031-ADABCBBD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2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2106-30F3-C885-2080-ECAFE3DF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5E75C-FF08-C5C4-B703-0121EB60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CD06E-17CE-B016-2E58-736032991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DC976-76EA-2AA8-FB03-CE02937E2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CB902-2B45-A64A-6DBD-5E7497ED3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88D5B-6DAF-0487-2AE3-D1B28E9E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BA628-7C34-FBEF-C8AE-D4DA2EA2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8EC14-F19D-5165-5490-5E108706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2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DD4A-5EE6-A614-6207-D3751DED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B3C07-DD59-C31C-19D8-C36CFB70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3FAA3-A28C-39CE-93D5-2CA13932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4FF62-BA5D-0355-6006-8CFB4A5D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8BDF8-5AA6-B281-84BF-88CDA8A3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E9F69-7C23-5F3C-0C8A-D964C9F0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8A2AE-A715-8266-F86B-2BD67D7D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B80A-94F1-9668-2ACE-A4AC9396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571D8-143C-08C0-0EA0-5DBB8252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261FD-BFC8-22AB-7A2D-1E504AC86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269A4-F2CF-D620-4C26-A55313C7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36BBF-92E5-BF55-6C41-0BB1A1A2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0A95F-CB91-382D-5E5F-EF82DA53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9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AFB3-CE0B-7FF8-53E3-7700EB2E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E5F85-D64A-0937-FB89-8F1CB6F3256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568A7-9594-1B5A-2332-5D93089EF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63D4C-DECA-6680-646D-0067522F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CF2B6-D26B-490A-BA8A-91E2F74E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5B376-D8E7-D7BE-AAD9-08A4A5F8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C0F16-1093-1C57-3AFC-03589610E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2A55F-B071-308F-2D51-EF4574157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B29F8-A920-CF27-39E8-C3D72723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C969-55C6-A038-6FA0-E85EE91D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7F9A-6055-1C58-290F-984CBBCA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1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3F93E-B7CA-F021-C2E8-D8C7AA86D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480F6-AF2F-9E50-78B1-C241989AB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BFD3-B6D1-B648-2F9E-1C6E2380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E2EE0-DE8B-5E73-237A-C7A2F710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6E21-7237-6ED6-6DAC-57F06F85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5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14111-658A-F055-FAC2-5E13B18F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A221D-0CC4-A994-535C-A5203B53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29ECF-5AA2-6E06-A68E-DD29E5D6C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BDA79-B725-4D13-8652-8862F6B1277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EF7D-E716-C634-BBDD-B90E3E578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5FEC2-E3C2-1A78-03CF-4059BF401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2F1B6-B524-4B75-ADA0-6CFCE434F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0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CEA8E4-C69E-24F6-149D-017FCA1AB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C06A60-C1BB-F53E-C3ED-D7495CA839CC}"/>
              </a:ext>
            </a:extLst>
          </p:cNvPr>
          <p:cNvSpPr txBox="1"/>
          <p:nvPr/>
        </p:nvSpPr>
        <p:spPr>
          <a:xfrm>
            <a:off x="2692400" y="1742205"/>
            <a:ext cx="680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tabLst>
                <a:tab pos="0" algn="l"/>
              </a:tabLst>
            </a:pPr>
            <a:r>
              <a:rPr lang="ar-SY" sz="60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بناء نظام مراسلة موزع يعتمد على نموذج النشر والاشتراك</a:t>
            </a:r>
            <a:endParaRPr lang="en-US" sz="6000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7B960-BE00-3A38-26DC-424E4875EC2A}"/>
              </a:ext>
            </a:extLst>
          </p:cNvPr>
          <p:cNvCxnSpPr/>
          <p:nvPr/>
        </p:nvCxnSpPr>
        <p:spPr>
          <a:xfrm flipH="1">
            <a:off x="3451123" y="368119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2D5C5B-3A3D-51FA-45DC-2D3EA5EAE25E}"/>
              </a:ext>
            </a:extLst>
          </p:cNvPr>
          <p:cNvSpPr txBox="1"/>
          <p:nvPr/>
        </p:nvSpPr>
        <p:spPr>
          <a:xfrm>
            <a:off x="4069080" y="4013200"/>
            <a:ext cx="4053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إعداد الطالب: عبد المجيد علي العوض</a:t>
            </a:r>
            <a:b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إشراف: د. حسين خيو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r>
              <a:rPr lang="en-US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1037728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C94F38-31A5-5EF6-6FA4-E0E70B895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D7C5C6-B4EF-F44A-B717-9C98C5470656}"/>
              </a:ext>
            </a:extLst>
          </p:cNvPr>
          <p:cNvSpPr txBox="1"/>
          <p:nvPr/>
        </p:nvSpPr>
        <p:spPr>
          <a:xfrm>
            <a:off x="1371600" y="2635200"/>
            <a:ext cx="629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80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أولاً: التعريف بالمشروع</a:t>
            </a:r>
            <a:endParaRPr lang="en-US" sz="80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FA221-FD62-CE17-A360-5D6A6AE08C56}"/>
              </a:ext>
            </a:extLst>
          </p:cNvPr>
          <p:cNvSpPr txBox="1"/>
          <p:nvPr/>
        </p:nvSpPr>
        <p:spPr>
          <a:xfrm>
            <a:off x="9997440" y="4439920"/>
            <a:ext cx="66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sz="4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09529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D300C5-55CB-F647-48BC-63FED701A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AF4FE-6B41-B5BE-D6D0-FF42ABDB9DFF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AF5138-A587-234F-AA24-F860C1B39DF1}"/>
              </a:ext>
            </a:extLst>
          </p:cNvPr>
          <p:cNvSpPr txBox="1"/>
          <p:nvPr/>
        </p:nvSpPr>
        <p:spPr>
          <a:xfrm>
            <a:off x="10076429" y="233680"/>
            <a:ext cx="177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التعريف بالمشروع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DB7866-5E82-E089-D71D-CBACDD3A2FD7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FBB32FE-07B5-3EDE-CD94-21303B340661}"/>
              </a:ext>
            </a:extLst>
          </p:cNvPr>
          <p:cNvSpPr txBox="1"/>
          <p:nvPr/>
        </p:nvSpPr>
        <p:spPr>
          <a:xfrm>
            <a:off x="9328731" y="866328"/>
            <a:ext cx="2513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المشكلة</a:t>
            </a:r>
            <a:endParaRPr lang="en-US" sz="4800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5B4129-D40F-C554-206B-1CED05534FF8}"/>
              </a:ext>
            </a:extLst>
          </p:cNvPr>
          <p:cNvSpPr/>
          <p:nvPr/>
        </p:nvSpPr>
        <p:spPr>
          <a:xfrm>
            <a:off x="10781311" y="1724490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D8DE7B-433C-0E87-8F63-D841E30747FD}"/>
              </a:ext>
            </a:extLst>
          </p:cNvPr>
          <p:cNvSpPr/>
          <p:nvPr/>
        </p:nvSpPr>
        <p:spPr>
          <a:xfrm>
            <a:off x="10787268" y="2501273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674FDE-B213-F2C6-D032-A7272D20B8FC}"/>
              </a:ext>
            </a:extLst>
          </p:cNvPr>
          <p:cNvSpPr/>
          <p:nvPr/>
        </p:nvSpPr>
        <p:spPr>
          <a:xfrm>
            <a:off x="10787268" y="3283982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37FFD4-DBE4-42B2-52DB-6E725CA17BFC}"/>
              </a:ext>
            </a:extLst>
          </p:cNvPr>
          <p:cNvSpPr/>
          <p:nvPr/>
        </p:nvSpPr>
        <p:spPr>
          <a:xfrm>
            <a:off x="10791472" y="4040693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405AE2D-066D-04F2-8186-F914A6081B20}"/>
              </a:ext>
            </a:extLst>
          </p:cNvPr>
          <p:cNvSpPr/>
          <p:nvPr/>
        </p:nvSpPr>
        <p:spPr>
          <a:xfrm>
            <a:off x="10787268" y="4761212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4D4D1D-3483-C1FF-43EF-76D43BD7F2E6}"/>
              </a:ext>
            </a:extLst>
          </p:cNvPr>
          <p:cNvSpPr/>
          <p:nvPr/>
        </p:nvSpPr>
        <p:spPr>
          <a:xfrm>
            <a:off x="6354501" y="1701463"/>
            <a:ext cx="4050226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ارتباط مباشر بين المرسل والمستقبلين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390BC7-8054-7EC1-5277-5ABEF6AE5C65}"/>
              </a:ext>
            </a:extLst>
          </p:cNvPr>
          <p:cNvSpPr/>
          <p:nvPr/>
        </p:nvSpPr>
        <p:spPr>
          <a:xfrm>
            <a:off x="6354501" y="2484127"/>
            <a:ext cx="4050226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فشل إحدى الخدمات قد يؤدي إلى فشل النظام</a:t>
            </a:r>
            <a:endParaRPr lang="en-US" sz="24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AC05F0-4928-4675-DBC8-5818283CC354}"/>
              </a:ext>
            </a:extLst>
          </p:cNvPr>
          <p:cNvSpPr/>
          <p:nvPr/>
        </p:nvSpPr>
        <p:spPr>
          <a:xfrm>
            <a:off x="6354501" y="3258029"/>
            <a:ext cx="4050226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صعوبة توزيع الرسائل عند زيادة المستخدمين</a:t>
            </a:r>
            <a:endParaRPr lang="en-US" sz="24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31814D8-0A0B-565C-CD06-B73E4455B593}"/>
              </a:ext>
            </a:extLst>
          </p:cNvPr>
          <p:cNvSpPr/>
          <p:nvPr/>
        </p:nvSpPr>
        <p:spPr>
          <a:xfrm>
            <a:off x="6354501" y="4040693"/>
            <a:ext cx="4050226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احتمال فقدان الرسائل عند انقطاع الاتصال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FFA9517-3811-0E66-CD17-DB3183C9190D}"/>
              </a:ext>
            </a:extLst>
          </p:cNvPr>
          <p:cNvSpPr/>
          <p:nvPr/>
        </p:nvSpPr>
        <p:spPr>
          <a:xfrm>
            <a:off x="6356603" y="4761212"/>
            <a:ext cx="4050226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حاجة دائمة للتحقق من الصلاحيات والتدقيق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866B06-FC6C-1110-FEAD-C745E7D16FC9}"/>
              </a:ext>
            </a:extLst>
          </p:cNvPr>
          <p:cNvGrpSpPr/>
          <p:nvPr/>
        </p:nvGrpSpPr>
        <p:grpSpPr>
          <a:xfrm>
            <a:off x="862049" y="2115769"/>
            <a:ext cx="4180335" cy="3229294"/>
            <a:chOff x="862049" y="2115769"/>
            <a:chExt cx="4180335" cy="322929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F0B30B7-795C-8523-6C03-5B08D484EBC7}"/>
                </a:ext>
              </a:extLst>
            </p:cNvPr>
            <p:cNvSpPr/>
            <p:nvPr/>
          </p:nvSpPr>
          <p:spPr>
            <a:xfrm>
              <a:off x="862049" y="3239857"/>
              <a:ext cx="1150665" cy="548640"/>
            </a:xfrm>
            <a:prstGeom prst="roundRect">
              <a:avLst/>
            </a:prstGeom>
            <a:solidFill>
              <a:srgbClr val="385F5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Y" sz="28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المرسل</a:t>
              </a:r>
              <a:endParaRPr lang="en-US" sz="28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F511958E-F7A9-F92F-C754-24B3DF2A80A7}"/>
                </a:ext>
              </a:extLst>
            </p:cNvPr>
            <p:cNvSpPr/>
            <p:nvPr/>
          </p:nvSpPr>
          <p:spPr>
            <a:xfrm>
              <a:off x="3891718" y="4796423"/>
              <a:ext cx="1150665" cy="548640"/>
            </a:xfrm>
            <a:prstGeom prst="roundRect">
              <a:avLst/>
            </a:prstGeom>
            <a:solidFill>
              <a:srgbClr val="BEA77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Y" sz="28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المستقبل</a:t>
              </a:r>
              <a:endParaRPr lang="en-US" sz="28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B81F8B6-58CB-C1DD-FCED-8E60D49946B2}"/>
                </a:ext>
              </a:extLst>
            </p:cNvPr>
            <p:cNvSpPr/>
            <p:nvPr/>
          </p:nvSpPr>
          <p:spPr>
            <a:xfrm>
              <a:off x="3891717" y="3908845"/>
              <a:ext cx="1150665" cy="548640"/>
            </a:xfrm>
            <a:prstGeom prst="roundRect">
              <a:avLst/>
            </a:prstGeom>
            <a:solidFill>
              <a:srgbClr val="BEA77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Y" sz="28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المستقبل</a:t>
              </a:r>
              <a:endParaRPr lang="en-US" sz="28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039EEB5-A9D0-EB14-49D0-BCFA1575C018}"/>
                </a:ext>
              </a:extLst>
            </p:cNvPr>
            <p:cNvSpPr/>
            <p:nvPr/>
          </p:nvSpPr>
          <p:spPr>
            <a:xfrm>
              <a:off x="3891719" y="3009662"/>
              <a:ext cx="1150665" cy="548640"/>
            </a:xfrm>
            <a:prstGeom prst="roundRect">
              <a:avLst/>
            </a:prstGeom>
            <a:solidFill>
              <a:srgbClr val="BEA77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Y" sz="28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المستقبل</a:t>
              </a:r>
              <a:endParaRPr lang="en-US" sz="28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8A074DE-2C6E-899D-481B-34C6B844C7C9}"/>
                </a:ext>
              </a:extLst>
            </p:cNvPr>
            <p:cNvSpPr/>
            <p:nvPr/>
          </p:nvSpPr>
          <p:spPr>
            <a:xfrm>
              <a:off x="3891719" y="2115769"/>
              <a:ext cx="1150665" cy="548640"/>
            </a:xfrm>
            <a:prstGeom prst="roundRect">
              <a:avLst/>
            </a:prstGeom>
            <a:solidFill>
              <a:srgbClr val="BEA77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Y" sz="28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المستقبل</a:t>
              </a:r>
              <a:endParaRPr lang="en-US" sz="28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03CE1D4-C72D-7321-0503-E128F137F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2714" y="2390089"/>
              <a:ext cx="1879003" cy="893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EB46524-1837-D31B-84C3-301F90D64049}"/>
                </a:ext>
              </a:extLst>
            </p:cNvPr>
            <p:cNvCxnSpPr>
              <a:endCxn id="37" idx="1"/>
            </p:cNvCxnSpPr>
            <p:nvPr/>
          </p:nvCxnSpPr>
          <p:spPr>
            <a:xfrm flipV="1">
              <a:off x="2012714" y="3283982"/>
              <a:ext cx="1879005" cy="1811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495E702-CD4D-A39D-E78F-274A3D16F22D}"/>
                </a:ext>
              </a:extLst>
            </p:cNvPr>
            <p:cNvCxnSpPr>
              <a:endCxn id="35" idx="1"/>
            </p:cNvCxnSpPr>
            <p:nvPr/>
          </p:nvCxnSpPr>
          <p:spPr>
            <a:xfrm>
              <a:off x="2012714" y="3636090"/>
              <a:ext cx="1879003" cy="5470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08CA969-18F0-540B-4A56-C4FE326B2D2E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1965229" y="3739439"/>
              <a:ext cx="1926489" cy="13313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2727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2C64-7D49-90F7-84C3-3846C35A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6581EB-85D6-5506-356B-7625F5E63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112193-D9A5-1A1C-3739-942FE17FAFDC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FE2BE-49E2-7747-F270-D6BC7DBF5B4C}"/>
              </a:ext>
            </a:extLst>
          </p:cNvPr>
          <p:cNvSpPr txBox="1"/>
          <p:nvPr/>
        </p:nvSpPr>
        <p:spPr>
          <a:xfrm>
            <a:off x="10076429" y="233680"/>
            <a:ext cx="177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التعريف بالمشروع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C53005-E25F-CAB0-CD8D-74588D3BE197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0C9D88-2822-F364-39E3-989687FFD9FB}"/>
              </a:ext>
            </a:extLst>
          </p:cNvPr>
          <p:cNvSpPr txBox="1"/>
          <p:nvPr/>
        </p:nvSpPr>
        <p:spPr>
          <a:xfrm>
            <a:off x="9328731" y="866328"/>
            <a:ext cx="2513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الحل المقترح</a:t>
            </a:r>
            <a:endParaRPr lang="en-US" sz="4800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B1B54D-590B-129E-349B-3C0BA068A67B}"/>
              </a:ext>
            </a:extLst>
          </p:cNvPr>
          <p:cNvSpPr/>
          <p:nvPr/>
        </p:nvSpPr>
        <p:spPr>
          <a:xfrm>
            <a:off x="10781311" y="1724490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4AF58D-20F8-7A0A-0627-8AF4B0028E98}"/>
              </a:ext>
            </a:extLst>
          </p:cNvPr>
          <p:cNvSpPr/>
          <p:nvPr/>
        </p:nvSpPr>
        <p:spPr>
          <a:xfrm>
            <a:off x="10787268" y="2501273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F8F190-6E0C-C0A1-ADB2-42E2039B81ED}"/>
              </a:ext>
            </a:extLst>
          </p:cNvPr>
          <p:cNvSpPr/>
          <p:nvPr/>
        </p:nvSpPr>
        <p:spPr>
          <a:xfrm>
            <a:off x="10787268" y="3283982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90995C-8D07-ACCC-314D-57600712FA1C}"/>
              </a:ext>
            </a:extLst>
          </p:cNvPr>
          <p:cNvSpPr/>
          <p:nvPr/>
        </p:nvSpPr>
        <p:spPr>
          <a:xfrm>
            <a:off x="10791472" y="4040693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2CD9B7-61C7-412D-1CBF-27C58E09E1B7}"/>
              </a:ext>
            </a:extLst>
          </p:cNvPr>
          <p:cNvSpPr/>
          <p:nvPr/>
        </p:nvSpPr>
        <p:spPr>
          <a:xfrm>
            <a:off x="10787268" y="4761212"/>
            <a:ext cx="548640" cy="548640"/>
          </a:xfrm>
          <a:prstGeom prst="ellipse">
            <a:avLst/>
          </a:prstGeom>
          <a:solidFill>
            <a:srgbClr val="BEA7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4CBDBF-298A-2D78-49D5-8C29219D8D7D}"/>
              </a:ext>
            </a:extLst>
          </p:cNvPr>
          <p:cNvSpPr/>
          <p:nvPr/>
        </p:nvSpPr>
        <p:spPr>
          <a:xfrm>
            <a:off x="6667017" y="1701463"/>
            <a:ext cx="3737709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استثمار نموذج النشر والاشتراك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95144B-AF80-4991-7900-31AB714C2C78}"/>
              </a:ext>
            </a:extLst>
          </p:cNvPr>
          <p:cNvSpPr/>
          <p:nvPr/>
        </p:nvSpPr>
        <p:spPr>
          <a:xfrm>
            <a:off x="6667017" y="2484127"/>
            <a:ext cx="3737709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بناء نظام المراسلة بشكل موزع</a:t>
            </a:r>
            <a:endParaRPr lang="en-US" sz="24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FA4C3E9-2986-3A8C-1D01-9C9B6D66AB60}"/>
              </a:ext>
            </a:extLst>
          </p:cNvPr>
          <p:cNvSpPr/>
          <p:nvPr/>
        </p:nvSpPr>
        <p:spPr>
          <a:xfrm>
            <a:off x="6667017" y="3258029"/>
            <a:ext cx="3737709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فصل النشر عن التوزيع لتحسين قابلية التوسع</a:t>
            </a:r>
            <a:endParaRPr lang="en-US" sz="24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DAC8B7-C012-0C56-A1AE-CAC54826807B}"/>
              </a:ext>
            </a:extLst>
          </p:cNvPr>
          <p:cNvSpPr/>
          <p:nvPr/>
        </p:nvSpPr>
        <p:spPr>
          <a:xfrm>
            <a:off x="6667017" y="4040693"/>
            <a:ext cx="3737709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توفير تخزين دائم للرسائل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FE91003-3CC6-B993-62C5-4D49BE928B5D}"/>
              </a:ext>
            </a:extLst>
          </p:cNvPr>
          <p:cNvSpPr/>
          <p:nvPr/>
        </p:nvSpPr>
        <p:spPr>
          <a:xfrm>
            <a:off x="6669119" y="4761212"/>
            <a:ext cx="3737709" cy="548640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دعم الأمان والصلاحيات والاتصال اللحظي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B39C16-CF85-08B4-3B13-7E9EB874B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4" y="2386362"/>
            <a:ext cx="6608913" cy="220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20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0993-C804-4504-812C-55F44E8C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82B352-79CF-EAB4-BD61-E7FC88082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16576D-BD57-5C30-B114-789C707AAB5D}"/>
              </a:ext>
            </a:extLst>
          </p:cNvPr>
          <p:cNvSpPr txBox="1"/>
          <p:nvPr/>
        </p:nvSpPr>
        <p:spPr>
          <a:xfrm>
            <a:off x="10076429" y="233680"/>
            <a:ext cx="177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التعريف بالمشروع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42B23F-FDA9-EF66-4C16-22C8D7925E14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66FDFA-D6EF-84D2-D111-FDF70A9E6FFF}"/>
              </a:ext>
            </a:extLst>
          </p:cNvPr>
          <p:cNvSpPr txBox="1"/>
          <p:nvPr/>
        </p:nvSpPr>
        <p:spPr>
          <a:xfrm>
            <a:off x="6991109" y="866328"/>
            <a:ext cx="4851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نموذج النشر والاشتراك</a:t>
            </a:r>
            <a:endParaRPr lang="en-US" sz="4800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617548-A99E-FEB5-F8C8-9F91102D7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595" y="1540469"/>
            <a:ext cx="7706810" cy="25689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5EB87D-27F9-DD9C-000F-EDFBACA3CE07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C52D1B-624F-02CA-CD44-D96B19249743}"/>
              </a:ext>
            </a:extLst>
          </p:cNvPr>
          <p:cNvSpPr/>
          <p:nvPr/>
        </p:nvSpPr>
        <p:spPr>
          <a:xfrm>
            <a:off x="10451266" y="2116108"/>
            <a:ext cx="1435261" cy="1993297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يرسل الناشر رسالة </a:t>
            </a:r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واحدة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173964-1A8A-07D1-1B08-B2B5BB36D22D}"/>
              </a:ext>
            </a:extLst>
          </p:cNvPr>
          <p:cNvSpPr/>
          <p:nvPr/>
        </p:nvSpPr>
        <p:spPr>
          <a:xfrm>
            <a:off x="11429327" y="21161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45C0EF-EF2D-94B5-19E3-DFA656B4BC89}"/>
              </a:ext>
            </a:extLst>
          </p:cNvPr>
          <p:cNvSpPr/>
          <p:nvPr/>
        </p:nvSpPr>
        <p:spPr>
          <a:xfrm>
            <a:off x="505100" y="2116108"/>
            <a:ext cx="1435261" cy="1993297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يدعم المعالجة غير المتزامنة وتحسين موثوقية التوزيع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1640D68-696E-A707-29B8-CEFDE9C9BBD4}"/>
              </a:ext>
            </a:extLst>
          </p:cNvPr>
          <p:cNvSpPr/>
          <p:nvPr/>
        </p:nvSpPr>
        <p:spPr>
          <a:xfrm>
            <a:off x="1483161" y="21161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B80C84E-0494-F596-7570-289BB80C4F1C}"/>
              </a:ext>
            </a:extLst>
          </p:cNvPr>
          <p:cNvSpPr/>
          <p:nvPr/>
        </p:nvSpPr>
        <p:spPr>
          <a:xfrm>
            <a:off x="7630872" y="4515412"/>
            <a:ext cx="1435261" cy="1957159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يتولى الوسيط توجيه الرسائل إلى المشتركين المناسبين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D801D9A-EA54-7636-15E5-2AE63111CF85}"/>
              </a:ext>
            </a:extLst>
          </p:cNvPr>
          <p:cNvSpPr/>
          <p:nvPr/>
        </p:nvSpPr>
        <p:spPr>
          <a:xfrm>
            <a:off x="8608933" y="4515413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B8AD9BD-E6C6-96BD-3174-97306E94D445}"/>
              </a:ext>
            </a:extLst>
          </p:cNvPr>
          <p:cNvSpPr/>
          <p:nvPr/>
        </p:nvSpPr>
        <p:spPr>
          <a:xfrm>
            <a:off x="5302914" y="4494833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يحتاج المرسل إلى معرفة جميع المستقبلين مباشرة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EAB696-35F7-135F-28D1-766BB7487CCF}"/>
              </a:ext>
            </a:extLst>
          </p:cNvPr>
          <p:cNvSpPr/>
          <p:nvPr/>
        </p:nvSpPr>
        <p:spPr>
          <a:xfrm>
            <a:off x="6280975" y="4494833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043F73A-F37D-AEBD-6859-72506F58D931}"/>
              </a:ext>
            </a:extLst>
          </p:cNvPr>
          <p:cNvSpPr/>
          <p:nvPr/>
        </p:nvSpPr>
        <p:spPr>
          <a:xfrm>
            <a:off x="2974957" y="4515413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يحقق هذا النموذج تقليل الترابط وسهولة التوسع</a:t>
            </a:r>
            <a:endParaRPr lang="en-US" sz="2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8B0916-EFDB-C06B-AE47-7D2BAEEE82D3}"/>
              </a:ext>
            </a:extLst>
          </p:cNvPr>
          <p:cNvSpPr/>
          <p:nvPr/>
        </p:nvSpPr>
        <p:spPr>
          <a:xfrm>
            <a:off x="3960705" y="4515413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7903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9C66-4574-B0C0-5346-C7334BCB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BBCC1-92D0-2D76-E974-95BCBBC75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C1661A-AEE3-8340-5515-C5AA552C4B2E}"/>
              </a:ext>
            </a:extLst>
          </p:cNvPr>
          <p:cNvSpPr txBox="1"/>
          <p:nvPr/>
        </p:nvSpPr>
        <p:spPr>
          <a:xfrm>
            <a:off x="1371600" y="2635200"/>
            <a:ext cx="629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80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ثانياً: متطلبات الحل</a:t>
            </a:r>
            <a:endParaRPr lang="en-US" sz="80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7663A-B817-1056-330D-AF281FC6F236}"/>
              </a:ext>
            </a:extLst>
          </p:cNvPr>
          <p:cNvSpPr txBox="1"/>
          <p:nvPr/>
        </p:nvSpPr>
        <p:spPr>
          <a:xfrm>
            <a:off x="9997440" y="4439920"/>
            <a:ext cx="66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sz="4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2704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680A-BF65-A12D-66D5-29AA3808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BE410D-3A54-F76F-38E9-F0BB7BD50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947BE8-47EF-3B11-1FE2-4039B51E9E74}"/>
              </a:ext>
            </a:extLst>
          </p:cNvPr>
          <p:cNvSpPr txBox="1"/>
          <p:nvPr/>
        </p:nvSpPr>
        <p:spPr>
          <a:xfrm>
            <a:off x="10076429" y="233680"/>
            <a:ext cx="177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متطلبات الحل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7C437A-2787-D077-47A5-012ED8B9EA50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749546-6B37-E413-2312-60820B480A38}"/>
              </a:ext>
            </a:extLst>
          </p:cNvPr>
          <p:cNvSpPr txBox="1"/>
          <p:nvPr/>
        </p:nvSpPr>
        <p:spPr>
          <a:xfrm>
            <a:off x="6991109" y="866328"/>
            <a:ext cx="4851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متطلبات وظيفية</a:t>
            </a:r>
            <a:endParaRPr lang="en-US" sz="4800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C44CD6-4B75-D71F-C28B-AB0AEAC6C99A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7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69296A-293D-8DDA-DE02-CC160A3F8F91}"/>
              </a:ext>
            </a:extLst>
          </p:cNvPr>
          <p:cNvSpPr/>
          <p:nvPr/>
        </p:nvSpPr>
        <p:spPr>
          <a:xfrm>
            <a:off x="10251639" y="2116108"/>
            <a:ext cx="1435261" cy="1993297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إدارة المستخدمين والمصادقة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CCC47B-A958-C1DC-BE58-89FB87686B40}"/>
              </a:ext>
            </a:extLst>
          </p:cNvPr>
          <p:cNvSpPr/>
          <p:nvPr/>
        </p:nvSpPr>
        <p:spPr>
          <a:xfrm>
            <a:off x="11229700" y="21161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D320D59-A17C-01AA-C904-7AC2BD7BAE85}"/>
              </a:ext>
            </a:extLst>
          </p:cNvPr>
          <p:cNvSpPr/>
          <p:nvPr/>
        </p:nvSpPr>
        <p:spPr>
          <a:xfrm>
            <a:off x="704725" y="2080481"/>
            <a:ext cx="1435261" cy="1993297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إدارة الملفات والوسائط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A237345-5809-8DF5-B467-D5F6952FB3EC}"/>
              </a:ext>
            </a:extLst>
          </p:cNvPr>
          <p:cNvSpPr/>
          <p:nvPr/>
        </p:nvSpPr>
        <p:spPr>
          <a:xfrm>
            <a:off x="1682786" y="2080482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666F926-5405-8206-5068-60B319D5B98F}"/>
              </a:ext>
            </a:extLst>
          </p:cNvPr>
          <p:cNvSpPr/>
          <p:nvPr/>
        </p:nvSpPr>
        <p:spPr>
          <a:xfrm>
            <a:off x="7806140" y="2116108"/>
            <a:ext cx="1435261" cy="1957159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إدارة القنوات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6430CF5-4CE6-FC3C-2763-640D2697955B}"/>
              </a:ext>
            </a:extLst>
          </p:cNvPr>
          <p:cNvSpPr/>
          <p:nvPr/>
        </p:nvSpPr>
        <p:spPr>
          <a:xfrm>
            <a:off x="8784201" y="21161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13B623-0495-C20C-12E2-534F87845147}"/>
              </a:ext>
            </a:extLst>
          </p:cNvPr>
          <p:cNvSpPr/>
          <p:nvPr/>
        </p:nvSpPr>
        <p:spPr>
          <a:xfrm>
            <a:off x="5478182" y="2095529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إدارة العضويات والدعوات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6473D2-255A-1878-9220-1EFFA1086184}"/>
              </a:ext>
            </a:extLst>
          </p:cNvPr>
          <p:cNvSpPr/>
          <p:nvPr/>
        </p:nvSpPr>
        <p:spPr>
          <a:xfrm>
            <a:off x="6456243" y="209552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1404BAB-F1C9-A5E3-E105-0DAE0A575ADA}"/>
              </a:ext>
            </a:extLst>
          </p:cNvPr>
          <p:cNvSpPr/>
          <p:nvPr/>
        </p:nvSpPr>
        <p:spPr>
          <a:xfrm>
            <a:off x="3150225" y="2116109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نشر الرسائل واستقبالها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C4E66A5-93D2-D7A4-8463-5E766095F5AB}"/>
              </a:ext>
            </a:extLst>
          </p:cNvPr>
          <p:cNvSpPr/>
          <p:nvPr/>
        </p:nvSpPr>
        <p:spPr>
          <a:xfrm>
            <a:off x="4135973" y="21161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0B1688-AB8A-7476-64E0-348F7F6329BB}"/>
              </a:ext>
            </a:extLst>
          </p:cNvPr>
          <p:cNvSpPr/>
          <p:nvPr/>
        </p:nvSpPr>
        <p:spPr>
          <a:xfrm>
            <a:off x="3086698" y="4453937"/>
            <a:ext cx="1435261" cy="1993297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سجل الأحداث والتحقق من سلامته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4E1068-49E6-C45C-C443-78437F2D8160}"/>
              </a:ext>
            </a:extLst>
          </p:cNvPr>
          <p:cNvSpPr/>
          <p:nvPr/>
        </p:nvSpPr>
        <p:spPr>
          <a:xfrm>
            <a:off x="4064759" y="4453938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8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E62114-D8BC-B48E-1BAE-425B4D7A9F89}"/>
              </a:ext>
            </a:extLst>
          </p:cNvPr>
          <p:cNvSpPr/>
          <p:nvPr/>
        </p:nvSpPr>
        <p:spPr>
          <a:xfrm>
            <a:off x="7860155" y="4468985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التحكم في الوصول والصلاحيات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C2BDCA-A428-39FC-DFFD-9EBE176A4346}"/>
              </a:ext>
            </a:extLst>
          </p:cNvPr>
          <p:cNvSpPr/>
          <p:nvPr/>
        </p:nvSpPr>
        <p:spPr>
          <a:xfrm>
            <a:off x="8838216" y="4468985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6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CF1B4C-FFDB-ECEB-CE92-17BAD2035EAF}"/>
              </a:ext>
            </a:extLst>
          </p:cNvPr>
          <p:cNvSpPr/>
          <p:nvPr/>
        </p:nvSpPr>
        <p:spPr>
          <a:xfrm>
            <a:off x="5532198" y="4489565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متابعة عمليات توزيع الرسائل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E4CA96-A387-6BFB-E274-317B2EB2F273}"/>
              </a:ext>
            </a:extLst>
          </p:cNvPr>
          <p:cNvSpPr/>
          <p:nvPr/>
        </p:nvSpPr>
        <p:spPr>
          <a:xfrm>
            <a:off x="6517946" y="4489565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7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09327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FCF2-1B0B-3A32-C11F-8E01F0AE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CC258-1A07-A6FF-3E84-DA70C2747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F17C71-70B7-1CFB-DFB5-049EEFCBE892}"/>
              </a:ext>
            </a:extLst>
          </p:cNvPr>
          <p:cNvSpPr txBox="1"/>
          <p:nvPr/>
        </p:nvSpPr>
        <p:spPr>
          <a:xfrm>
            <a:off x="10076429" y="233680"/>
            <a:ext cx="177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متطلبات الحل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D00D8D-D776-9AC4-6417-BDBD518B87A8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021CDB3-2BBE-321C-EB1B-E1EEE9E8A413}"/>
              </a:ext>
            </a:extLst>
          </p:cNvPr>
          <p:cNvSpPr txBox="1"/>
          <p:nvPr/>
        </p:nvSpPr>
        <p:spPr>
          <a:xfrm>
            <a:off x="6991109" y="866328"/>
            <a:ext cx="4851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متطلبات غير وظيفية</a:t>
            </a:r>
            <a:endParaRPr lang="en-US" sz="4800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88AB75-1145-D341-4014-5B1623CA1D49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8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D93CD5-C430-83D2-0E7B-9A1CEB486A97}"/>
              </a:ext>
            </a:extLst>
          </p:cNvPr>
          <p:cNvSpPr/>
          <p:nvPr/>
        </p:nvSpPr>
        <p:spPr>
          <a:xfrm>
            <a:off x="8886357" y="2119908"/>
            <a:ext cx="1435261" cy="1993297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sz="40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الأداء</a:t>
            </a:r>
            <a:endParaRPr lang="en-US" sz="40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C20B0D-7467-88CB-A0D3-E41EAD11041D}"/>
              </a:ext>
            </a:extLst>
          </p:cNvPr>
          <p:cNvSpPr/>
          <p:nvPr/>
        </p:nvSpPr>
        <p:spPr>
          <a:xfrm>
            <a:off x="9864418" y="21199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40A58A-055C-310F-DCD9-ED588F5F90F2}"/>
              </a:ext>
            </a:extLst>
          </p:cNvPr>
          <p:cNvSpPr/>
          <p:nvPr/>
        </p:nvSpPr>
        <p:spPr>
          <a:xfrm>
            <a:off x="7876118" y="4556369"/>
            <a:ext cx="1435261" cy="1993297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قابلية الصيانة والتطوير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BE2BC4-CD05-A744-E153-E80A74667F9F}"/>
              </a:ext>
            </a:extLst>
          </p:cNvPr>
          <p:cNvSpPr/>
          <p:nvPr/>
        </p:nvSpPr>
        <p:spPr>
          <a:xfrm>
            <a:off x="8854179" y="4556370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14F1DB-B8AB-7DBC-F32B-4DDB3D4945D8}"/>
              </a:ext>
            </a:extLst>
          </p:cNvPr>
          <p:cNvSpPr/>
          <p:nvPr/>
        </p:nvSpPr>
        <p:spPr>
          <a:xfrm>
            <a:off x="6440858" y="2119908"/>
            <a:ext cx="1435261" cy="1957159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الموثوقية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35B76BD-EF6B-65B1-DE4B-9734FE409AC6}"/>
              </a:ext>
            </a:extLst>
          </p:cNvPr>
          <p:cNvSpPr/>
          <p:nvPr/>
        </p:nvSpPr>
        <p:spPr>
          <a:xfrm>
            <a:off x="7418919" y="21199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496A320-FF42-0391-C148-D4B659CD0510}"/>
              </a:ext>
            </a:extLst>
          </p:cNvPr>
          <p:cNvSpPr/>
          <p:nvPr/>
        </p:nvSpPr>
        <p:spPr>
          <a:xfrm>
            <a:off x="4112900" y="2099329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الأمان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966A23D-1E86-74B0-2380-880CA1A91A05}"/>
              </a:ext>
            </a:extLst>
          </p:cNvPr>
          <p:cNvSpPr/>
          <p:nvPr/>
        </p:nvSpPr>
        <p:spPr>
          <a:xfrm>
            <a:off x="5090961" y="209932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F2A336F-E49A-51D4-CAA2-3048CCF06E60}"/>
              </a:ext>
            </a:extLst>
          </p:cNvPr>
          <p:cNvSpPr/>
          <p:nvPr/>
        </p:nvSpPr>
        <p:spPr>
          <a:xfrm>
            <a:off x="1784943" y="2119909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قابلية التوسع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3F929A4-C2BD-4633-BB45-A85D5F218233}"/>
              </a:ext>
            </a:extLst>
          </p:cNvPr>
          <p:cNvSpPr/>
          <p:nvPr/>
        </p:nvSpPr>
        <p:spPr>
          <a:xfrm>
            <a:off x="2770691" y="211990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5EBEB5-4495-948E-0D99-EC3EDCDCD568}"/>
              </a:ext>
            </a:extLst>
          </p:cNvPr>
          <p:cNvSpPr/>
          <p:nvPr/>
        </p:nvSpPr>
        <p:spPr>
          <a:xfrm>
            <a:off x="5555848" y="4556369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سهولة الاستخدام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0F05F1-4E13-59C6-239A-69A20B0EC0CF}"/>
              </a:ext>
            </a:extLst>
          </p:cNvPr>
          <p:cNvSpPr/>
          <p:nvPr/>
        </p:nvSpPr>
        <p:spPr>
          <a:xfrm>
            <a:off x="6533909" y="455636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6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53518D-9813-33C2-21CA-FFA10168CBE7}"/>
              </a:ext>
            </a:extLst>
          </p:cNvPr>
          <p:cNvSpPr/>
          <p:nvPr/>
        </p:nvSpPr>
        <p:spPr>
          <a:xfrm>
            <a:off x="3227891" y="4576949"/>
            <a:ext cx="1435261" cy="1957158"/>
          </a:xfrm>
          <a:prstGeom prst="roundRect">
            <a:avLst/>
          </a:prstGeom>
          <a:solidFill>
            <a:srgbClr val="395D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قابلية الاختبار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1082CC-2E07-22E6-98D3-A19A31797B4A}"/>
              </a:ext>
            </a:extLst>
          </p:cNvPr>
          <p:cNvSpPr/>
          <p:nvPr/>
        </p:nvSpPr>
        <p:spPr>
          <a:xfrm>
            <a:off x="4213639" y="4576949"/>
            <a:ext cx="457200" cy="457200"/>
          </a:xfrm>
          <a:prstGeom prst="ellipse">
            <a:avLst/>
          </a:prstGeom>
          <a:solidFill>
            <a:srgbClr val="BEA7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7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23153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0C0E-0A53-2384-1B7B-1C25F307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C1159-510E-CE66-262F-A029A7A11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AD6311-1D00-91CD-AECD-38672AE1ED19}"/>
              </a:ext>
            </a:extLst>
          </p:cNvPr>
          <p:cNvSpPr txBox="1"/>
          <p:nvPr/>
        </p:nvSpPr>
        <p:spPr>
          <a:xfrm>
            <a:off x="1371600" y="2635200"/>
            <a:ext cx="629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80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ثالثاً: القرارات التصميمة</a:t>
            </a:r>
            <a:endParaRPr lang="en-US" sz="80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7A56-F8AA-EAE5-636F-D263B0D0ECB1}"/>
              </a:ext>
            </a:extLst>
          </p:cNvPr>
          <p:cNvSpPr txBox="1"/>
          <p:nvPr/>
        </p:nvSpPr>
        <p:spPr>
          <a:xfrm>
            <a:off x="9997440" y="4439920"/>
            <a:ext cx="66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sz="4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4309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1A5BC-6523-9B80-5064-198ACAAC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DAE9B3-813D-303B-AC7A-6114575C5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C0E1FB-5B00-F21D-0BDE-A08E4484232A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القرارات التصميمة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3D212B-59E4-4520-D479-55A694A0356D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C5D8BC1-FCF0-50F1-9316-51DAC17A5259}"/>
              </a:ext>
            </a:extLst>
          </p:cNvPr>
          <p:cNvSpPr txBox="1"/>
          <p:nvPr/>
        </p:nvSpPr>
        <p:spPr>
          <a:xfrm>
            <a:off x="6991109" y="866328"/>
            <a:ext cx="4851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 الأول: حفظ قبل التوزيع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314A0-47AE-E76D-EA27-5D022BF135D5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10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391C949-C203-E18F-998E-225476BB4228}"/>
              </a:ext>
            </a:extLst>
          </p:cNvPr>
          <p:cNvSpPr/>
          <p:nvPr/>
        </p:nvSpPr>
        <p:spPr>
          <a:xfrm>
            <a:off x="731520" y="2682542"/>
            <a:ext cx="1016000" cy="1036320"/>
          </a:xfrm>
          <a:prstGeom prst="ellipse">
            <a:avLst/>
          </a:prstGeom>
          <a:solidFill>
            <a:srgbClr val="E7D5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sz="32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CB68372-0C2F-E914-D948-85C158646FD1}"/>
              </a:ext>
            </a:extLst>
          </p:cNvPr>
          <p:cNvSpPr/>
          <p:nvPr/>
        </p:nvSpPr>
        <p:spPr>
          <a:xfrm>
            <a:off x="731520" y="3881422"/>
            <a:ext cx="1016000" cy="944880"/>
          </a:xfrm>
          <a:prstGeom prst="roundRect">
            <a:avLst/>
          </a:prstGeom>
          <a:solidFill>
            <a:srgbClr val="385F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استقبال الرسالة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5E34533-226D-3D06-75D3-3562147AC422}"/>
              </a:ext>
            </a:extLst>
          </p:cNvPr>
          <p:cNvSpPr/>
          <p:nvPr/>
        </p:nvSpPr>
        <p:spPr>
          <a:xfrm>
            <a:off x="2800921" y="2692702"/>
            <a:ext cx="1016000" cy="1036320"/>
          </a:xfrm>
          <a:prstGeom prst="ellipse">
            <a:avLst/>
          </a:prstGeom>
          <a:solidFill>
            <a:srgbClr val="E7D5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sz="32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A7CB5BFD-F6A9-2488-80AA-C3AD685121ED}"/>
              </a:ext>
            </a:extLst>
          </p:cNvPr>
          <p:cNvSpPr/>
          <p:nvPr/>
        </p:nvSpPr>
        <p:spPr>
          <a:xfrm>
            <a:off x="2638361" y="3881422"/>
            <a:ext cx="1341120" cy="944880"/>
          </a:xfrm>
          <a:prstGeom prst="roundRect">
            <a:avLst/>
          </a:prstGeom>
          <a:solidFill>
            <a:srgbClr val="385F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7FE55A6-3D02-59BE-36E7-EE968124D84C}"/>
              </a:ext>
            </a:extLst>
          </p:cNvPr>
          <p:cNvSpPr/>
          <p:nvPr/>
        </p:nvSpPr>
        <p:spPr>
          <a:xfrm>
            <a:off x="4870322" y="2692702"/>
            <a:ext cx="1016000" cy="1036320"/>
          </a:xfrm>
          <a:prstGeom prst="ellipse">
            <a:avLst/>
          </a:prstGeom>
          <a:solidFill>
            <a:srgbClr val="E7D5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sz="32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A9F9AB0-7AA4-69C0-F670-146E18008FA7}"/>
              </a:ext>
            </a:extLst>
          </p:cNvPr>
          <p:cNvSpPr/>
          <p:nvPr/>
        </p:nvSpPr>
        <p:spPr>
          <a:xfrm>
            <a:off x="4870322" y="3891582"/>
            <a:ext cx="1016000" cy="944880"/>
          </a:xfrm>
          <a:prstGeom prst="roundRect">
            <a:avLst/>
          </a:prstGeom>
          <a:solidFill>
            <a:srgbClr val="385F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تخزين دائم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974DF31-233F-F516-304D-1511B47F5079}"/>
              </a:ext>
            </a:extLst>
          </p:cNvPr>
          <p:cNvSpPr/>
          <p:nvPr/>
        </p:nvSpPr>
        <p:spPr>
          <a:xfrm>
            <a:off x="6939723" y="2682542"/>
            <a:ext cx="1016000" cy="1036320"/>
          </a:xfrm>
          <a:prstGeom prst="ellipse">
            <a:avLst/>
          </a:prstGeom>
          <a:solidFill>
            <a:srgbClr val="E7D5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32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sz="32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3279F8EE-7E71-5781-2F30-D5363CD1BFC6}"/>
              </a:ext>
            </a:extLst>
          </p:cNvPr>
          <p:cNvSpPr/>
          <p:nvPr/>
        </p:nvSpPr>
        <p:spPr>
          <a:xfrm>
            <a:off x="6939723" y="3881422"/>
            <a:ext cx="1016000" cy="944880"/>
          </a:xfrm>
          <a:prstGeom prst="roundRect">
            <a:avLst/>
          </a:prstGeom>
          <a:solidFill>
            <a:srgbClr val="385F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28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مهمة توزيع</a:t>
            </a: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48D98A5-FCE0-137F-13F6-0631BD6F68A3}"/>
              </a:ext>
            </a:extLst>
          </p:cNvPr>
          <p:cNvCxnSpPr>
            <a:stCxn id="41" idx="6"/>
            <a:endCxn id="73" idx="2"/>
          </p:cNvCxnSpPr>
          <p:nvPr/>
        </p:nvCxnSpPr>
        <p:spPr>
          <a:xfrm>
            <a:off x="1747520" y="3200702"/>
            <a:ext cx="1053401" cy="10160"/>
          </a:xfrm>
          <a:prstGeom prst="straightConnector1">
            <a:avLst/>
          </a:prstGeom>
          <a:ln>
            <a:solidFill>
              <a:srgbClr val="DFCB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ED80F5D-AE57-9EB0-ED15-AE50509EB858}"/>
              </a:ext>
            </a:extLst>
          </p:cNvPr>
          <p:cNvCxnSpPr/>
          <p:nvPr/>
        </p:nvCxnSpPr>
        <p:spPr>
          <a:xfrm>
            <a:off x="3816921" y="3210862"/>
            <a:ext cx="1053401" cy="10160"/>
          </a:xfrm>
          <a:prstGeom prst="straightConnector1">
            <a:avLst/>
          </a:prstGeom>
          <a:ln>
            <a:solidFill>
              <a:srgbClr val="DFCB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BA45F31-D104-D25A-5A52-35CF0CE87906}"/>
              </a:ext>
            </a:extLst>
          </p:cNvPr>
          <p:cNvCxnSpPr/>
          <p:nvPr/>
        </p:nvCxnSpPr>
        <p:spPr>
          <a:xfrm>
            <a:off x="5886322" y="3190542"/>
            <a:ext cx="1053401" cy="10160"/>
          </a:xfrm>
          <a:prstGeom prst="straightConnector1">
            <a:avLst/>
          </a:prstGeom>
          <a:ln>
            <a:solidFill>
              <a:srgbClr val="DFCB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0074B54-3575-CE33-0351-C6566B1CCF16}"/>
              </a:ext>
            </a:extLst>
          </p:cNvPr>
          <p:cNvGrpSpPr/>
          <p:nvPr/>
        </p:nvGrpSpPr>
        <p:grpSpPr>
          <a:xfrm>
            <a:off x="5049138" y="1839262"/>
            <a:ext cx="658368" cy="731520"/>
            <a:chOff x="5049138" y="1839262"/>
            <a:chExt cx="658368" cy="731520"/>
          </a:xfrm>
        </p:grpSpPr>
        <p:sp>
          <p:nvSpPr>
            <p:cNvPr id="89" name="Can 17">
              <a:extLst>
                <a:ext uri="{FF2B5EF4-FFF2-40B4-BE49-F238E27FC236}">
                  <a16:creationId xmlns:a16="http://schemas.microsoft.com/office/drawing/2014/main" id="{BF170F07-9CF3-FC63-DEE4-48771B55536F}"/>
                </a:ext>
              </a:extLst>
            </p:cNvPr>
            <p:cNvSpPr/>
            <p:nvPr/>
          </p:nvSpPr>
          <p:spPr>
            <a:xfrm>
              <a:off x="5049138" y="1839262"/>
              <a:ext cx="658368" cy="731520"/>
            </a:xfrm>
            <a:prstGeom prst="can">
              <a:avLst/>
            </a:prstGeom>
            <a:solidFill>
              <a:srgbClr val="FAF6EC"/>
            </a:solidFill>
            <a:ln w="2286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90" name="Connector 18">
              <a:extLst>
                <a:ext uri="{FF2B5EF4-FFF2-40B4-BE49-F238E27FC236}">
                  <a16:creationId xmlns:a16="http://schemas.microsoft.com/office/drawing/2014/main" id="{FD0820FC-C129-E047-4608-ADD94B96E029}"/>
                </a:ext>
              </a:extLst>
            </p:cNvPr>
            <p:cNvCxnSpPr>
              <a:cxnSpLocks/>
            </p:cNvCxnSpPr>
            <p:nvPr/>
          </p:nvCxnSpPr>
          <p:spPr>
            <a:xfrm>
              <a:off x="5094857" y="2141014"/>
              <a:ext cx="566929" cy="0"/>
            </a:xfrm>
            <a:prstGeom prst="line">
              <a:avLst/>
            </a:prstGeom>
            <a:ln w="2540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19">
              <a:extLst>
                <a:ext uri="{FF2B5EF4-FFF2-40B4-BE49-F238E27FC236}">
                  <a16:creationId xmlns:a16="http://schemas.microsoft.com/office/drawing/2014/main" id="{17681D04-7660-C6DC-7249-CD6FD97F3A9A}"/>
                </a:ext>
              </a:extLst>
            </p:cNvPr>
            <p:cNvCxnSpPr>
              <a:cxnSpLocks/>
            </p:cNvCxnSpPr>
            <p:nvPr/>
          </p:nvCxnSpPr>
          <p:spPr>
            <a:xfrm>
              <a:off x="5094857" y="2360470"/>
              <a:ext cx="566929" cy="0"/>
            </a:xfrm>
            <a:prstGeom prst="line">
              <a:avLst/>
            </a:prstGeom>
            <a:ln w="2540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Oval 135">
            <a:extLst>
              <a:ext uri="{FF2B5EF4-FFF2-40B4-BE49-F238E27FC236}">
                <a16:creationId xmlns:a16="http://schemas.microsoft.com/office/drawing/2014/main" id="{D16FC8D3-A003-16E0-26FC-3BA66B180BC5}"/>
              </a:ext>
            </a:extLst>
          </p:cNvPr>
          <p:cNvSpPr/>
          <p:nvPr/>
        </p:nvSpPr>
        <p:spPr>
          <a:xfrm>
            <a:off x="2982671" y="5771786"/>
            <a:ext cx="457200" cy="457200"/>
          </a:xfrm>
          <a:prstGeom prst="ellipse">
            <a:avLst/>
          </a:prstGeom>
          <a:solidFill>
            <a:srgbClr val="0A463B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7915FDE-E2D3-A125-2E75-AA7FC1CFC353}"/>
              </a:ext>
            </a:extLst>
          </p:cNvPr>
          <p:cNvSpPr txBox="1"/>
          <p:nvPr/>
        </p:nvSpPr>
        <p:spPr>
          <a:xfrm>
            <a:off x="2949781" y="6296034"/>
            <a:ext cx="45551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نحفظ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38" name="Connector 28">
            <a:extLst>
              <a:ext uri="{FF2B5EF4-FFF2-40B4-BE49-F238E27FC236}">
                <a16:creationId xmlns:a16="http://schemas.microsoft.com/office/drawing/2014/main" id="{887EEE18-4B52-DCB3-AA24-9E6135C1A380}"/>
              </a:ext>
            </a:extLst>
          </p:cNvPr>
          <p:cNvCxnSpPr/>
          <p:nvPr/>
        </p:nvCxnSpPr>
        <p:spPr>
          <a:xfrm>
            <a:off x="3449016" y="6000386"/>
            <a:ext cx="347471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7B0AF55A-A739-2ED6-3FC3-5E2226BA2B6C}"/>
              </a:ext>
            </a:extLst>
          </p:cNvPr>
          <p:cNvSpPr/>
          <p:nvPr/>
        </p:nvSpPr>
        <p:spPr>
          <a:xfrm>
            <a:off x="3796487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1F7C0B2-CE14-464C-A633-B08C006E1087}"/>
              </a:ext>
            </a:extLst>
          </p:cNvPr>
          <p:cNvSpPr txBox="1"/>
          <p:nvPr/>
        </p:nvSpPr>
        <p:spPr>
          <a:xfrm>
            <a:off x="3777622" y="6282153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1" name="Connector 31">
            <a:extLst>
              <a:ext uri="{FF2B5EF4-FFF2-40B4-BE49-F238E27FC236}">
                <a16:creationId xmlns:a16="http://schemas.microsoft.com/office/drawing/2014/main" id="{CAF2B12A-3E76-8FC6-04C6-397D66F264A6}"/>
              </a:ext>
            </a:extLst>
          </p:cNvPr>
          <p:cNvCxnSpPr/>
          <p:nvPr/>
        </p:nvCxnSpPr>
        <p:spPr>
          <a:xfrm>
            <a:off x="425760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0CE6DE54-F54A-D8BE-1770-05711DA689F0}"/>
              </a:ext>
            </a:extLst>
          </p:cNvPr>
          <p:cNvSpPr/>
          <p:nvPr/>
        </p:nvSpPr>
        <p:spPr>
          <a:xfrm>
            <a:off x="4614221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6C8D4DA-D5AA-0DFC-0B14-C6B35B4ED024}"/>
              </a:ext>
            </a:extLst>
          </p:cNvPr>
          <p:cNvSpPr txBox="1"/>
          <p:nvPr/>
        </p:nvSpPr>
        <p:spPr>
          <a:xfrm>
            <a:off x="4614221" y="6260482"/>
            <a:ext cx="415435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نوزّع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4" name="Connector 34">
            <a:extLst>
              <a:ext uri="{FF2B5EF4-FFF2-40B4-BE49-F238E27FC236}">
                <a16:creationId xmlns:a16="http://schemas.microsoft.com/office/drawing/2014/main" id="{5B8523C3-A397-ADF5-63AF-86FEBB71A3B2}"/>
              </a:ext>
            </a:extLst>
          </p:cNvPr>
          <p:cNvCxnSpPr/>
          <p:nvPr/>
        </p:nvCxnSpPr>
        <p:spPr>
          <a:xfrm>
            <a:off x="5073380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01E47DEC-1199-1AEB-F41B-778ADD97C5AE}"/>
              </a:ext>
            </a:extLst>
          </p:cNvPr>
          <p:cNvSpPr/>
          <p:nvPr/>
        </p:nvSpPr>
        <p:spPr>
          <a:xfrm>
            <a:off x="5429996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FF581F3-DB70-E070-CCC8-E762546A56A0}"/>
              </a:ext>
            </a:extLst>
          </p:cNvPr>
          <p:cNvSpPr txBox="1"/>
          <p:nvPr/>
        </p:nvSpPr>
        <p:spPr>
          <a:xfrm>
            <a:off x="5401987" y="6296035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7" name="Connector 37">
            <a:extLst>
              <a:ext uri="{FF2B5EF4-FFF2-40B4-BE49-F238E27FC236}">
                <a16:creationId xmlns:a16="http://schemas.microsoft.com/office/drawing/2014/main" id="{BB5735A9-C9ED-CAA4-413F-C3FD0E8441A9}"/>
              </a:ext>
            </a:extLst>
          </p:cNvPr>
          <p:cNvCxnSpPr/>
          <p:nvPr/>
        </p:nvCxnSpPr>
        <p:spPr>
          <a:xfrm>
            <a:off x="588915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6279E2F3-F97A-5508-82DF-49A15C10E22E}"/>
              </a:ext>
            </a:extLst>
          </p:cNvPr>
          <p:cNvSpPr/>
          <p:nvPr/>
        </p:nvSpPr>
        <p:spPr>
          <a:xfrm>
            <a:off x="6236627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99A64E2-D10B-F2B2-A00A-D1AD959C0CB6}"/>
              </a:ext>
            </a:extLst>
          </p:cNvPr>
          <p:cNvSpPr txBox="1"/>
          <p:nvPr/>
        </p:nvSpPr>
        <p:spPr>
          <a:xfrm>
            <a:off x="6287536" y="6296035"/>
            <a:ext cx="43948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نؤمّن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51" name="Rounded Rectangle 20">
            <a:extLst>
              <a:ext uri="{FF2B5EF4-FFF2-40B4-BE49-F238E27FC236}">
                <a16:creationId xmlns:a16="http://schemas.microsoft.com/office/drawing/2014/main" id="{3A0124E1-501F-4E42-F398-57C720CDE92C}"/>
              </a:ext>
            </a:extLst>
          </p:cNvPr>
          <p:cNvSpPr/>
          <p:nvPr/>
        </p:nvSpPr>
        <p:spPr>
          <a:xfrm>
            <a:off x="9479280" y="1892094"/>
            <a:ext cx="1874519" cy="12984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لماذا</a:t>
            </a:r>
            <a:r>
              <a:rPr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
</a:t>
            </a:r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ضياع</a:t>
            </a:r>
            <a:r>
              <a:rPr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</a:t>
            </a:r>
            <a:r>
              <a:rPr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الانقطاع</a:t>
            </a:r>
            <a:r>
              <a:rPr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
</a:t>
            </a:r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إعادة</a:t>
            </a:r>
            <a:r>
              <a:rPr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التوزيع</a:t>
            </a:r>
            <a:r>
              <a:rPr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لاحقاً</a:t>
            </a:r>
            <a:endParaRPr sz="2000"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55" name="Rounded Rectangle 20">
            <a:extLst>
              <a:ext uri="{FF2B5EF4-FFF2-40B4-BE49-F238E27FC236}">
                <a16:creationId xmlns:a16="http://schemas.microsoft.com/office/drawing/2014/main" id="{8F1CC2F6-A668-C0FB-B69A-374AE5B41A61}"/>
              </a:ext>
            </a:extLst>
          </p:cNvPr>
          <p:cNvSpPr/>
          <p:nvPr/>
        </p:nvSpPr>
        <p:spPr>
          <a:xfrm>
            <a:off x="9238256" y="3429000"/>
            <a:ext cx="2344675" cy="12984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r"/>
            <a:r>
              <a:rPr lang="ar-SY"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الأثر: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SY"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موثوقية أعلى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SY" sz="20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تتبع اسهل لحالة الرسالة</a:t>
            </a:r>
            <a:endParaRPr sz="2000"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85902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E7EEC-D288-2ACF-3070-7C78D8378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2AC52-C730-B180-AC15-6CDED3D92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246744-660B-9F04-AE6C-E85E8DCF7866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القرارات التصميمة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CDB471-B488-49CD-E8F4-F1E37F31E65F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73CF1D-6BFC-B1E0-780E-95D1B2BBC9FB}"/>
              </a:ext>
            </a:extLst>
          </p:cNvPr>
          <p:cNvSpPr txBox="1"/>
          <p:nvPr/>
        </p:nvSpPr>
        <p:spPr>
          <a:xfrm>
            <a:off x="6017343" y="866328"/>
            <a:ext cx="5825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 الثاني: فصل التوزيع عن الناشر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7AC4D-0D32-095C-8A34-88AF709BD2A0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11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1D4B1D4-F242-79BD-62C6-60CAD27C59A1}"/>
              </a:ext>
            </a:extLst>
          </p:cNvPr>
          <p:cNvSpPr/>
          <p:nvPr/>
        </p:nvSpPr>
        <p:spPr>
          <a:xfrm>
            <a:off x="3798446" y="5773708"/>
            <a:ext cx="457200" cy="457200"/>
          </a:xfrm>
          <a:prstGeom prst="ellipse">
            <a:avLst/>
          </a:prstGeom>
          <a:solidFill>
            <a:srgbClr val="0A463B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16E83B8-F200-4C38-84C9-A6C2565B7D6A}"/>
              </a:ext>
            </a:extLst>
          </p:cNvPr>
          <p:cNvSpPr txBox="1"/>
          <p:nvPr/>
        </p:nvSpPr>
        <p:spPr>
          <a:xfrm>
            <a:off x="2949781" y="6296034"/>
            <a:ext cx="45551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نحفظ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38" name="Connector 28">
            <a:extLst>
              <a:ext uri="{FF2B5EF4-FFF2-40B4-BE49-F238E27FC236}">
                <a16:creationId xmlns:a16="http://schemas.microsoft.com/office/drawing/2014/main" id="{6979B43D-9790-BEC9-BC5F-88BE45352387}"/>
              </a:ext>
            </a:extLst>
          </p:cNvPr>
          <p:cNvCxnSpPr/>
          <p:nvPr/>
        </p:nvCxnSpPr>
        <p:spPr>
          <a:xfrm>
            <a:off x="3449016" y="6000386"/>
            <a:ext cx="347471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4D009FFA-0BFE-EB49-FC08-19FA1929BA00}"/>
              </a:ext>
            </a:extLst>
          </p:cNvPr>
          <p:cNvSpPr/>
          <p:nvPr/>
        </p:nvSpPr>
        <p:spPr>
          <a:xfrm>
            <a:off x="2982671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5837ED1-12C2-12C9-1011-23D868E3DA6F}"/>
              </a:ext>
            </a:extLst>
          </p:cNvPr>
          <p:cNvSpPr txBox="1"/>
          <p:nvPr/>
        </p:nvSpPr>
        <p:spPr>
          <a:xfrm>
            <a:off x="3777622" y="6282153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1" name="Connector 31">
            <a:extLst>
              <a:ext uri="{FF2B5EF4-FFF2-40B4-BE49-F238E27FC236}">
                <a16:creationId xmlns:a16="http://schemas.microsoft.com/office/drawing/2014/main" id="{1F8EB6B6-22F0-98AF-359C-78E4933CAEF7}"/>
              </a:ext>
            </a:extLst>
          </p:cNvPr>
          <p:cNvCxnSpPr/>
          <p:nvPr/>
        </p:nvCxnSpPr>
        <p:spPr>
          <a:xfrm>
            <a:off x="425760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3C4B4103-0C9F-7F01-7EBF-665BC1191B7E}"/>
              </a:ext>
            </a:extLst>
          </p:cNvPr>
          <p:cNvSpPr/>
          <p:nvPr/>
        </p:nvSpPr>
        <p:spPr>
          <a:xfrm>
            <a:off x="4614221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65E08DC-1F28-8A17-F489-7D05D0B19C61}"/>
              </a:ext>
            </a:extLst>
          </p:cNvPr>
          <p:cNvSpPr txBox="1"/>
          <p:nvPr/>
        </p:nvSpPr>
        <p:spPr>
          <a:xfrm>
            <a:off x="4614221" y="6260482"/>
            <a:ext cx="415435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نوزّع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4" name="Connector 34">
            <a:extLst>
              <a:ext uri="{FF2B5EF4-FFF2-40B4-BE49-F238E27FC236}">
                <a16:creationId xmlns:a16="http://schemas.microsoft.com/office/drawing/2014/main" id="{C3CED1BB-DA2C-C598-AD32-9E65CECC82D2}"/>
              </a:ext>
            </a:extLst>
          </p:cNvPr>
          <p:cNvCxnSpPr/>
          <p:nvPr/>
        </p:nvCxnSpPr>
        <p:spPr>
          <a:xfrm>
            <a:off x="5073380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83F71A75-773A-0571-9B49-A150756A0A9A}"/>
              </a:ext>
            </a:extLst>
          </p:cNvPr>
          <p:cNvSpPr/>
          <p:nvPr/>
        </p:nvSpPr>
        <p:spPr>
          <a:xfrm>
            <a:off x="5421651" y="5774494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67B12F9-DD1D-78CC-F7A0-036772011E2F}"/>
              </a:ext>
            </a:extLst>
          </p:cNvPr>
          <p:cNvSpPr txBox="1"/>
          <p:nvPr/>
        </p:nvSpPr>
        <p:spPr>
          <a:xfrm>
            <a:off x="5401987" y="6296035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7" name="Connector 37">
            <a:extLst>
              <a:ext uri="{FF2B5EF4-FFF2-40B4-BE49-F238E27FC236}">
                <a16:creationId xmlns:a16="http://schemas.microsoft.com/office/drawing/2014/main" id="{154E9926-DB6D-5FED-B460-D1E2E1F06228}"/>
              </a:ext>
            </a:extLst>
          </p:cNvPr>
          <p:cNvCxnSpPr/>
          <p:nvPr/>
        </p:nvCxnSpPr>
        <p:spPr>
          <a:xfrm>
            <a:off x="588915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8ED391A9-3591-A673-2A2B-44876D9C5FFF}"/>
              </a:ext>
            </a:extLst>
          </p:cNvPr>
          <p:cNvSpPr/>
          <p:nvPr/>
        </p:nvSpPr>
        <p:spPr>
          <a:xfrm>
            <a:off x="6229081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275107E-D2BA-F666-F5F3-BD00BB8C5923}"/>
              </a:ext>
            </a:extLst>
          </p:cNvPr>
          <p:cNvSpPr txBox="1"/>
          <p:nvPr/>
        </p:nvSpPr>
        <p:spPr>
          <a:xfrm>
            <a:off x="6287536" y="6296035"/>
            <a:ext cx="43948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نؤمّن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BE9D48D-61CE-DBE3-3BEB-9D53AF860541}"/>
              </a:ext>
            </a:extLst>
          </p:cNvPr>
          <p:cNvGrpSpPr/>
          <p:nvPr/>
        </p:nvGrpSpPr>
        <p:grpSpPr>
          <a:xfrm>
            <a:off x="6903720" y="1874518"/>
            <a:ext cx="3990422" cy="2782935"/>
            <a:chOff x="6903720" y="1874519"/>
            <a:chExt cx="2834640" cy="1965960"/>
          </a:xfrm>
        </p:grpSpPr>
        <p:sp>
          <p:nvSpPr>
            <p:cNvPr id="6" name="Rounded Rectangle 6">
              <a:extLst>
                <a:ext uri="{FF2B5EF4-FFF2-40B4-BE49-F238E27FC236}">
                  <a16:creationId xmlns:a16="http://schemas.microsoft.com/office/drawing/2014/main" id="{108860C8-60DA-0646-6886-3D7D5E44CE9B}"/>
                </a:ext>
              </a:extLst>
            </p:cNvPr>
            <p:cNvSpPr/>
            <p:nvPr/>
          </p:nvSpPr>
          <p:spPr>
            <a:xfrm>
              <a:off x="6903720" y="1874519"/>
              <a:ext cx="2834640" cy="1965960"/>
            </a:xfrm>
            <a:prstGeom prst="roundRect">
              <a:avLst/>
            </a:prstGeom>
            <a:noFill/>
            <a:ln w="17780">
              <a:solidFill>
                <a:srgbClr val="C6A56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A1499B-14E3-5349-F13C-7BE27657D73C}"/>
                </a:ext>
              </a:extLst>
            </p:cNvPr>
            <p:cNvSpPr txBox="1"/>
            <p:nvPr/>
          </p:nvSpPr>
          <p:spPr>
            <a:xfrm>
              <a:off x="7971491" y="1939954"/>
              <a:ext cx="790537" cy="335476"/>
            </a:xfrm>
            <a:prstGeom prst="rect">
              <a:avLst/>
            </a:prstGeom>
            <a:noFill/>
          </p:spPr>
          <p:txBody>
            <a:bodyPr wrap="none" lIns="73152" tIns="36576" rIns="73152" bIns="36576" anchor="ctr">
              <a:spAutoFit/>
            </a:bodyPr>
            <a:lstStyle/>
            <a:p>
              <a:pPr algn="ctr"/>
              <a:r>
                <a:rPr sz="1700" b="1" dirty="0" err="1">
                  <a:solidFill>
                    <a:srgbClr val="0A463B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قبل</a:t>
              </a:r>
              <a:r>
                <a:rPr sz="1700" b="1" dirty="0">
                  <a:solidFill>
                    <a:srgbClr val="0A463B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</a:t>
              </a:r>
              <a:r>
                <a:rPr sz="1700" b="1" dirty="0" err="1">
                  <a:solidFill>
                    <a:srgbClr val="0A463B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الفصل</a:t>
              </a:r>
              <a:endParaRPr sz="1700" b="1" dirty="0">
                <a:solidFill>
                  <a:srgbClr val="0A463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B6B349C-4A1D-FE08-673D-748D802E55A7}"/>
                </a:ext>
              </a:extLst>
            </p:cNvPr>
            <p:cNvSpPr/>
            <p:nvPr/>
          </p:nvSpPr>
          <p:spPr>
            <a:xfrm>
              <a:off x="8889129" y="2555805"/>
              <a:ext cx="438912" cy="438912"/>
            </a:xfrm>
            <a:prstGeom prst="ellipse">
              <a:avLst/>
            </a:prstGeom>
            <a:solidFill>
              <a:srgbClr val="0A463B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55FC201-1B0A-BBE3-7AA6-5361BC7110E3}"/>
                </a:ext>
              </a:extLst>
            </p:cNvPr>
            <p:cNvSpPr/>
            <p:nvPr/>
          </p:nvSpPr>
          <p:spPr>
            <a:xfrm>
              <a:off x="7426089" y="2190045"/>
              <a:ext cx="347472" cy="347472"/>
            </a:xfrm>
            <a:prstGeom prst="ellipse">
              <a:avLst/>
            </a:prstGeom>
            <a:solidFill>
              <a:srgbClr val="FAF6EC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10" name="Connector 10">
              <a:extLst>
                <a:ext uri="{FF2B5EF4-FFF2-40B4-BE49-F238E27FC236}">
                  <a16:creationId xmlns:a16="http://schemas.microsoft.com/office/drawing/2014/main" id="{56DB9E0D-3B66-D808-8950-ACD252D38ED3}"/>
                </a:ext>
              </a:extLst>
            </p:cNvPr>
            <p:cNvCxnSpPr/>
            <p:nvPr/>
          </p:nvCxnSpPr>
          <p:spPr>
            <a:xfrm flipH="1" flipV="1">
              <a:off x="7764417" y="2363781"/>
              <a:ext cx="1078992" cy="411480"/>
            </a:xfrm>
            <a:prstGeom prst="line">
              <a:avLst/>
            </a:prstGeom>
            <a:ln w="1270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DA58B8F-C621-D628-42C5-2C048F59B5DC}"/>
                </a:ext>
              </a:extLst>
            </p:cNvPr>
            <p:cNvSpPr/>
            <p:nvPr/>
          </p:nvSpPr>
          <p:spPr>
            <a:xfrm>
              <a:off x="7426089" y="2711253"/>
              <a:ext cx="347472" cy="347472"/>
            </a:xfrm>
            <a:prstGeom prst="ellipse">
              <a:avLst/>
            </a:prstGeom>
            <a:solidFill>
              <a:srgbClr val="FAF6EC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12" name="Connector 12">
              <a:extLst>
                <a:ext uri="{FF2B5EF4-FFF2-40B4-BE49-F238E27FC236}">
                  <a16:creationId xmlns:a16="http://schemas.microsoft.com/office/drawing/2014/main" id="{875DFE95-1226-EBDF-A204-8F10D432C6D4}"/>
                </a:ext>
              </a:extLst>
            </p:cNvPr>
            <p:cNvCxnSpPr/>
            <p:nvPr/>
          </p:nvCxnSpPr>
          <p:spPr>
            <a:xfrm flipH="1">
              <a:off x="7764417" y="2775261"/>
              <a:ext cx="1078992" cy="109728"/>
            </a:xfrm>
            <a:prstGeom prst="line">
              <a:avLst/>
            </a:prstGeom>
            <a:ln w="1270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CFD9C01-B8C6-D7A6-5DF4-B563A30A22AB}"/>
                </a:ext>
              </a:extLst>
            </p:cNvPr>
            <p:cNvSpPr/>
            <p:nvPr/>
          </p:nvSpPr>
          <p:spPr>
            <a:xfrm>
              <a:off x="7426089" y="3223317"/>
              <a:ext cx="347472" cy="347472"/>
            </a:xfrm>
            <a:prstGeom prst="ellipse">
              <a:avLst/>
            </a:prstGeom>
            <a:solidFill>
              <a:srgbClr val="FAF6EC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42280353-CB16-1691-1E2F-81D18867E0EB}"/>
                </a:ext>
              </a:extLst>
            </p:cNvPr>
            <p:cNvCxnSpPr/>
            <p:nvPr/>
          </p:nvCxnSpPr>
          <p:spPr>
            <a:xfrm flipH="1">
              <a:off x="7764417" y="2775261"/>
              <a:ext cx="1078992" cy="621792"/>
            </a:xfrm>
            <a:prstGeom prst="line">
              <a:avLst/>
            </a:prstGeom>
            <a:ln w="1270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C76429-05DC-0B73-9F54-01B24272C12B}"/>
                </a:ext>
              </a:extLst>
            </p:cNvPr>
            <p:cNvSpPr txBox="1"/>
            <p:nvPr/>
          </p:nvSpPr>
          <p:spPr>
            <a:xfrm>
              <a:off x="7956118" y="3572028"/>
              <a:ext cx="1288064" cy="226121"/>
            </a:xfrm>
            <a:prstGeom prst="rect">
              <a:avLst/>
            </a:prstGeom>
            <a:noFill/>
          </p:spPr>
          <p:txBody>
            <a:bodyPr wrap="none" lIns="73152" tIns="36576" rIns="73152" bIns="36576" anchor="ctr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ارتباطات</a:t>
              </a:r>
              <a:r>
                <a:rPr sz="1600" b="1" dirty="0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</a:t>
              </a:r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كثيرة</a:t>
              </a:r>
              <a:r>
                <a:rPr sz="1600" b="1" dirty="0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</a:t>
              </a:r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وصعبة</a:t>
              </a:r>
              <a:r>
                <a:rPr sz="1600" b="1" dirty="0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</a:t>
              </a:r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التحكم</a:t>
              </a:r>
              <a:endParaRPr sz="16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5CEBFC5-9A53-F881-A55D-FD396A3F2F82}"/>
              </a:ext>
            </a:extLst>
          </p:cNvPr>
          <p:cNvGrpSpPr/>
          <p:nvPr/>
        </p:nvGrpSpPr>
        <p:grpSpPr>
          <a:xfrm>
            <a:off x="914400" y="1892273"/>
            <a:ext cx="4515596" cy="2778390"/>
            <a:chOff x="1223756" y="1892273"/>
            <a:chExt cx="4206240" cy="2514600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AB15462D-3129-BACB-31B0-CFE937EE860F}"/>
                </a:ext>
              </a:extLst>
            </p:cNvPr>
            <p:cNvSpPr/>
            <p:nvPr/>
          </p:nvSpPr>
          <p:spPr>
            <a:xfrm>
              <a:off x="1223756" y="1892273"/>
              <a:ext cx="4206240" cy="2514600"/>
            </a:xfrm>
            <a:prstGeom prst="roundRect">
              <a:avLst/>
            </a:prstGeom>
            <a:solidFill>
              <a:srgbClr val="FFFFFF"/>
            </a:solidFill>
            <a:ln w="1778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7D92DFA-258C-CA28-930A-C0B31031C475}"/>
                </a:ext>
              </a:extLst>
            </p:cNvPr>
            <p:cNvSpPr txBox="1"/>
            <p:nvPr/>
          </p:nvSpPr>
          <p:spPr>
            <a:xfrm>
              <a:off x="2893102" y="1957708"/>
              <a:ext cx="776110" cy="335476"/>
            </a:xfrm>
            <a:prstGeom prst="rect">
              <a:avLst/>
            </a:prstGeom>
            <a:noFill/>
          </p:spPr>
          <p:txBody>
            <a:bodyPr wrap="none" lIns="73152" tIns="36576" rIns="73152" bIns="36576" anchor="ctr">
              <a:spAutoFit/>
            </a:bodyPr>
            <a:lstStyle/>
            <a:p>
              <a:pPr algn="ctr"/>
              <a:r>
                <a:rPr sz="1700" b="1">
                  <a:solidFill>
                    <a:srgbClr val="0A463B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بعد الفصل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DFF475-368C-7126-BCCB-01C63B4A2266}"/>
                </a:ext>
              </a:extLst>
            </p:cNvPr>
            <p:cNvSpPr/>
            <p:nvPr/>
          </p:nvSpPr>
          <p:spPr>
            <a:xfrm>
              <a:off x="4518629" y="3075012"/>
              <a:ext cx="475488" cy="475488"/>
            </a:xfrm>
            <a:prstGeom prst="ellipse">
              <a:avLst/>
            </a:prstGeom>
            <a:solidFill>
              <a:srgbClr val="0A463B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383DB515-E4F6-3DB0-C840-9301DA96AE24}"/>
                </a:ext>
              </a:extLst>
            </p:cNvPr>
            <p:cNvSpPr/>
            <p:nvPr/>
          </p:nvSpPr>
          <p:spPr>
            <a:xfrm>
              <a:off x="3052557" y="2623794"/>
              <a:ext cx="777240" cy="777240"/>
            </a:xfrm>
            <a:prstGeom prst="hexagon">
              <a:avLst/>
            </a:prstGeom>
            <a:solidFill>
              <a:srgbClr val="E7D5A4"/>
            </a:solidFill>
            <a:ln w="2032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36576" rIns="73152" bIns="36576" rtlCol="0" anchor="ctr"/>
            <a:lstStyle/>
            <a:p>
              <a:pPr algn="ctr"/>
              <a:r>
                <a:rPr sz="12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وسيط</a:t>
              </a:r>
              <a:endParaRPr sz="12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21" name="Connector 20">
              <a:extLst>
                <a:ext uri="{FF2B5EF4-FFF2-40B4-BE49-F238E27FC236}">
                  <a16:creationId xmlns:a16="http://schemas.microsoft.com/office/drawing/2014/main" id="{1D1F0829-70F5-6DAB-5CC7-D3BF30DFF4CF}"/>
                </a:ext>
              </a:extLst>
            </p:cNvPr>
            <p:cNvCxnSpPr/>
            <p:nvPr/>
          </p:nvCxnSpPr>
          <p:spPr>
            <a:xfrm flipH="1" flipV="1">
              <a:off x="3829797" y="3035274"/>
              <a:ext cx="685800" cy="228600"/>
            </a:xfrm>
            <a:prstGeom prst="line">
              <a:avLst/>
            </a:prstGeom>
            <a:ln w="2159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232AE3E-A67D-24E5-B82C-D26E1C73ACD4}"/>
                </a:ext>
              </a:extLst>
            </p:cNvPr>
            <p:cNvSpPr/>
            <p:nvPr/>
          </p:nvSpPr>
          <p:spPr>
            <a:xfrm>
              <a:off x="1772397" y="2349474"/>
              <a:ext cx="384048" cy="384048"/>
            </a:xfrm>
            <a:prstGeom prst="ellipse">
              <a:avLst/>
            </a:prstGeom>
            <a:solidFill>
              <a:srgbClr val="FAF6EC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23" name="Connector 22">
              <a:extLst>
                <a:ext uri="{FF2B5EF4-FFF2-40B4-BE49-F238E27FC236}">
                  <a16:creationId xmlns:a16="http://schemas.microsoft.com/office/drawing/2014/main" id="{F95BCCFE-D4EA-1C50-E509-4422DF2C28D8}"/>
                </a:ext>
              </a:extLst>
            </p:cNvPr>
            <p:cNvCxnSpPr/>
            <p:nvPr/>
          </p:nvCxnSpPr>
          <p:spPr>
            <a:xfrm flipH="1" flipV="1">
              <a:off x="2138157" y="2532354"/>
              <a:ext cx="914400" cy="484632"/>
            </a:xfrm>
            <a:prstGeom prst="line">
              <a:avLst/>
            </a:prstGeom>
            <a:ln w="1651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6600E72-FDBE-E240-2DC9-E5A76683A2F6}"/>
                </a:ext>
              </a:extLst>
            </p:cNvPr>
            <p:cNvSpPr/>
            <p:nvPr/>
          </p:nvSpPr>
          <p:spPr>
            <a:xfrm>
              <a:off x="1772397" y="3035274"/>
              <a:ext cx="384048" cy="384048"/>
            </a:xfrm>
            <a:prstGeom prst="ellipse">
              <a:avLst/>
            </a:prstGeom>
            <a:solidFill>
              <a:srgbClr val="FAF6EC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25" name="Connector 24">
              <a:extLst>
                <a:ext uri="{FF2B5EF4-FFF2-40B4-BE49-F238E27FC236}">
                  <a16:creationId xmlns:a16="http://schemas.microsoft.com/office/drawing/2014/main" id="{35DB026E-921B-D623-12FE-312B09FBF27B}"/>
                </a:ext>
              </a:extLst>
            </p:cNvPr>
            <p:cNvCxnSpPr/>
            <p:nvPr/>
          </p:nvCxnSpPr>
          <p:spPr>
            <a:xfrm flipH="1">
              <a:off x="2138157" y="3016986"/>
              <a:ext cx="914400" cy="201168"/>
            </a:xfrm>
            <a:prstGeom prst="line">
              <a:avLst/>
            </a:prstGeom>
            <a:ln w="1651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EB99F8C-B02D-AD8A-279F-7479AE73338C}"/>
                </a:ext>
              </a:extLst>
            </p:cNvPr>
            <p:cNvSpPr/>
            <p:nvPr/>
          </p:nvSpPr>
          <p:spPr>
            <a:xfrm>
              <a:off x="1772397" y="3721074"/>
              <a:ext cx="384048" cy="384048"/>
            </a:xfrm>
            <a:prstGeom prst="ellipse">
              <a:avLst/>
            </a:prstGeom>
            <a:solidFill>
              <a:srgbClr val="FAF6EC"/>
            </a:solidFill>
            <a:ln w="1905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27" name="Connector 26">
              <a:extLst>
                <a:ext uri="{FF2B5EF4-FFF2-40B4-BE49-F238E27FC236}">
                  <a16:creationId xmlns:a16="http://schemas.microsoft.com/office/drawing/2014/main" id="{140FFFCD-21E8-0015-D299-1077526D03DF}"/>
                </a:ext>
              </a:extLst>
            </p:cNvPr>
            <p:cNvCxnSpPr/>
            <p:nvPr/>
          </p:nvCxnSpPr>
          <p:spPr>
            <a:xfrm flipH="1">
              <a:off x="2138157" y="3016986"/>
              <a:ext cx="914400" cy="886968"/>
            </a:xfrm>
            <a:prstGeom prst="line">
              <a:avLst/>
            </a:prstGeom>
            <a:ln w="1651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ACD4CD-676E-0451-C06F-A3649EA5403D}"/>
                </a:ext>
              </a:extLst>
            </p:cNvPr>
            <p:cNvSpPr txBox="1"/>
            <p:nvPr/>
          </p:nvSpPr>
          <p:spPr>
            <a:xfrm>
              <a:off x="2679694" y="4007659"/>
              <a:ext cx="1995996" cy="320088"/>
            </a:xfrm>
            <a:prstGeom prst="rect">
              <a:avLst/>
            </a:prstGeom>
            <a:noFill/>
          </p:spPr>
          <p:txBody>
            <a:bodyPr wrap="none" lIns="73152" tIns="36576" rIns="73152" bIns="36576" anchor="ctr">
              <a:spAutoFit/>
            </a:bodyPr>
            <a:lstStyle/>
            <a:p>
              <a:pPr algn="ctr" rtl="1"/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ناشر</a:t>
              </a:r>
              <a:r>
                <a:rPr sz="1600" b="1" dirty="0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</a:t>
              </a:r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بسيط</a:t>
              </a:r>
              <a:r>
                <a:rPr lang="ar-SY" sz="1600" b="1" dirty="0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+ </a:t>
              </a:r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توزيع</a:t>
              </a:r>
              <a:r>
                <a:rPr sz="1600" b="1" dirty="0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</a:t>
              </a:r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قابل</a:t>
              </a:r>
              <a:r>
                <a:rPr sz="1600" b="1" dirty="0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 </a:t>
              </a:r>
              <a:r>
                <a:rPr sz="1600" b="1" dirty="0" err="1">
                  <a:solidFill>
                    <a:srgbClr val="083A31"/>
                  </a:solidFill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للتحكم</a:t>
              </a:r>
              <a:endParaRPr sz="1600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3D39884-FBD6-EB92-F475-F6B00AA523C9}"/>
              </a:ext>
            </a:extLst>
          </p:cNvPr>
          <p:cNvSpPr/>
          <p:nvPr/>
        </p:nvSpPr>
        <p:spPr>
          <a:xfrm>
            <a:off x="3017520" y="4983480"/>
            <a:ext cx="5303520" cy="493776"/>
          </a:xfrm>
          <a:prstGeom prst="roundRect">
            <a:avLst/>
          </a:prstGeom>
          <a:solidFill>
            <a:srgbClr val="0A463B"/>
          </a:solidFill>
          <a:ln w="1524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 rtl="1"/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الناشر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يعرف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المشتركين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مباشرة</a:t>
            </a:r>
            <a:endParaRPr sz="24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18430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F76D-195E-80F5-96EC-79C26C2E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E18793-C3E4-45EF-D341-2C9F22334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B47DFB-65F6-37FF-581B-E0E17025B4D0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القرارات التصميمة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8B17DE-923E-6F44-3D41-E38669A21EFC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D21605-D66B-CA03-25F3-1144AA771BC7}"/>
              </a:ext>
            </a:extLst>
          </p:cNvPr>
          <p:cNvSpPr txBox="1"/>
          <p:nvPr/>
        </p:nvSpPr>
        <p:spPr>
          <a:xfrm>
            <a:off x="6017343" y="866328"/>
            <a:ext cx="5825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 الثالث: مساران للرسالة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58697A-C2DA-6B27-EE33-14313ECA0143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12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E058F684-8F61-010D-AA44-A3B63F1F5E0C}"/>
              </a:ext>
            </a:extLst>
          </p:cNvPr>
          <p:cNvSpPr/>
          <p:nvPr/>
        </p:nvSpPr>
        <p:spPr>
          <a:xfrm>
            <a:off x="4620213" y="5765260"/>
            <a:ext cx="457200" cy="457200"/>
          </a:xfrm>
          <a:prstGeom prst="ellipse">
            <a:avLst/>
          </a:prstGeom>
          <a:solidFill>
            <a:srgbClr val="0A463B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1E1F9F7-A69A-9130-97FA-0D1734B28E74}"/>
              </a:ext>
            </a:extLst>
          </p:cNvPr>
          <p:cNvSpPr txBox="1"/>
          <p:nvPr/>
        </p:nvSpPr>
        <p:spPr>
          <a:xfrm>
            <a:off x="2949781" y="6296034"/>
            <a:ext cx="45551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نحفظ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38" name="Connector 28">
            <a:extLst>
              <a:ext uri="{FF2B5EF4-FFF2-40B4-BE49-F238E27FC236}">
                <a16:creationId xmlns:a16="http://schemas.microsoft.com/office/drawing/2014/main" id="{2B9DC62A-BE82-A98B-9954-62CC99FA11B5}"/>
              </a:ext>
            </a:extLst>
          </p:cNvPr>
          <p:cNvCxnSpPr/>
          <p:nvPr/>
        </p:nvCxnSpPr>
        <p:spPr>
          <a:xfrm>
            <a:off x="3449016" y="6000386"/>
            <a:ext cx="347471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BE6354FC-8551-E228-861D-DB1C34357A6A}"/>
              </a:ext>
            </a:extLst>
          </p:cNvPr>
          <p:cNvSpPr/>
          <p:nvPr/>
        </p:nvSpPr>
        <p:spPr>
          <a:xfrm>
            <a:off x="2982671" y="5790073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E043B34-6B4D-AA35-BA92-A1D2F93943FA}"/>
              </a:ext>
            </a:extLst>
          </p:cNvPr>
          <p:cNvSpPr txBox="1"/>
          <p:nvPr/>
        </p:nvSpPr>
        <p:spPr>
          <a:xfrm>
            <a:off x="3777622" y="6282153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1" name="Connector 31">
            <a:extLst>
              <a:ext uri="{FF2B5EF4-FFF2-40B4-BE49-F238E27FC236}">
                <a16:creationId xmlns:a16="http://schemas.microsoft.com/office/drawing/2014/main" id="{76F7DC60-F816-5072-1B5D-E37D34DD7601}"/>
              </a:ext>
            </a:extLst>
          </p:cNvPr>
          <p:cNvCxnSpPr/>
          <p:nvPr/>
        </p:nvCxnSpPr>
        <p:spPr>
          <a:xfrm>
            <a:off x="425760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3ADE4907-ADF6-8671-3CA6-9A5E49F269F2}"/>
              </a:ext>
            </a:extLst>
          </p:cNvPr>
          <p:cNvSpPr/>
          <p:nvPr/>
        </p:nvSpPr>
        <p:spPr>
          <a:xfrm>
            <a:off x="3799426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DDD1FFE-B667-FC73-12A6-BF351155F07B}"/>
              </a:ext>
            </a:extLst>
          </p:cNvPr>
          <p:cNvSpPr txBox="1"/>
          <p:nvPr/>
        </p:nvSpPr>
        <p:spPr>
          <a:xfrm>
            <a:off x="4614221" y="6260482"/>
            <a:ext cx="415435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نوزّع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4" name="Connector 34">
            <a:extLst>
              <a:ext uri="{FF2B5EF4-FFF2-40B4-BE49-F238E27FC236}">
                <a16:creationId xmlns:a16="http://schemas.microsoft.com/office/drawing/2014/main" id="{0566BA84-88DA-9A24-50A3-9F4E935F0194}"/>
              </a:ext>
            </a:extLst>
          </p:cNvPr>
          <p:cNvCxnSpPr/>
          <p:nvPr/>
        </p:nvCxnSpPr>
        <p:spPr>
          <a:xfrm>
            <a:off x="5073380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BA834854-8CB9-A93E-47B9-D6849BFA5BB4}"/>
              </a:ext>
            </a:extLst>
          </p:cNvPr>
          <p:cNvSpPr/>
          <p:nvPr/>
        </p:nvSpPr>
        <p:spPr>
          <a:xfrm>
            <a:off x="5429996" y="5790073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97CD8EC-755B-CC96-F385-29E685E2470D}"/>
              </a:ext>
            </a:extLst>
          </p:cNvPr>
          <p:cNvSpPr txBox="1"/>
          <p:nvPr/>
        </p:nvSpPr>
        <p:spPr>
          <a:xfrm>
            <a:off x="5401987" y="6296035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7" name="Connector 37">
            <a:extLst>
              <a:ext uri="{FF2B5EF4-FFF2-40B4-BE49-F238E27FC236}">
                <a16:creationId xmlns:a16="http://schemas.microsoft.com/office/drawing/2014/main" id="{20C53E68-16DE-F40B-0E98-3F696906A382}"/>
              </a:ext>
            </a:extLst>
          </p:cNvPr>
          <p:cNvCxnSpPr/>
          <p:nvPr/>
        </p:nvCxnSpPr>
        <p:spPr>
          <a:xfrm>
            <a:off x="588915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58800A8C-C264-ADB8-B7B4-6A094B04308F}"/>
              </a:ext>
            </a:extLst>
          </p:cNvPr>
          <p:cNvSpPr/>
          <p:nvPr/>
        </p:nvSpPr>
        <p:spPr>
          <a:xfrm>
            <a:off x="6236627" y="5793829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EFF94DB-F0F4-07F3-28AF-5265256A39BA}"/>
              </a:ext>
            </a:extLst>
          </p:cNvPr>
          <p:cNvSpPr txBox="1"/>
          <p:nvPr/>
        </p:nvSpPr>
        <p:spPr>
          <a:xfrm>
            <a:off x="6287536" y="6296035"/>
            <a:ext cx="43948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نؤمّن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" name="Folded Corner 6">
            <a:extLst>
              <a:ext uri="{FF2B5EF4-FFF2-40B4-BE49-F238E27FC236}">
                <a16:creationId xmlns:a16="http://schemas.microsoft.com/office/drawing/2014/main" id="{90D413BC-E021-41E1-CE9C-6A3693D15AF9}"/>
              </a:ext>
            </a:extLst>
          </p:cNvPr>
          <p:cNvSpPr/>
          <p:nvPr/>
        </p:nvSpPr>
        <p:spPr>
          <a:xfrm>
            <a:off x="8001000" y="2944368"/>
            <a:ext cx="777240" cy="594360"/>
          </a:xfrm>
          <a:prstGeom prst="foldedCorner">
            <a:avLst/>
          </a:prstGeom>
          <a:solidFill>
            <a:srgbClr val="FAF6EC"/>
          </a:solidFill>
          <a:ln w="1778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 rtl="1"/>
            <a:r>
              <a:rPr sz="2800"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رسالة</a:t>
            </a:r>
            <a:endParaRPr sz="1600"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1" name="Connector 7">
            <a:extLst>
              <a:ext uri="{FF2B5EF4-FFF2-40B4-BE49-F238E27FC236}">
                <a16:creationId xmlns:a16="http://schemas.microsoft.com/office/drawing/2014/main" id="{F76D4278-67E9-4142-693F-571C2B6C7884}"/>
              </a:ext>
            </a:extLst>
          </p:cNvPr>
          <p:cNvCxnSpPr>
            <a:cxnSpLocks/>
            <a:stCxn id="30" idx="1"/>
            <a:endCxn id="35" idx="3"/>
          </p:cNvCxnSpPr>
          <p:nvPr/>
        </p:nvCxnSpPr>
        <p:spPr>
          <a:xfrm flipH="1" flipV="1">
            <a:off x="7086600" y="2537460"/>
            <a:ext cx="914400" cy="704088"/>
          </a:xfrm>
          <a:prstGeom prst="line">
            <a:avLst/>
          </a:prstGeom>
          <a:ln w="2286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8">
            <a:extLst>
              <a:ext uri="{FF2B5EF4-FFF2-40B4-BE49-F238E27FC236}">
                <a16:creationId xmlns:a16="http://schemas.microsoft.com/office/drawing/2014/main" id="{97CB2EE0-4A24-B34C-00F8-F2AE4D1BF115}"/>
              </a:ext>
            </a:extLst>
          </p:cNvPr>
          <p:cNvCxnSpPr>
            <a:cxnSpLocks/>
            <a:stCxn id="30" idx="1"/>
            <a:endCxn id="45" idx="3"/>
          </p:cNvCxnSpPr>
          <p:nvPr/>
        </p:nvCxnSpPr>
        <p:spPr>
          <a:xfrm flipH="1">
            <a:off x="7086600" y="3241548"/>
            <a:ext cx="914400" cy="941832"/>
          </a:xfrm>
          <a:prstGeom prst="line">
            <a:avLst/>
          </a:prstGeom>
          <a:ln w="2286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01E8468B-BCDB-38A2-37EF-C605D6A50B00}"/>
              </a:ext>
            </a:extLst>
          </p:cNvPr>
          <p:cNvSpPr/>
          <p:nvPr/>
        </p:nvSpPr>
        <p:spPr>
          <a:xfrm>
            <a:off x="2423160" y="1965960"/>
            <a:ext cx="46634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6FD4B8-4134-C6C4-4822-E46BE6064927}"/>
              </a:ext>
            </a:extLst>
          </p:cNvPr>
          <p:cNvSpPr txBox="1"/>
          <p:nvPr/>
        </p:nvSpPr>
        <p:spPr>
          <a:xfrm>
            <a:off x="5927662" y="1968390"/>
            <a:ext cx="1159227" cy="443198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l" rtl="1"/>
            <a:r>
              <a:rPr sz="2400" b="1" dirty="0" err="1">
                <a:solidFill>
                  <a:srgbClr val="0A463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</a:t>
            </a:r>
            <a:r>
              <a:rPr sz="2400" b="1" dirty="0">
                <a:solidFill>
                  <a:srgbClr val="0A463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0A463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موثوق</a:t>
            </a:r>
            <a:endParaRPr sz="2400" b="1" dirty="0">
              <a:solidFill>
                <a:srgbClr val="0A463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42951CAE-51EF-0C10-0C5E-E8443C98F53D}"/>
              </a:ext>
            </a:extLst>
          </p:cNvPr>
          <p:cNvSpPr/>
          <p:nvPr/>
        </p:nvSpPr>
        <p:spPr>
          <a:xfrm>
            <a:off x="3612357" y="2201418"/>
            <a:ext cx="594360" cy="164592"/>
          </a:xfrm>
          <a:prstGeom prst="roundRect">
            <a:avLst/>
          </a:prstGeom>
          <a:solidFill>
            <a:srgbClr val="316154"/>
          </a:solidFill>
          <a:ln w="1270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0F917691-D456-9104-6A6B-D5318CFA6564}"/>
              </a:ext>
            </a:extLst>
          </p:cNvPr>
          <p:cNvSpPr/>
          <p:nvPr/>
        </p:nvSpPr>
        <p:spPr>
          <a:xfrm>
            <a:off x="3612357" y="2411730"/>
            <a:ext cx="594360" cy="164592"/>
          </a:xfrm>
          <a:prstGeom prst="roundRect">
            <a:avLst/>
          </a:prstGeom>
          <a:solidFill>
            <a:srgbClr val="316154"/>
          </a:solidFill>
          <a:ln w="1270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67F11AE8-5FFA-0C1E-F7A2-CF7A68849740}"/>
              </a:ext>
            </a:extLst>
          </p:cNvPr>
          <p:cNvSpPr/>
          <p:nvPr/>
        </p:nvSpPr>
        <p:spPr>
          <a:xfrm>
            <a:off x="3612357" y="2622042"/>
            <a:ext cx="594360" cy="164592"/>
          </a:xfrm>
          <a:prstGeom prst="roundRect">
            <a:avLst/>
          </a:prstGeom>
          <a:solidFill>
            <a:srgbClr val="316154"/>
          </a:solidFill>
          <a:ln w="1270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43" name="Connector 17">
            <a:extLst>
              <a:ext uri="{FF2B5EF4-FFF2-40B4-BE49-F238E27FC236}">
                <a16:creationId xmlns:a16="http://schemas.microsoft.com/office/drawing/2014/main" id="{602C60F1-111C-7909-3BE4-EACDBD7C178A}"/>
              </a:ext>
            </a:extLst>
          </p:cNvPr>
          <p:cNvCxnSpPr/>
          <p:nvPr/>
        </p:nvCxnSpPr>
        <p:spPr>
          <a:xfrm flipH="1">
            <a:off x="4389120" y="2533396"/>
            <a:ext cx="594360" cy="0"/>
          </a:xfrm>
          <a:prstGeom prst="line">
            <a:avLst/>
          </a:prstGeom>
          <a:ln w="1905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3177F1-7316-68B0-002F-777FEA9F15DC}"/>
              </a:ext>
            </a:extLst>
          </p:cNvPr>
          <p:cNvSpPr txBox="1"/>
          <p:nvPr/>
        </p:nvSpPr>
        <p:spPr>
          <a:xfrm>
            <a:off x="2530673" y="2220320"/>
            <a:ext cx="872290" cy="627864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 rtl="1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إعادة</a:t>
            </a:r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محاولة</a:t>
            </a:r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
</a:t>
            </a:r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وتتبع</a:t>
            </a:r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الحالة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163C7968-81B8-E060-5A6A-F5EB03D1EA53}"/>
              </a:ext>
            </a:extLst>
          </p:cNvPr>
          <p:cNvSpPr/>
          <p:nvPr/>
        </p:nvSpPr>
        <p:spPr>
          <a:xfrm>
            <a:off x="2423160" y="3611880"/>
            <a:ext cx="46634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E2C45E-23D7-415D-2467-C5C8C6A52BCA}"/>
              </a:ext>
            </a:extLst>
          </p:cNvPr>
          <p:cNvSpPr txBox="1"/>
          <p:nvPr/>
        </p:nvSpPr>
        <p:spPr>
          <a:xfrm>
            <a:off x="5982418" y="3624133"/>
            <a:ext cx="1088695" cy="443198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l" rtl="1"/>
            <a:r>
              <a:rPr sz="2400" b="1" dirty="0" err="1">
                <a:solidFill>
                  <a:srgbClr val="0A463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</a:t>
            </a:r>
            <a:r>
              <a:rPr sz="2400" b="1" dirty="0">
                <a:solidFill>
                  <a:srgbClr val="0A463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0A463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لحظي</a:t>
            </a:r>
            <a:endParaRPr sz="2400" b="1" dirty="0">
              <a:solidFill>
                <a:srgbClr val="0A463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D3EC7FD-E813-08B8-2DD0-95830D593E5D}"/>
              </a:ext>
            </a:extLst>
          </p:cNvPr>
          <p:cNvSpPr/>
          <p:nvPr/>
        </p:nvSpPr>
        <p:spPr>
          <a:xfrm>
            <a:off x="5666248" y="3981204"/>
            <a:ext cx="502920" cy="502920"/>
          </a:xfrm>
          <a:prstGeom prst="ellipse">
            <a:avLst/>
          </a:prstGeom>
          <a:solidFill>
            <a:srgbClr val="FAF6EC"/>
          </a:solidFill>
          <a:ln w="1905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4979E74-A5AC-03DC-8199-3D29F20639CB}"/>
              </a:ext>
            </a:extLst>
          </p:cNvPr>
          <p:cNvSpPr/>
          <p:nvPr/>
        </p:nvSpPr>
        <p:spPr>
          <a:xfrm>
            <a:off x="4160520" y="4123944"/>
            <a:ext cx="228600" cy="228600"/>
          </a:xfrm>
          <a:prstGeom prst="ellipse">
            <a:avLst/>
          </a:prstGeom>
          <a:solidFill>
            <a:srgbClr val="0A463B"/>
          </a:solidFill>
          <a:ln w="1905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AA0385F-4B50-E3A4-D702-2CB41CBEB15A}"/>
              </a:ext>
            </a:extLst>
          </p:cNvPr>
          <p:cNvSpPr/>
          <p:nvPr/>
        </p:nvSpPr>
        <p:spPr>
          <a:xfrm>
            <a:off x="4526280" y="4123944"/>
            <a:ext cx="228600" cy="228600"/>
          </a:xfrm>
          <a:prstGeom prst="ellipse">
            <a:avLst/>
          </a:prstGeom>
          <a:solidFill>
            <a:srgbClr val="0A463B"/>
          </a:solidFill>
          <a:ln w="1905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540FD40-9428-13E9-4366-159CB4A83C5B}"/>
              </a:ext>
            </a:extLst>
          </p:cNvPr>
          <p:cNvSpPr/>
          <p:nvPr/>
        </p:nvSpPr>
        <p:spPr>
          <a:xfrm>
            <a:off x="4892040" y="4123944"/>
            <a:ext cx="228600" cy="228600"/>
          </a:xfrm>
          <a:prstGeom prst="ellipse">
            <a:avLst/>
          </a:prstGeom>
          <a:solidFill>
            <a:srgbClr val="0A463B"/>
          </a:solidFill>
          <a:ln w="19050">
            <a:solidFill>
              <a:srgbClr val="0A4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sz="2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4" name="Connector 28">
            <a:extLst>
              <a:ext uri="{FF2B5EF4-FFF2-40B4-BE49-F238E27FC236}">
                <a16:creationId xmlns:a16="http://schemas.microsoft.com/office/drawing/2014/main" id="{3345C53C-9AED-19B4-79D5-66CCEA079D88}"/>
              </a:ext>
            </a:extLst>
          </p:cNvPr>
          <p:cNvCxnSpPr/>
          <p:nvPr/>
        </p:nvCxnSpPr>
        <p:spPr>
          <a:xfrm flipH="1">
            <a:off x="5247116" y="4238243"/>
            <a:ext cx="301752" cy="0"/>
          </a:xfrm>
          <a:prstGeom prst="line">
            <a:avLst/>
          </a:prstGeom>
          <a:ln w="1905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31BE006-477B-0A63-D336-5A266F8A9F28}"/>
              </a:ext>
            </a:extLst>
          </p:cNvPr>
          <p:cNvSpPr txBox="1"/>
          <p:nvPr/>
        </p:nvSpPr>
        <p:spPr>
          <a:xfrm>
            <a:off x="2620451" y="3856260"/>
            <a:ext cx="1276248" cy="627864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 rtl="1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تنبيه</a:t>
            </a:r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مباشر</a:t>
            </a:r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
</a:t>
            </a:r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للمستخدم</a:t>
            </a:r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المتصل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6" name="Rounded Rectangle 30">
            <a:extLst>
              <a:ext uri="{FF2B5EF4-FFF2-40B4-BE49-F238E27FC236}">
                <a16:creationId xmlns:a16="http://schemas.microsoft.com/office/drawing/2014/main" id="{DEA9FB3C-20D1-8C0F-6267-31BFE9905CC5}"/>
              </a:ext>
            </a:extLst>
          </p:cNvPr>
          <p:cNvSpPr/>
          <p:nvPr/>
        </p:nvSpPr>
        <p:spPr>
          <a:xfrm>
            <a:off x="3235435" y="5191991"/>
            <a:ext cx="4389120" cy="438912"/>
          </a:xfrm>
          <a:prstGeom prst="roundRect">
            <a:avLst/>
          </a:prstGeom>
          <a:solidFill>
            <a:srgbClr val="0A463B"/>
          </a:solidFill>
          <a:ln w="1524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 rtl="1"/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نفصل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الاعتمادية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الاتصال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اللحظي</a:t>
            </a:r>
            <a:endParaRPr sz="24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D1E6F4D-77A0-317C-E5F0-6A84D24183D8}"/>
              </a:ext>
            </a:extLst>
          </p:cNvPr>
          <p:cNvGrpSpPr/>
          <p:nvPr/>
        </p:nvGrpSpPr>
        <p:grpSpPr>
          <a:xfrm>
            <a:off x="5100812" y="2130553"/>
            <a:ext cx="658368" cy="731520"/>
            <a:chOff x="5049138" y="1839262"/>
            <a:chExt cx="658368" cy="731520"/>
          </a:xfrm>
        </p:grpSpPr>
        <p:sp>
          <p:nvSpPr>
            <p:cNvPr id="129" name="Can 17">
              <a:extLst>
                <a:ext uri="{FF2B5EF4-FFF2-40B4-BE49-F238E27FC236}">
                  <a16:creationId xmlns:a16="http://schemas.microsoft.com/office/drawing/2014/main" id="{2C101FEC-454E-B15C-76CB-5CA3E6263FF1}"/>
                </a:ext>
              </a:extLst>
            </p:cNvPr>
            <p:cNvSpPr/>
            <p:nvPr/>
          </p:nvSpPr>
          <p:spPr>
            <a:xfrm>
              <a:off x="5049138" y="1839262"/>
              <a:ext cx="658368" cy="731520"/>
            </a:xfrm>
            <a:prstGeom prst="can">
              <a:avLst/>
            </a:prstGeom>
            <a:solidFill>
              <a:srgbClr val="FAF6EC"/>
            </a:solidFill>
            <a:ln w="22860">
              <a:solidFill>
                <a:srgbClr val="0A46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sz="320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cxnSp>
          <p:nvCxnSpPr>
            <p:cNvPr id="130" name="Connector 18">
              <a:extLst>
                <a:ext uri="{FF2B5EF4-FFF2-40B4-BE49-F238E27FC236}">
                  <a16:creationId xmlns:a16="http://schemas.microsoft.com/office/drawing/2014/main" id="{DAD8BF50-0182-4DC4-14C6-0C6667F06C9C}"/>
                </a:ext>
              </a:extLst>
            </p:cNvPr>
            <p:cNvCxnSpPr>
              <a:cxnSpLocks/>
            </p:cNvCxnSpPr>
            <p:nvPr/>
          </p:nvCxnSpPr>
          <p:spPr>
            <a:xfrm>
              <a:off x="5094857" y="2141014"/>
              <a:ext cx="566929" cy="0"/>
            </a:xfrm>
            <a:prstGeom prst="line">
              <a:avLst/>
            </a:prstGeom>
            <a:ln w="2540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9">
              <a:extLst>
                <a:ext uri="{FF2B5EF4-FFF2-40B4-BE49-F238E27FC236}">
                  <a16:creationId xmlns:a16="http://schemas.microsoft.com/office/drawing/2014/main" id="{996BEB89-8CF6-1E04-513B-B0463C70FF6E}"/>
                </a:ext>
              </a:extLst>
            </p:cNvPr>
            <p:cNvCxnSpPr>
              <a:cxnSpLocks/>
            </p:cNvCxnSpPr>
            <p:nvPr/>
          </p:nvCxnSpPr>
          <p:spPr>
            <a:xfrm>
              <a:off x="5094857" y="2360470"/>
              <a:ext cx="566929" cy="0"/>
            </a:xfrm>
            <a:prstGeom prst="line">
              <a:avLst/>
            </a:prstGeom>
            <a:ln w="25400">
              <a:solidFill>
                <a:srgbClr val="C6A5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4325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EDF8-A0A2-6234-B0B2-B739488D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EC580A-30E1-B3E3-78C2-CF53916AE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1A6774-FC4A-BB9D-74AE-FEAB190F628A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القرارات التصميمة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4A3126-4F18-8816-E67C-134EF7BC4D91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2D2C48-1A8D-3AC1-699E-274B5A49E962}"/>
              </a:ext>
            </a:extLst>
          </p:cNvPr>
          <p:cNvSpPr txBox="1"/>
          <p:nvPr/>
        </p:nvSpPr>
        <p:spPr>
          <a:xfrm>
            <a:off x="6017343" y="866328"/>
            <a:ext cx="5825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 الرابع: تقنية لكل مسؤولية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0CCC1-3BF3-4BC9-9C15-B84CA3D45002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13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6B35D90F-51F6-7F95-6DC1-4B9E19D88B23}"/>
              </a:ext>
            </a:extLst>
          </p:cNvPr>
          <p:cNvSpPr/>
          <p:nvPr/>
        </p:nvSpPr>
        <p:spPr>
          <a:xfrm>
            <a:off x="5428363" y="5771786"/>
            <a:ext cx="457200" cy="457200"/>
          </a:xfrm>
          <a:prstGeom prst="ellipse">
            <a:avLst/>
          </a:prstGeom>
          <a:solidFill>
            <a:srgbClr val="0A463B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B743610-2BC5-C102-C760-DC27D3A09ED9}"/>
              </a:ext>
            </a:extLst>
          </p:cNvPr>
          <p:cNvSpPr txBox="1"/>
          <p:nvPr/>
        </p:nvSpPr>
        <p:spPr>
          <a:xfrm>
            <a:off x="2949781" y="6296034"/>
            <a:ext cx="45551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نحفظ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38" name="Connector 28">
            <a:extLst>
              <a:ext uri="{FF2B5EF4-FFF2-40B4-BE49-F238E27FC236}">
                <a16:creationId xmlns:a16="http://schemas.microsoft.com/office/drawing/2014/main" id="{7E248FE2-4217-A63D-4094-8205C1A7F228}"/>
              </a:ext>
            </a:extLst>
          </p:cNvPr>
          <p:cNvCxnSpPr/>
          <p:nvPr/>
        </p:nvCxnSpPr>
        <p:spPr>
          <a:xfrm>
            <a:off x="3449016" y="6000386"/>
            <a:ext cx="347471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9D654A5B-C8BD-252D-7818-7D3A2C8D4807}"/>
              </a:ext>
            </a:extLst>
          </p:cNvPr>
          <p:cNvSpPr/>
          <p:nvPr/>
        </p:nvSpPr>
        <p:spPr>
          <a:xfrm>
            <a:off x="2982671" y="5790073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E37F47B-FAED-8F8B-56DE-5F3FC411024B}"/>
              </a:ext>
            </a:extLst>
          </p:cNvPr>
          <p:cNvSpPr txBox="1"/>
          <p:nvPr/>
        </p:nvSpPr>
        <p:spPr>
          <a:xfrm>
            <a:off x="3777622" y="6282153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1" name="Connector 31">
            <a:extLst>
              <a:ext uri="{FF2B5EF4-FFF2-40B4-BE49-F238E27FC236}">
                <a16:creationId xmlns:a16="http://schemas.microsoft.com/office/drawing/2014/main" id="{C392139A-B0FD-73BD-8A8A-F931AB3D1A34}"/>
              </a:ext>
            </a:extLst>
          </p:cNvPr>
          <p:cNvCxnSpPr/>
          <p:nvPr/>
        </p:nvCxnSpPr>
        <p:spPr>
          <a:xfrm>
            <a:off x="425760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AC1AA228-684B-41A6-533A-599548DBE5D7}"/>
              </a:ext>
            </a:extLst>
          </p:cNvPr>
          <p:cNvSpPr/>
          <p:nvPr/>
        </p:nvSpPr>
        <p:spPr>
          <a:xfrm>
            <a:off x="3799426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7D079E2-6090-F7DE-8D75-2567BA00ABAA}"/>
              </a:ext>
            </a:extLst>
          </p:cNvPr>
          <p:cNvSpPr txBox="1"/>
          <p:nvPr/>
        </p:nvSpPr>
        <p:spPr>
          <a:xfrm>
            <a:off x="4614221" y="6260482"/>
            <a:ext cx="415435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نوزّع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4" name="Connector 34">
            <a:extLst>
              <a:ext uri="{FF2B5EF4-FFF2-40B4-BE49-F238E27FC236}">
                <a16:creationId xmlns:a16="http://schemas.microsoft.com/office/drawing/2014/main" id="{690E1D6E-1F05-8360-7BA4-D76B76A32C5D}"/>
              </a:ext>
            </a:extLst>
          </p:cNvPr>
          <p:cNvCxnSpPr/>
          <p:nvPr/>
        </p:nvCxnSpPr>
        <p:spPr>
          <a:xfrm>
            <a:off x="5073380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6F66523E-048C-2748-524F-39ABC1DFC37B}"/>
              </a:ext>
            </a:extLst>
          </p:cNvPr>
          <p:cNvSpPr/>
          <p:nvPr/>
        </p:nvSpPr>
        <p:spPr>
          <a:xfrm>
            <a:off x="4612588" y="578703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A69E9A0-08B7-9159-1F2C-248B13EE2152}"/>
              </a:ext>
            </a:extLst>
          </p:cNvPr>
          <p:cNvSpPr txBox="1"/>
          <p:nvPr/>
        </p:nvSpPr>
        <p:spPr>
          <a:xfrm>
            <a:off x="5401987" y="6296035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7" name="Connector 37">
            <a:extLst>
              <a:ext uri="{FF2B5EF4-FFF2-40B4-BE49-F238E27FC236}">
                <a16:creationId xmlns:a16="http://schemas.microsoft.com/office/drawing/2014/main" id="{54A04F28-B233-2BEE-718F-FE6568051B3F}"/>
              </a:ext>
            </a:extLst>
          </p:cNvPr>
          <p:cNvCxnSpPr/>
          <p:nvPr/>
        </p:nvCxnSpPr>
        <p:spPr>
          <a:xfrm>
            <a:off x="588915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C6FCF115-BAB2-177C-3DD6-13BD53EF4558}"/>
              </a:ext>
            </a:extLst>
          </p:cNvPr>
          <p:cNvSpPr/>
          <p:nvPr/>
        </p:nvSpPr>
        <p:spPr>
          <a:xfrm>
            <a:off x="6225378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F8B47A0-1645-FFA8-4CD1-39AF5D7FFB32}"/>
              </a:ext>
            </a:extLst>
          </p:cNvPr>
          <p:cNvSpPr txBox="1"/>
          <p:nvPr/>
        </p:nvSpPr>
        <p:spPr>
          <a:xfrm>
            <a:off x="6287536" y="6296035"/>
            <a:ext cx="43948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نؤمّن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D7D8ED18-89F9-B0D3-F248-ACA9ABFABEE8}"/>
              </a:ext>
            </a:extLst>
          </p:cNvPr>
          <p:cNvSpPr/>
          <p:nvPr/>
        </p:nvSpPr>
        <p:spPr>
          <a:xfrm>
            <a:off x="3154680" y="5230368"/>
            <a:ext cx="4663440" cy="457200"/>
          </a:xfrm>
          <a:prstGeom prst="roundRect">
            <a:avLst/>
          </a:prstGeom>
          <a:solidFill>
            <a:srgbClr val="0A463B"/>
          </a:solidFill>
          <a:ln w="1524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 rtl="1"/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نحمّل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مكوّناً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واحداً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وظائف</a:t>
            </a:r>
            <a:r>
              <a:rPr sz="24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النظام</a:t>
            </a:r>
            <a:endParaRPr sz="24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6" name="Connector 15">
            <a:extLst>
              <a:ext uri="{FF2B5EF4-FFF2-40B4-BE49-F238E27FC236}">
                <a16:creationId xmlns:a16="http://schemas.microsoft.com/office/drawing/2014/main" id="{6A44A7D9-DD62-14D0-2AAF-6CD7C3098C41}"/>
              </a:ext>
            </a:extLst>
          </p:cNvPr>
          <p:cNvCxnSpPr/>
          <p:nvPr/>
        </p:nvCxnSpPr>
        <p:spPr>
          <a:xfrm flipH="1" flipV="1">
            <a:off x="5760720" y="2176272"/>
            <a:ext cx="36576" cy="1110996"/>
          </a:xfrm>
          <a:prstGeom prst="line">
            <a:avLst/>
          </a:prstGeom>
          <a:ln w="15240">
            <a:solidFill>
              <a:srgbClr val="C19A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6">
            <a:extLst>
              <a:ext uri="{FF2B5EF4-FFF2-40B4-BE49-F238E27FC236}">
                <a16:creationId xmlns:a16="http://schemas.microsoft.com/office/drawing/2014/main" id="{667092C4-C400-61DD-F02E-AB9E92FD11E4}"/>
              </a:ext>
            </a:extLst>
          </p:cNvPr>
          <p:cNvCxnSpPr/>
          <p:nvPr/>
        </p:nvCxnSpPr>
        <p:spPr>
          <a:xfrm flipV="1">
            <a:off x="5797296" y="3063240"/>
            <a:ext cx="2752344" cy="224028"/>
          </a:xfrm>
          <a:prstGeom prst="line">
            <a:avLst/>
          </a:prstGeom>
          <a:ln w="15240">
            <a:solidFill>
              <a:srgbClr val="C19A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7">
            <a:extLst>
              <a:ext uri="{FF2B5EF4-FFF2-40B4-BE49-F238E27FC236}">
                <a16:creationId xmlns:a16="http://schemas.microsoft.com/office/drawing/2014/main" id="{A3CD6174-EAE2-8D3B-3C44-B65329A170FC}"/>
              </a:ext>
            </a:extLst>
          </p:cNvPr>
          <p:cNvCxnSpPr/>
          <p:nvPr/>
        </p:nvCxnSpPr>
        <p:spPr>
          <a:xfrm>
            <a:off x="5797296" y="3287268"/>
            <a:ext cx="1837944" cy="1165860"/>
          </a:xfrm>
          <a:prstGeom prst="line">
            <a:avLst/>
          </a:prstGeom>
          <a:ln w="15240">
            <a:solidFill>
              <a:srgbClr val="C19A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8">
            <a:extLst>
              <a:ext uri="{FF2B5EF4-FFF2-40B4-BE49-F238E27FC236}">
                <a16:creationId xmlns:a16="http://schemas.microsoft.com/office/drawing/2014/main" id="{B5579D88-3EF6-CCF1-1D0C-44C8C87477CB}"/>
              </a:ext>
            </a:extLst>
          </p:cNvPr>
          <p:cNvCxnSpPr/>
          <p:nvPr/>
        </p:nvCxnSpPr>
        <p:spPr>
          <a:xfrm flipH="1">
            <a:off x="4023360" y="3287268"/>
            <a:ext cx="1773936" cy="1165860"/>
          </a:xfrm>
          <a:prstGeom prst="line">
            <a:avLst/>
          </a:prstGeom>
          <a:ln w="15240">
            <a:solidFill>
              <a:srgbClr val="C19A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9">
            <a:extLst>
              <a:ext uri="{FF2B5EF4-FFF2-40B4-BE49-F238E27FC236}">
                <a16:creationId xmlns:a16="http://schemas.microsoft.com/office/drawing/2014/main" id="{6A419551-B13E-7F8A-C71A-115658A3A6FF}"/>
              </a:ext>
            </a:extLst>
          </p:cNvPr>
          <p:cNvCxnSpPr/>
          <p:nvPr/>
        </p:nvCxnSpPr>
        <p:spPr>
          <a:xfrm flipH="1" flipV="1">
            <a:off x="2880360" y="3063240"/>
            <a:ext cx="2916936" cy="224028"/>
          </a:xfrm>
          <a:prstGeom prst="line">
            <a:avLst/>
          </a:prstGeom>
          <a:ln w="15240">
            <a:solidFill>
              <a:srgbClr val="C19A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Hexagon 29">
            <a:extLst>
              <a:ext uri="{FF2B5EF4-FFF2-40B4-BE49-F238E27FC236}">
                <a16:creationId xmlns:a16="http://schemas.microsoft.com/office/drawing/2014/main" id="{56C2BED2-3933-A9A6-518C-B16E5969645D}"/>
              </a:ext>
            </a:extLst>
          </p:cNvPr>
          <p:cNvSpPr/>
          <p:nvPr/>
        </p:nvSpPr>
        <p:spPr>
          <a:xfrm>
            <a:off x="4800600" y="2816352"/>
            <a:ext cx="1993392" cy="941832"/>
          </a:xfrm>
          <a:prstGeom prst="hexagon">
            <a:avLst/>
          </a:prstGeom>
          <a:solidFill>
            <a:srgbClr val="0B4F43"/>
          </a:solidFill>
          <a:ln w="1778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800" b="1" dirty="0">
                <a:solidFill>
                  <a:srgbClr val="FFFFFF"/>
                </a:solidFill>
                <a:latin typeface="Traditional Arabic"/>
                <a:cs typeface="Traditional Arabic"/>
              </a:rPr>
              <a:t>مسؤولية</a:t>
            </a:r>
          </a:p>
          <a:p>
            <a:pPr algn="ctr" rtl="1"/>
            <a:r>
              <a:rPr lang="ar-SY" sz="2800" b="1" dirty="0">
                <a:solidFill>
                  <a:srgbClr val="FFFFFF"/>
                </a:solidFill>
                <a:latin typeface="Traditional Arabic"/>
                <a:cs typeface="Traditional Arabic"/>
              </a:rPr>
              <a:t>واحدة</a:t>
            </a:r>
          </a:p>
        </p:txBody>
      </p:sp>
      <p:sp>
        <p:nvSpPr>
          <p:cNvPr id="31" name="Rounded Rectangle 21">
            <a:extLst>
              <a:ext uri="{FF2B5EF4-FFF2-40B4-BE49-F238E27FC236}">
                <a16:creationId xmlns:a16="http://schemas.microsoft.com/office/drawing/2014/main" id="{82806BBC-3E50-DF5C-2FF5-0704322CFAD1}"/>
              </a:ext>
            </a:extLst>
          </p:cNvPr>
          <p:cNvSpPr/>
          <p:nvPr/>
        </p:nvSpPr>
        <p:spPr>
          <a:xfrm>
            <a:off x="4343400" y="1874519"/>
            <a:ext cx="283464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800" b="1">
                <a:solidFill>
                  <a:srgbClr val="0B4F43"/>
                </a:solidFill>
                <a:latin typeface="Traditional Arabic"/>
                <a:cs typeface="Traditional Arabic"/>
              </a:rPr>
              <a:t>استقبال الطلبات</a:t>
            </a: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0590898E-A127-B01D-B248-459582BE7C64}"/>
              </a:ext>
            </a:extLst>
          </p:cNvPr>
          <p:cNvSpPr/>
          <p:nvPr/>
        </p:nvSpPr>
        <p:spPr>
          <a:xfrm>
            <a:off x="7315200" y="2761488"/>
            <a:ext cx="246888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800" b="1">
                <a:solidFill>
                  <a:srgbClr val="0B4F43"/>
                </a:solidFill>
                <a:latin typeface="Traditional Arabic"/>
                <a:cs typeface="Traditional Arabic"/>
              </a:rPr>
              <a:t>حفظ البيانات</a:t>
            </a: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D03EB055-E369-C52E-CEA2-31E4A55526B1}"/>
              </a:ext>
            </a:extLst>
          </p:cNvPr>
          <p:cNvSpPr/>
          <p:nvPr/>
        </p:nvSpPr>
        <p:spPr>
          <a:xfrm>
            <a:off x="6309360" y="4151376"/>
            <a:ext cx="26517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800" b="1">
                <a:solidFill>
                  <a:srgbClr val="0B4F43"/>
                </a:solidFill>
                <a:latin typeface="Traditional Arabic"/>
                <a:cs typeface="Traditional Arabic"/>
              </a:rPr>
              <a:t>تجهيز التوزيع</a:t>
            </a:r>
          </a:p>
        </p:txBody>
      </p:sp>
      <p:sp>
        <p:nvSpPr>
          <p:cNvPr id="38" name="Rounded Rectangle 24">
            <a:extLst>
              <a:ext uri="{FF2B5EF4-FFF2-40B4-BE49-F238E27FC236}">
                <a16:creationId xmlns:a16="http://schemas.microsoft.com/office/drawing/2014/main" id="{D2EE5219-B35C-6538-B25D-218FACBDA7C1}"/>
              </a:ext>
            </a:extLst>
          </p:cNvPr>
          <p:cNvSpPr/>
          <p:nvPr/>
        </p:nvSpPr>
        <p:spPr>
          <a:xfrm>
            <a:off x="2697480" y="4151376"/>
            <a:ext cx="26517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800" b="1">
                <a:solidFill>
                  <a:srgbClr val="0B4F43"/>
                </a:solidFill>
                <a:latin typeface="Traditional Arabic"/>
                <a:cs typeface="Traditional Arabic"/>
              </a:rPr>
              <a:t>تنفيذ التسليم</a:t>
            </a:r>
          </a:p>
        </p:txBody>
      </p:sp>
      <p:sp>
        <p:nvSpPr>
          <p:cNvPr id="39" name="Rounded Rectangle 25">
            <a:extLst>
              <a:ext uri="{FF2B5EF4-FFF2-40B4-BE49-F238E27FC236}">
                <a16:creationId xmlns:a16="http://schemas.microsoft.com/office/drawing/2014/main" id="{020A2A02-93FE-8860-68EC-D8FBA2BDA9AD}"/>
              </a:ext>
            </a:extLst>
          </p:cNvPr>
          <p:cNvSpPr/>
          <p:nvPr/>
        </p:nvSpPr>
        <p:spPr>
          <a:xfrm>
            <a:off x="1645920" y="2761488"/>
            <a:ext cx="246888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800" b="1" dirty="0">
                <a:solidFill>
                  <a:srgbClr val="0B4F43"/>
                </a:solidFill>
                <a:latin typeface="Traditional Arabic"/>
                <a:cs typeface="Traditional Arabic"/>
              </a:rPr>
              <a:t>إشعار لحظي</a:t>
            </a:r>
          </a:p>
        </p:txBody>
      </p:sp>
    </p:spTree>
    <p:extLst>
      <p:ext uri="{BB962C8B-B14F-4D97-AF65-F5344CB8AC3E}">
        <p14:creationId xmlns:p14="http://schemas.microsoft.com/office/powerpoint/2010/main" val="393881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5BB2-A5D2-D70F-2073-42781E1C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F406D-8F6F-DCC6-1CDA-DF1E721AF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394D83-8C41-9068-60F8-29F6E52E1A05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القرارات التصميمة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B3BC20-4B6B-E49F-744C-DB3F7F58CC29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628027-2015-82AF-AEC4-E4B26D6CC038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النتيجة: المعمارية العامة النظام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E0F93-B18E-F818-81FB-604118C31C00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14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FBA666C-5549-818F-C4D5-DCC13AC1594F}"/>
              </a:ext>
            </a:extLst>
          </p:cNvPr>
          <p:cNvSpPr/>
          <p:nvPr/>
        </p:nvSpPr>
        <p:spPr>
          <a:xfrm>
            <a:off x="6220199" y="5774164"/>
            <a:ext cx="457200" cy="457200"/>
          </a:xfrm>
          <a:prstGeom prst="ellipse">
            <a:avLst/>
          </a:prstGeom>
          <a:solidFill>
            <a:srgbClr val="0A463B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  <a:endParaRPr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9D51EA6-BA67-72A9-1876-BD718D6D61FC}"/>
              </a:ext>
            </a:extLst>
          </p:cNvPr>
          <p:cNvSpPr txBox="1"/>
          <p:nvPr/>
        </p:nvSpPr>
        <p:spPr>
          <a:xfrm>
            <a:off x="2949781" y="6296034"/>
            <a:ext cx="45551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نحفظ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38" name="Connector 28">
            <a:extLst>
              <a:ext uri="{FF2B5EF4-FFF2-40B4-BE49-F238E27FC236}">
                <a16:creationId xmlns:a16="http://schemas.microsoft.com/office/drawing/2014/main" id="{26D6B26E-6C03-F1C4-090E-3E1F83096C54}"/>
              </a:ext>
            </a:extLst>
          </p:cNvPr>
          <p:cNvCxnSpPr/>
          <p:nvPr/>
        </p:nvCxnSpPr>
        <p:spPr>
          <a:xfrm>
            <a:off x="3449016" y="6000386"/>
            <a:ext cx="347471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9990086E-135B-8407-334A-0D04BF6CB2F2}"/>
              </a:ext>
            </a:extLst>
          </p:cNvPr>
          <p:cNvSpPr/>
          <p:nvPr/>
        </p:nvSpPr>
        <p:spPr>
          <a:xfrm>
            <a:off x="2982671" y="5790073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3F7B743-0FE2-8C95-F33C-340106E7808D}"/>
              </a:ext>
            </a:extLst>
          </p:cNvPr>
          <p:cNvSpPr txBox="1"/>
          <p:nvPr/>
        </p:nvSpPr>
        <p:spPr>
          <a:xfrm>
            <a:off x="3777622" y="6282153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1" name="Connector 31">
            <a:extLst>
              <a:ext uri="{FF2B5EF4-FFF2-40B4-BE49-F238E27FC236}">
                <a16:creationId xmlns:a16="http://schemas.microsoft.com/office/drawing/2014/main" id="{25619D04-8A75-2BD0-6C76-71B362180F7A}"/>
              </a:ext>
            </a:extLst>
          </p:cNvPr>
          <p:cNvCxnSpPr/>
          <p:nvPr/>
        </p:nvCxnSpPr>
        <p:spPr>
          <a:xfrm>
            <a:off x="425760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CC79616D-FD73-AA22-0049-93C9A5D0BB12}"/>
              </a:ext>
            </a:extLst>
          </p:cNvPr>
          <p:cNvSpPr/>
          <p:nvPr/>
        </p:nvSpPr>
        <p:spPr>
          <a:xfrm>
            <a:off x="3799426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26DE6F3-9B3A-3E70-ECD0-B96482A7D454}"/>
              </a:ext>
            </a:extLst>
          </p:cNvPr>
          <p:cNvSpPr txBox="1"/>
          <p:nvPr/>
        </p:nvSpPr>
        <p:spPr>
          <a:xfrm>
            <a:off x="4614221" y="6260482"/>
            <a:ext cx="415435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نوزّع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4" name="Connector 34">
            <a:extLst>
              <a:ext uri="{FF2B5EF4-FFF2-40B4-BE49-F238E27FC236}">
                <a16:creationId xmlns:a16="http://schemas.microsoft.com/office/drawing/2014/main" id="{E262032B-E068-C6E1-E302-DB8D5E3AEB80}"/>
              </a:ext>
            </a:extLst>
          </p:cNvPr>
          <p:cNvCxnSpPr/>
          <p:nvPr/>
        </p:nvCxnSpPr>
        <p:spPr>
          <a:xfrm>
            <a:off x="5073380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CFB9166F-E478-8166-BF3B-9FBB61866C75}"/>
              </a:ext>
            </a:extLst>
          </p:cNvPr>
          <p:cNvSpPr/>
          <p:nvPr/>
        </p:nvSpPr>
        <p:spPr>
          <a:xfrm>
            <a:off x="4612588" y="578703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ar-SY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349CDEC-71A4-BE5E-615D-074D26A2BE8D}"/>
              </a:ext>
            </a:extLst>
          </p:cNvPr>
          <p:cNvSpPr txBox="1"/>
          <p:nvPr/>
        </p:nvSpPr>
        <p:spPr>
          <a:xfrm>
            <a:off x="5401987" y="6296035"/>
            <a:ext cx="513218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نوصل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47" name="Connector 37">
            <a:extLst>
              <a:ext uri="{FF2B5EF4-FFF2-40B4-BE49-F238E27FC236}">
                <a16:creationId xmlns:a16="http://schemas.microsoft.com/office/drawing/2014/main" id="{CE5A0801-6F0F-2101-FF1C-1211087DE78C}"/>
              </a:ext>
            </a:extLst>
          </p:cNvPr>
          <p:cNvCxnSpPr/>
          <p:nvPr/>
        </p:nvCxnSpPr>
        <p:spPr>
          <a:xfrm>
            <a:off x="5889155" y="6000386"/>
            <a:ext cx="347472" cy="0"/>
          </a:xfrm>
          <a:prstGeom prst="line">
            <a:avLst/>
          </a:prstGeom>
          <a:ln w="12700">
            <a:solidFill>
              <a:srgbClr val="C6A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422F686C-3101-D1B2-CF0D-A1FFA445D216}"/>
              </a:ext>
            </a:extLst>
          </p:cNvPr>
          <p:cNvSpPr/>
          <p:nvPr/>
        </p:nvSpPr>
        <p:spPr>
          <a:xfrm>
            <a:off x="5428962" y="5771786"/>
            <a:ext cx="457200" cy="457200"/>
          </a:xfrm>
          <a:prstGeom prst="ellipse">
            <a:avLst/>
          </a:prstGeom>
          <a:solidFill>
            <a:srgbClr val="FAF6EC"/>
          </a:solidFill>
          <a:ln w="12700">
            <a:solidFill>
              <a:srgbClr val="C6A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b="1" dirty="0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1D429A3-6760-F7E9-ECC1-248193B4A863}"/>
              </a:ext>
            </a:extLst>
          </p:cNvPr>
          <p:cNvSpPr txBox="1"/>
          <p:nvPr/>
        </p:nvSpPr>
        <p:spPr>
          <a:xfrm>
            <a:off x="6287536" y="6296035"/>
            <a:ext cx="439480" cy="350865"/>
          </a:xfrm>
          <a:prstGeom prst="rect">
            <a:avLst/>
          </a:prstGeom>
          <a:noFill/>
        </p:spPr>
        <p:txBody>
          <a:bodyPr wrap="none" lIns="73152" tIns="36576" rIns="73152" bIns="36576" anchor="ctr">
            <a:spAutoFit/>
          </a:bodyPr>
          <a:lstStyle/>
          <a:p>
            <a:pPr algn="ctr"/>
            <a:r>
              <a:rPr b="1" dirty="0" err="1">
                <a:solidFill>
                  <a:srgbClr val="083A3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نؤمّن</a:t>
            </a:r>
            <a:endParaRPr b="1" dirty="0">
              <a:solidFill>
                <a:srgbClr val="083A3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6" name="Connector 15">
            <a:extLst>
              <a:ext uri="{FF2B5EF4-FFF2-40B4-BE49-F238E27FC236}">
                <a16:creationId xmlns:a16="http://schemas.microsoft.com/office/drawing/2014/main" id="{9020F9C1-D206-5B08-A038-ECBD6EA50575}"/>
              </a:ext>
            </a:extLst>
          </p:cNvPr>
          <p:cNvCxnSpPr/>
          <p:nvPr/>
        </p:nvCxnSpPr>
        <p:spPr>
          <a:xfrm>
            <a:off x="4366260" y="2075687"/>
            <a:ext cx="0" cy="91441"/>
          </a:xfrm>
          <a:prstGeom prst="line">
            <a:avLst/>
          </a:prstGeom>
          <a:ln w="15240">
            <a:solidFill>
              <a:srgbClr val="C19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16">
            <a:extLst>
              <a:ext uri="{FF2B5EF4-FFF2-40B4-BE49-F238E27FC236}">
                <a16:creationId xmlns:a16="http://schemas.microsoft.com/office/drawing/2014/main" id="{FDC517EF-57C8-3F8A-A4ED-04206C6D53F2}"/>
              </a:ext>
            </a:extLst>
          </p:cNvPr>
          <p:cNvCxnSpPr/>
          <p:nvPr/>
        </p:nvCxnSpPr>
        <p:spPr>
          <a:xfrm>
            <a:off x="4366260" y="2770632"/>
            <a:ext cx="0" cy="91440"/>
          </a:xfrm>
          <a:prstGeom prst="line">
            <a:avLst/>
          </a:prstGeom>
          <a:ln w="15240">
            <a:solidFill>
              <a:srgbClr val="C19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17">
            <a:extLst>
              <a:ext uri="{FF2B5EF4-FFF2-40B4-BE49-F238E27FC236}">
                <a16:creationId xmlns:a16="http://schemas.microsoft.com/office/drawing/2014/main" id="{2C9E8C35-74AF-6D6D-1827-480EDEB200C7}"/>
              </a:ext>
            </a:extLst>
          </p:cNvPr>
          <p:cNvCxnSpPr/>
          <p:nvPr/>
        </p:nvCxnSpPr>
        <p:spPr>
          <a:xfrm>
            <a:off x="4366260" y="3465576"/>
            <a:ext cx="0" cy="91440"/>
          </a:xfrm>
          <a:prstGeom prst="line">
            <a:avLst/>
          </a:prstGeom>
          <a:ln w="15240">
            <a:solidFill>
              <a:srgbClr val="C19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01ADA11C-AB13-2C5B-0ACD-37D64A7C2DFD}"/>
              </a:ext>
            </a:extLst>
          </p:cNvPr>
          <p:cNvCxnSpPr/>
          <p:nvPr/>
        </p:nvCxnSpPr>
        <p:spPr>
          <a:xfrm>
            <a:off x="4366260" y="4160520"/>
            <a:ext cx="0" cy="91439"/>
          </a:xfrm>
          <a:prstGeom prst="line">
            <a:avLst/>
          </a:prstGeom>
          <a:ln w="15240">
            <a:solidFill>
              <a:srgbClr val="C19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9">
            <a:extLst>
              <a:ext uri="{FF2B5EF4-FFF2-40B4-BE49-F238E27FC236}">
                <a16:creationId xmlns:a16="http://schemas.microsoft.com/office/drawing/2014/main" id="{253B73C4-E0B6-1661-3D2E-0B9C5955DCB7}"/>
              </a:ext>
            </a:extLst>
          </p:cNvPr>
          <p:cNvCxnSpPr/>
          <p:nvPr/>
        </p:nvCxnSpPr>
        <p:spPr>
          <a:xfrm>
            <a:off x="4366260" y="4855464"/>
            <a:ext cx="0" cy="91439"/>
          </a:xfrm>
          <a:prstGeom prst="line">
            <a:avLst/>
          </a:prstGeom>
          <a:ln w="15240">
            <a:solidFill>
              <a:srgbClr val="C19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21">
            <a:extLst>
              <a:ext uri="{FF2B5EF4-FFF2-40B4-BE49-F238E27FC236}">
                <a16:creationId xmlns:a16="http://schemas.microsoft.com/office/drawing/2014/main" id="{7CFCD9D9-0370-E75A-96C2-3F01FE979835}"/>
              </a:ext>
            </a:extLst>
          </p:cNvPr>
          <p:cNvSpPr/>
          <p:nvPr/>
        </p:nvSpPr>
        <p:spPr>
          <a:xfrm>
            <a:off x="2423160" y="2194560"/>
            <a:ext cx="38862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lang="ar-SY" sz="2200" b="1" dirty="0">
                <a:solidFill>
                  <a:srgbClr val="0B4F43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الواجهة الخلفية للنظام</a:t>
            </a:r>
          </a:p>
        </p:txBody>
      </p:sp>
      <p:sp>
        <p:nvSpPr>
          <p:cNvPr id="13" name="Rounded Rectangle 22">
            <a:extLst>
              <a:ext uri="{FF2B5EF4-FFF2-40B4-BE49-F238E27FC236}">
                <a16:creationId xmlns:a16="http://schemas.microsoft.com/office/drawing/2014/main" id="{F44E21E3-03EC-8C2F-0332-AAF32CBB0D78}"/>
              </a:ext>
            </a:extLst>
          </p:cNvPr>
          <p:cNvSpPr/>
          <p:nvPr/>
        </p:nvSpPr>
        <p:spPr>
          <a:xfrm>
            <a:off x="2423160" y="2889504"/>
            <a:ext cx="38862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200" b="1" dirty="0">
                <a:solidFill>
                  <a:srgbClr val="0B4F43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قاعدة البيانات</a:t>
            </a:r>
          </a:p>
        </p:txBody>
      </p:sp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23732946-0D03-6150-99F0-4C367F78E2F2}"/>
              </a:ext>
            </a:extLst>
          </p:cNvPr>
          <p:cNvSpPr/>
          <p:nvPr/>
        </p:nvSpPr>
        <p:spPr>
          <a:xfrm>
            <a:off x="2423160" y="3584448"/>
            <a:ext cx="38862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200" b="1" dirty="0">
                <a:solidFill>
                  <a:srgbClr val="0B4F43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عامل مشغل</a:t>
            </a:r>
          </a:p>
        </p:txBody>
      </p:sp>
      <p:sp>
        <p:nvSpPr>
          <p:cNvPr id="16" name="Rounded Rectangle 24">
            <a:extLst>
              <a:ext uri="{FF2B5EF4-FFF2-40B4-BE49-F238E27FC236}">
                <a16:creationId xmlns:a16="http://schemas.microsoft.com/office/drawing/2014/main" id="{A1607B8D-41EA-2CC8-9503-86CFFA920D87}"/>
              </a:ext>
            </a:extLst>
          </p:cNvPr>
          <p:cNvSpPr/>
          <p:nvPr/>
        </p:nvSpPr>
        <p:spPr>
          <a:xfrm>
            <a:off x="2423160" y="4279392"/>
            <a:ext cx="38862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100" b="1" dirty="0">
                <a:solidFill>
                  <a:srgbClr val="0B4F43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وسيط الرسائل</a:t>
            </a:r>
          </a:p>
        </p:txBody>
      </p:sp>
      <p:sp>
        <p:nvSpPr>
          <p:cNvPr id="19" name="Rounded Rectangle 21">
            <a:extLst>
              <a:ext uri="{FF2B5EF4-FFF2-40B4-BE49-F238E27FC236}">
                <a16:creationId xmlns:a16="http://schemas.microsoft.com/office/drawing/2014/main" id="{FD7AE6DB-92A4-9475-359D-0E729B92FE69}"/>
              </a:ext>
            </a:extLst>
          </p:cNvPr>
          <p:cNvSpPr/>
          <p:nvPr/>
        </p:nvSpPr>
        <p:spPr>
          <a:xfrm>
            <a:off x="2421000" y="1481591"/>
            <a:ext cx="38862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200" b="1" dirty="0">
                <a:solidFill>
                  <a:srgbClr val="0B4F43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المستخدم</a:t>
            </a:r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50ECF0C9-CAE0-5A4C-AB77-0E019AFE5751}"/>
              </a:ext>
            </a:extLst>
          </p:cNvPr>
          <p:cNvSpPr/>
          <p:nvPr/>
        </p:nvSpPr>
        <p:spPr>
          <a:xfrm>
            <a:off x="2428080" y="4991841"/>
            <a:ext cx="388620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rtl="1"/>
            <a:r>
              <a:rPr lang="ar-SY" sz="2200" b="1" dirty="0">
                <a:solidFill>
                  <a:srgbClr val="0B4F43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توصيل لحظي</a:t>
            </a:r>
          </a:p>
        </p:txBody>
      </p:sp>
      <p:sp>
        <p:nvSpPr>
          <p:cNvPr id="369" name="Chevron 181"/>
          <p:cNvSpPr/>
          <p:nvPr/>
        </p:nvSpPr>
        <p:spPr>
          <a:xfrm>
            <a:off x="6638400" y="2971800"/>
            <a:ext cx="310680" cy="438480"/>
          </a:xfrm>
          <a:prstGeom prst="chevron">
            <a:avLst>
              <a:gd name="adj" fmla="val 50000"/>
            </a:avLst>
          </a:prstGeom>
          <a:solidFill>
            <a:srgbClr val="C19A4A"/>
          </a:solidFill>
          <a:ln w="12600">
            <a:solidFill>
              <a:srgbClr val="C19A4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0" name="Rounded Rectangle 182"/>
          <p:cNvSpPr/>
          <p:nvPr/>
        </p:nvSpPr>
        <p:spPr>
          <a:xfrm>
            <a:off x="7479720" y="1803168"/>
            <a:ext cx="2331360" cy="511560"/>
          </a:xfrm>
          <a:prstGeom prst="roundRect">
            <a:avLst>
              <a:gd name="adj" fmla="val 16667"/>
            </a:avLst>
          </a:prstGeom>
          <a:solidFill>
            <a:srgbClr val="0A463B"/>
          </a:solidFill>
          <a:ln w="16560">
            <a:solidFill>
              <a:srgbClr val="C19A4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مزاية البنية</a:t>
            </a:r>
            <a:endParaRPr lang="en-US" sz="2800" b="1" u="none" strike="noStrike" dirty="0">
              <a:solidFill>
                <a:srgbClr val="FFFFFF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1" name="Rounded Rectangle 183"/>
          <p:cNvSpPr/>
          <p:nvPr/>
        </p:nvSpPr>
        <p:spPr>
          <a:xfrm>
            <a:off x="7269480" y="2377440"/>
            <a:ext cx="2697120" cy="2239920"/>
          </a:xfrm>
          <a:prstGeom prst="roundRect">
            <a:avLst>
              <a:gd name="adj" fmla="val 16667"/>
            </a:avLst>
          </a:prstGeom>
          <a:solidFill>
            <a:srgbClr val="FAF6EC"/>
          </a:solidFill>
          <a:ln w="17640">
            <a:solidFill>
              <a:srgbClr val="C19A4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3" name="Oval 185"/>
          <p:cNvSpPr/>
          <p:nvPr/>
        </p:nvSpPr>
        <p:spPr>
          <a:xfrm>
            <a:off x="9619463" y="2851890"/>
            <a:ext cx="292320" cy="292320"/>
          </a:xfrm>
          <a:prstGeom prst="ellipse">
            <a:avLst/>
          </a:prstGeom>
          <a:solidFill>
            <a:srgbClr val="0A463B"/>
          </a:solidFill>
          <a:ln w="12600">
            <a:solidFill>
              <a:srgbClr val="C19A4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4" name="TextBox 186"/>
          <p:cNvSpPr/>
          <p:nvPr/>
        </p:nvSpPr>
        <p:spPr>
          <a:xfrm>
            <a:off x="7374158" y="2804340"/>
            <a:ext cx="2140627" cy="46021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spAutoFit/>
          </a:bodyPr>
          <a:lstStyle/>
          <a:p>
            <a:pPr algn="l" rtl="1"/>
            <a:r>
              <a:rPr lang="ar-SY" sz="24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فصل واضح بين الأدوار</a:t>
            </a:r>
            <a:endParaRPr lang="en-US" sz="2400" dirty="0">
              <a:solidFill>
                <a:srgbClr val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5" name="Oval 187"/>
          <p:cNvSpPr/>
          <p:nvPr/>
        </p:nvSpPr>
        <p:spPr>
          <a:xfrm>
            <a:off x="9619463" y="3333764"/>
            <a:ext cx="292320" cy="292320"/>
          </a:xfrm>
          <a:prstGeom prst="ellipse">
            <a:avLst/>
          </a:prstGeom>
          <a:solidFill>
            <a:srgbClr val="0A463B"/>
          </a:solidFill>
          <a:ln w="12600">
            <a:solidFill>
              <a:srgbClr val="C19A4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6" name="TextBox 188"/>
          <p:cNvSpPr/>
          <p:nvPr/>
        </p:nvSpPr>
        <p:spPr>
          <a:xfrm>
            <a:off x="7638092" y="3249741"/>
            <a:ext cx="1722244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ar-SY" sz="24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تدفق منظم للرسالة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7" name="Oval 189"/>
          <p:cNvSpPr/>
          <p:nvPr/>
        </p:nvSpPr>
        <p:spPr>
          <a:xfrm>
            <a:off x="9624843" y="3815638"/>
            <a:ext cx="292320" cy="292320"/>
          </a:xfrm>
          <a:prstGeom prst="ellipse">
            <a:avLst/>
          </a:prstGeom>
          <a:solidFill>
            <a:srgbClr val="0A463B"/>
          </a:solidFill>
          <a:ln w="12600">
            <a:solidFill>
              <a:srgbClr val="C19A4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8" name="TextBox 190"/>
          <p:cNvSpPr/>
          <p:nvPr/>
        </p:nvSpPr>
        <p:spPr>
          <a:xfrm>
            <a:off x="7359196" y="3735086"/>
            <a:ext cx="2187115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ar-SY" sz="2400" b="1" u="none" strike="noStrike" dirty="0">
                <a:solidFill>
                  <a:srgbClr val="0A463B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توزيع مرن وإيصال لحظي</a:t>
            </a:r>
            <a:endParaRPr lang="en-US" sz="2400" b="1" u="none" strike="noStrike" dirty="0">
              <a:solidFill>
                <a:srgbClr val="0A463B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7852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6698-0290-70B0-286D-1F056066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EB2CCDA-C6AE-2C0D-753A-D71A931D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3191" y="-812390"/>
            <a:ext cx="14438381" cy="767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5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FB96-BEF2-7851-DB4F-0F1DDE56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F6BF44-49F3-72A1-C847-389782A6A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AFAFB8-052A-3101-12D1-210C0A7D7557}"/>
              </a:ext>
            </a:extLst>
          </p:cNvPr>
          <p:cNvSpPr txBox="1"/>
          <p:nvPr/>
        </p:nvSpPr>
        <p:spPr>
          <a:xfrm>
            <a:off x="845574" y="2635200"/>
            <a:ext cx="6825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80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رابعاً: التقنيات المستخدمة</a:t>
            </a:r>
            <a:endParaRPr lang="en-US" sz="80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9DEA4-6411-134A-55C7-7B2786E93A3B}"/>
              </a:ext>
            </a:extLst>
          </p:cNvPr>
          <p:cNvSpPr txBox="1"/>
          <p:nvPr/>
        </p:nvSpPr>
        <p:spPr>
          <a:xfrm>
            <a:off x="9997440" y="4439920"/>
            <a:ext cx="66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sz="4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2545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BD61-F4B0-D815-DCE7-22D5A770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A0141D-19FA-58CE-91A9-13B19084B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1C320B-3981-7C7F-50E6-D9773F17BAC3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التقنيات المستخدمة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75FA32-C943-B826-4E0A-BF9DDA1CD2AA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3EA284-FAFB-62ED-180C-FF89A3F6A1DA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لغة البرمجة وإطار الواجهة الخلفية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2B6BAD-AEC0-E6FD-EE5C-7235B67006CB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16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DDC2F40E-27D8-1E63-1C54-5437D8A6DAFF}"/>
              </a:ext>
            </a:extLst>
          </p:cNvPr>
          <p:cNvSpPr/>
          <p:nvPr/>
        </p:nvSpPr>
        <p:spPr>
          <a:xfrm>
            <a:off x="749999" y="2194560"/>
            <a:ext cx="42976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9E2191-E02D-BE28-1A25-D0953A0B42FB}"/>
              </a:ext>
            </a:extLst>
          </p:cNvPr>
          <p:cNvSpPr txBox="1"/>
          <p:nvPr/>
        </p:nvSpPr>
        <p:spPr>
          <a:xfrm>
            <a:off x="1316927" y="240487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الأدوات</a:t>
            </a:r>
            <a:endParaRPr sz="24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23" name="Picture 22" descr="python.png">
            <a:extLst>
              <a:ext uri="{FF2B5EF4-FFF2-40B4-BE49-F238E27FC236}">
                <a16:creationId xmlns:a16="http://schemas.microsoft.com/office/drawing/2014/main" id="{99F53E3D-0250-7547-03EB-F4C3C72CE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76" y="3288037"/>
            <a:ext cx="1417365" cy="8229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A358612-2C9B-1E6E-5909-0BDB6E75AEB0}"/>
              </a:ext>
            </a:extLst>
          </p:cNvPr>
          <p:cNvSpPr txBox="1"/>
          <p:nvPr/>
        </p:nvSpPr>
        <p:spPr>
          <a:xfrm>
            <a:off x="1316539" y="4199980"/>
            <a:ext cx="138929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Python</a:t>
            </a:r>
          </a:p>
        </p:txBody>
      </p:sp>
      <p:pic>
        <p:nvPicPr>
          <p:cNvPr id="27" name="Picture 26" descr="fastapi.png">
            <a:extLst>
              <a:ext uri="{FF2B5EF4-FFF2-40B4-BE49-F238E27FC236}">
                <a16:creationId xmlns:a16="http://schemas.microsoft.com/office/drawing/2014/main" id="{C553289A-6B05-4FD5-7896-98A1F4008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352" y="3288037"/>
            <a:ext cx="1417365" cy="82296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67754BB-83BB-9B9E-6369-4A148A119538}"/>
              </a:ext>
            </a:extLst>
          </p:cNvPr>
          <p:cNvSpPr txBox="1"/>
          <p:nvPr/>
        </p:nvSpPr>
        <p:spPr>
          <a:xfrm>
            <a:off x="3061766" y="4199980"/>
            <a:ext cx="138929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 err="1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  <a:endParaRPr b="1" dirty="0">
              <a:solidFill>
                <a:srgbClr val="004D45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810686E7-E9C6-B507-5425-F8B4978B82ED}"/>
              </a:ext>
            </a:extLst>
          </p:cNvPr>
          <p:cNvSpPr/>
          <p:nvPr/>
        </p:nvSpPr>
        <p:spPr>
          <a:xfrm>
            <a:off x="5440680" y="2011680"/>
            <a:ext cx="52578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8A00AE-238D-1DBF-A09E-25E7247C134D}"/>
              </a:ext>
            </a:extLst>
          </p:cNvPr>
          <p:cNvSpPr txBox="1"/>
          <p:nvPr/>
        </p:nvSpPr>
        <p:spPr>
          <a:xfrm>
            <a:off x="8686799" y="2194560"/>
            <a:ext cx="178308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أين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استخدمت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9D10DC-AE52-518B-6AF4-55C051FA97F8}"/>
              </a:ext>
            </a:extLst>
          </p:cNvPr>
          <p:cNvSpPr txBox="1"/>
          <p:nvPr/>
        </p:nvSpPr>
        <p:spPr>
          <a:xfrm>
            <a:off x="5715000" y="2542032"/>
            <a:ext cx="461772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3200" b="1" dirty="0" err="1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32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3200" b="1" dirty="0" err="1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الواجهة</a:t>
            </a:r>
            <a:r>
              <a:rPr sz="32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3200" b="1" dirty="0" err="1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الخلفية</a:t>
            </a:r>
            <a:r>
              <a:rPr sz="32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3200" b="1" dirty="0" err="1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ومعالج</a:t>
            </a:r>
            <a:r>
              <a:rPr sz="32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3200" b="1" dirty="0" err="1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المهام</a:t>
            </a:r>
            <a:r>
              <a:rPr sz="32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3200" b="1" dirty="0" err="1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الخلفية</a:t>
            </a:r>
            <a:endParaRPr sz="32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427186B4-4935-FA7E-4872-E57E381B6A35}"/>
              </a:ext>
            </a:extLst>
          </p:cNvPr>
          <p:cNvSpPr/>
          <p:nvPr/>
        </p:nvSpPr>
        <p:spPr>
          <a:xfrm>
            <a:off x="5440680" y="3493008"/>
            <a:ext cx="52578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45907A-90EF-D893-19E2-DF92CD05977A}"/>
              </a:ext>
            </a:extLst>
          </p:cNvPr>
          <p:cNvSpPr txBox="1"/>
          <p:nvPr/>
        </p:nvSpPr>
        <p:spPr>
          <a:xfrm>
            <a:off x="9006840" y="3675887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الدور في المشروع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C7BC3C-035E-6B2D-4F9F-0CEAC20203CF}"/>
              </a:ext>
            </a:extLst>
          </p:cNvPr>
          <p:cNvSpPr txBox="1"/>
          <p:nvPr/>
        </p:nvSpPr>
        <p:spPr>
          <a:xfrm>
            <a:off x="5553356" y="4005072"/>
            <a:ext cx="4733644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تنفيذ واجهات برمجية ومنطق المستخدمين والقنواة والرسائل والصلاحيات</a:t>
            </a: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1B6903AE-DADC-F625-FADC-5032B5032568}"/>
              </a:ext>
            </a:extLst>
          </p:cNvPr>
          <p:cNvSpPr/>
          <p:nvPr/>
        </p:nvSpPr>
        <p:spPr>
          <a:xfrm>
            <a:off x="603504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Backend</a:t>
            </a: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B6446C25-F2DF-B199-D6CE-6C7CBCB5C8A3}"/>
              </a:ext>
            </a:extLst>
          </p:cNvPr>
          <p:cNvSpPr/>
          <p:nvPr/>
        </p:nvSpPr>
        <p:spPr>
          <a:xfrm>
            <a:off x="7452359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API</a:t>
            </a:r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6273FF46-2DD3-D748-FF32-D346F8E1C5A9}"/>
              </a:ext>
            </a:extLst>
          </p:cNvPr>
          <p:cNvSpPr/>
          <p:nvPr/>
        </p:nvSpPr>
        <p:spPr>
          <a:xfrm>
            <a:off x="886968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Worker</a:t>
            </a:r>
          </a:p>
        </p:txBody>
      </p:sp>
    </p:spTree>
    <p:extLst>
      <p:ext uri="{BB962C8B-B14F-4D97-AF65-F5344CB8AC3E}">
        <p14:creationId xmlns:p14="http://schemas.microsoft.com/office/powerpoint/2010/main" val="2662126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966D-3C56-2F18-9ECE-AC640A1D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1ACA8E-40C6-19C8-F350-68955663F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3EE1C5-320E-2380-C2A4-CAE1EB130E08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التقنيات المستخدمة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39A03F-3D3A-13D3-68CB-15D938DE2D2E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2AF7770-DE06-4266-6280-5AE170803923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قاعدة البيانات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435F5-106E-5CA3-5496-E05F4713BF16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17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9791AC20-FED0-4E22-6C39-BEBAB4E3E8A5}"/>
              </a:ext>
            </a:extLst>
          </p:cNvPr>
          <p:cNvSpPr/>
          <p:nvPr/>
        </p:nvSpPr>
        <p:spPr>
          <a:xfrm>
            <a:off x="749999" y="2194560"/>
            <a:ext cx="42976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61F2E0-60A2-2574-B896-C8D640EC9867}"/>
              </a:ext>
            </a:extLst>
          </p:cNvPr>
          <p:cNvSpPr txBox="1"/>
          <p:nvPr/>
        </p:nvSpPr>
        <p:spPr>
          <a:xfrm>
            <a:off x="1316927" y="240487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الأدوات</a:t>
            </a:r>
            <a:endParaRPr sz="24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E319D590-D43A-178C-5902-049FB87BAB22}"/>
              </a:ext>
            </a:extLst>
          </p:cNvPr>
          <p:cNvSpPr/>
          <p:nvPr/>
        </p:nvSpPr>
        <p:spPr>
          <a:xfrm>
            <a:off x="5440679" y="2011680"/>
            <a:ext cx="6001321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1CB96F-9D93-3482-AD77-33DD0B657F8B}"/>
              </a:ext>
            </a:extLst>
          </p:cNvPr>
          <p:cNvSpPr txBox="1"/>
          <p:nvPr/>
        </p:nvSpPr>
        <p:spPr>
          <a:xfrm>
            <a:off x="9395459" y="2176498"/>
            <a:ext cx="178308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أين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استخدمت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8995E1-9AB0-BB01-941B-8B086C8E7717}"/>
              </a:ext>
            </a:extLst>
          </p:cNvPr>
          <p:cNvSpPr txBox="1"/>
          <p:nvPr/>
        </p:nvSpPr>
        <p:spPr>
          <a:xfrm>
            <a:off x="5541071" y="2541110"/>
            <a:ext cx="5654041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3200" b="1" dirty="0" err="1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32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</a:t>
            </a:r>
            <a:r>
              <a:rPr lang="ar-SY" sz="32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لتخزين الدائم والتعامل غير المتزامن مع البيانات</a:t>
            </a:r>
            <a:endParaRPr sz="32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326E885C-6523-77EB-BBF6-9D4D8C312480}"/>
              </a:ext>
            </a:extLst>
          </p:cNvPr>
          <p:cNvSpPr/>
          <p:nvPr/>
        </p:nvSpPr>
        <p:spPr>
          <a:xfrm>
            <a:off x="5440680" y="3493008"/>
            <a:ext cx="600132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B2EA86-3FAD-B34F-CC19-8E04B462744F}"/>
              </a:ext>
            </a:extLst>
          </p:cNvPr>
          <p:cNvSpPr txBox="1"/>
          <p:nvPr/>
        </p:nvSpPr>
        <p:spPr>
          <a:xfrm>
            <a:off x="9806940" y="36325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الدور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المشروع</a:t>
            </a:r>
            <a:endParaRPr sz="20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BE5153-7B83-2D34-FD0C-16897800338C}"/>
              </a:ext>
            </a:extLst>
          </p:cNvPr>
          <p:cNvSpPr txBox="1"/>
          <p:nvPr/>
        </p:nvSpPr>
        <p:spPr>
          <a:xfrm>
            <a:off x="5440679" y="4005072"/>
            <a:ext cx="575443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المستخدمين والقنوات والرسائل، مع سجلات التوزيع وسجل الأحداث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2CF54703-CBA9-63E7-997F-E2D8A7C55A15}"/>
              </a:ext>
            </a:extLst>
          </p:cNvPr>
          <p:cNvSpPr/>
          <p:nvPr/>
        </p:nvSpPr>
        <p:spPr>
          <a:xfrm>
            <a:off x="603504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Storage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CADE66A2-FA91-C674-1627-28B7667D503B}"/>
              </a:ext>
            </a:extLst>
          </p:cNvPr>
          <p:cNvSpPr/>
          <p:nvPr/>
        </p:nvSpPr>
        <p:spPr>
          <a:xfrm>
            <a:off x="7452359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Models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71573892-7D68-6DFC-775C-CB5F25A34D6F}"/>
              </a:ext>
            </a:extLst>
          </p:cNvPr>
          <p:cNvSpPr/>
          <p:nvPr/>
        </p:nvSpPr>
        <p:spPr>
          <a:xfrm>
            <a:off x="886968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Async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7" name="Picture 6" descr="postgresql.png">
            <a:extLst>
              <a:ext uri="{FF2B5EF4-FFF2-40B4-BE49-F238E27FC236}">
                <a16:creationId xmlns:a16="http://schemas.microsoft.com/office/drawing/2014/main" id="{AB9FFCD6-32CD-1DFF-6624-EE7C33FBB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079" y="2948940"/>
            <a:ext cx="1399309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2C61D9-DE7A-4868-7956-E7FC643B4AE2}"/>
              </a:ext>
            </a:extLst>
          </p:cNvPr>
          <p:cNvSpPr txBox="1"/>
          <p:nvPr/>
        </p:nvSpPr>
        <p:spPr>
          <a:xfrm>
            <a:off x="2999519" y="3239239"/>
            <a:ext cx="16274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 err="1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SQLAlchemy</a:t>
            </a:r>
            <a:endParaRPr b="1" dirty="0">
              <a:solidFill>
                <a:srgbClr val="004D45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5B1DF-B3A9-9BBF-F01F-FE9B532F773C}"/>
              </a:ext>
            </a:extLst>
          </p:cNvPr>
          <p:cNvSpPr txBox="1"/>
          <p:nvPr/>
        </p:nvSpPr>
        <p:spPr>
          <a:xfrm>
            <a:off x="3188389" y="3677392"/>
            <a:ext cx="12344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AC1D63-D9F4-AA99-3638-911C2D17B95A}"/>
              </a:ext>
            </a:extLst>
          </p:cNvPr>
          <p:cNvSpPr txBox="1"/>
          <p:nvPr/>
        </p:nvSpPr>
        <p:spPr>
          <a:xfrm>
            <a:off x="2161909" y="4682180"/>
            <a:ext cx="151965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AsyncPG</a:t>
            </a:r>
            <a:endParaRPr sz="2400" b="1" dirty="0">
              <a:solidFill>
                <a:srgbClr val="004D45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231F1-E91A-139C-7803-40D4F355FA1D}"/>
              </a:ext>
            </a:extLst>
          </p:cNvPr>
          <p:cNvSpPr txBox="1"/>
          <p:nvPr/>
        </p:nvSpPr>
        <p:spPr>
          <a:xfrm>
            <a:off x="2304519" y="5084064"/>
            <a:ext cx="12344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Async Driver</a:t>
            </a:r>
          </a:p>
        </p:txBody>
      </p:sp>
    </p:spTree>
    <p:extLst>
      <p:ext uri="{BB962C8B-B14F-4D97-AF65-F5344CB8AC3E}">
        <p14:creationId xmlns:p14="http://schemas.microsoft.com/office/powerpoint/2010/main" val="98617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FFFDD-8748-41B4-E1BA-003768DC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D9E37-D185-4C36-AD43-A7A4FC516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B9B5B4-03D6-8AA3-90CC-557F119D1198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التقنيات المستخدمة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11D238-A903-1FC2-67DA-51200B4E1479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A39104-CE6F-425C-4BA4-7F371862691C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التوزيع والاتصال اللحظي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134EA-EA59-063A-C872-DABD2F248F04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18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93EE4789-D503-A6C7-513B-E4325A1735D6}"/>
              </a:ext>
            </a:extLst>
          </p:cNvPr>
          <p:cNvSpPr/>
          <p:nvPr/>
        </p:nvSpPr>
        <p:spPr>
          <a:xfrm>
            <a:off x="749999" y="2194560"/>
            <a:ext cx="42976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ED65C4-20C9-2F95-48BF-26C795BD132B}"/>
              </a:ext>
            </a:extLst>
          </p:cNvPr>
          <p:cNvSpPr txBox="1"/>
          <p:nvPr/>
        </p:nvSpPr>
        <p:spPr>
          <a:xfrm>
            <a:off x="1316927" y="240487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الأدوات</a:t>
            </a:r>
            <a:endParaRPr sz="24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A4B887AD-F8B6-7FD6-1648-10C4EAF56BAA}"/>
              </a:ext>
            </a:extLst>
          </p:cNvPr>
          <p:cNvSpPr/>
          <p:nvPr/>
        </p:nvSpPr>
        <p:spPr>
          <a:xfrm>
            <a:off x="5440679" y="2011680"/>
            <a:ext cx="6001321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130D6B-379C-EDC0-FD7E-FD9BC9809CFE}"/>
              </a:ext>
            </a:extLst>
          </p:cNvPr>
          <p:cNvSpPr txBox="1"/>
          <p:nvPr/>
        </p:nvSpPr>
        <p:spPr>
          <a:xfrm>
            <a:off x="9395459" y="2176498"/>
            <a:ext cx="178308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أين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استخدمت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32790C-571A-7E71-2D4A-75F63925E21A}"/>
              </a:ext>
            </a:extLst>
          </p:cNvPr>
          <p:cNvSpPr txBox="1"/>
          <p:nvPr/>
        </p:nvSpPr>
        <p:spPr>
          <a:xfrm>
            <a:off x="5193793" y="2541110"/>
            <a:ext cx="6001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مسار توزيع الرسائل وإيصال الأحداث للمستخدمين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31ED3E79-40C9-6BE1-A17E-F20A2ED65042}"/>
              </a:ext>
            </a:extLst>
          </p:cNvPr>
          <p:cNvSpPr/>
          <p:nvPr/>
        </p:nvSpPr>
        <p:spPr>
          <a:xfrm>
            <a:off x="5440680" y="3493008"/>
            <a:ext cx="600132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87B34E-F292-C473-EC73-9DB6AAACA91A}"/>
              </a:ext>
            </a:extLst>
          </p:cNvPr>
          <p:cNvSpPr txBox="1"/>
          <p:nvPr/>
        </p:nvSpPr>
        <p:spPr>
          <a:xfrm>
            <a:off x="9806940" y="36325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الدور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المشروع</a:t>
            </a:r>
            <a:endParaRPr sz="20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7C5AE6-2421-6D08-C6BB-50F426237A43}"/>
              </a:ext>
            </a:extLst>
          </p:cNvPr>
          <p:cNvSpPr txBox="1"/>
          <p:nvPr/>
        </p:nvSpPr>
        <p:spPr>
          <a:xfrm>
            <a:off x="5440679" y="4005072"/>
            <a:ext cx="575443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توزيع موثوق للرسائل، مع إشعارات لحظية ومزامنة عند إعادة الاتصال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3219123B-0DDA-9609-C0C9-87BADA9EADFE}"/>
              </a:ext>
            </a:extLst>
          </p:cNvPr>
          <p:cNvSpPr/>
          <p:nvPr/>
        </p:nvSpPr>
        <p:spPr>
          <a:xfrm>
            <a:off x="603504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Messaging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7C253F6F-78AB-0893-FFA4-768109D5F6B5}"/>
              </a:ext>
            </a:extLst>
          </p:cNvPr>
          <p:cNvSpPr/>
          <p:nvPr/>
        </p:nvSpPr>
        <p:spPr>
          <a:xfrm>
            <a:off x="7452359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Realtime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554CD93A-40A3-BC7B-4BD6-DD44E7432C71}"/>
              </a:ext>
            </a:extLst>
          </p:cNvPr>
          <p:cNvSpPr/>
          <p:nvPr/>
        </p:nvSpPr>
        <p:spPr>
          <a:xfrm>
            <a:off x="886968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sync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8" name="Picture 7" descr="rabbitmq.png">
            <a:extLst>
              <a:ext uri="{FF2B5EF4-FFF2-40B4-BE49-F238E27FC236}">
                <a16:creationId xmlns:a16="http://schemas.microsoft.com/office/drawing/2014/main" id="{92260715-27D8-0CDF-AB6B-E71DABA35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9" y="2606040"/>
            <a:ext cx="1384068" cy="8229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019AC1-2756-CFC0-65A6-FAC5FE86D02B}"/>
              </a:ext>
            </a:extLst>
          </p:cNvPr>
          <p:cNvSpPr txBox="1"/>
          <p:nvPr/>
        </p:nvSpPr>
        <p:spPr>
          <a:xfrm>
            <a:off x="1109472" y="3489960"/>
            <a:ext cx="1325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2F2C8-CF05-D91B-A5CC-D0E1E0CDBE64}"/>
              </a:ext>
            </a:extLst>
          </p:cNvPr>
          <p:cNvSpPr txBox="1"/>
          <p:nvPr/>
        </p:nvSpPr>
        <p:spPr>
          <a:xfrm>
            <a:off x="3011507" y="2770632"/>
            <a:ext cx="158792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 err="1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aio</a:t>
            </a:r>
            <a:r>
              <a:rPr sz="28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-pika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3D6AA-8B73-45AB-0923-BB13D6B84076}"/>
              </a:ext>
            </a:extLst>
          </p:cNvPr>
          <p:cNvSpPr txBox="1"/>
          <p:nvPr/>
        </p:nvSpPr>
        <p:spPr>
          <a:xfrm>
            <a:off x="3136392" y="3294888"/>
            <a:ext cx="13258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AMQP</a:t>
            </a:r>
          </a:p>
        </p:txBody>
      </p:sp>
      <p:pic>
        <p:nvPicPr>
          <p:cNvPr id="24" name="Picture 23" descr="redis.png">
            <a:extLst>
              <a:ext uri="{FF2B5EF4-FFF2-40B4-BE49-F238E27FC236}">
                <a16:creationId xmlns:a16="http://schemas.microsoft.com/office/drawing/2014/main" id="{52608BBB-2930-4280-C556-C2BDE74A3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79" y="3886200"/>
            <a:ext cx="1384068" cy="82296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6BE0B73-51DB-B269-88D3-4AD6FD12F670}"/>
              </a:ext>
            </a:extLst>
          </p:cNvPr>
          <p:cNvSpPr txBox="1"/>
          <p:nvPr/>
        </p:nvSpPr>
        <p:spPr>
          <a:xfrm>
            <a:off x="3108684" y="4081271"/>
            <a:ext cx="13840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WebSocket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08BA3B-2138-1D73-38F5-4EADA001C02A}"/>
              </a:ext>
            </a:extLst>
          </p:cNvPr>
          <p:cNvSpPr txBox="1"/>
          <p:nvPr/>
        </p:nvSpPr>
        <p:spPr>
          <a:xfrm>
            <a:off x="3136392" y="4453128"/>
            <a:ext cx="13258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Realtime</a:t>
            </a:r>
          </a:p>
        </p:txBody>
      </p:sp>
    </p:spTree>
    <p:extLst>
      <p:ext uri="{BB962C8B-B14F-4D97-AF65-F5344CB8AC3E}">
        <p14:creationId xmlns:p14="http://schemas.microsoft.com/office/powerpoint/2010/main" val="2899539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A0F2-B7DC-1493-8B76-DC05C6A8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6648B5-61BB-1242-937C-1E34D653E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330CA7-A07C-3693-1B05-4BAF073A00DC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التقنيات المستخدمة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B4AAC3-72A3-E8CE-B723-1DEF3DFC4CF3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55C38CF-972F-97FE-FBCC-B91D216EED49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الواجهة الأمامية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C2ACEE-0EEC-2106-9DD6-9C88A3536A51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19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CA3FF057-816B-D5C1-F90D-A3EE9CE253A4}"/>
              </a:ext>
            </a:extLst>
          </p:cNvPr>
          <p:cNvSpPr/>
          <p:nvPr/>
        </p:nvSpPr>
        <p:spPr>
          <a:xfrm>
            <a:off x="749999" y="2194560"/>
            <a:ext cx="42976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0BAA4-88FA-589A-6D03-6125A734715E}"/>
              </a:ext>
            </a:extLst>
          </p:cNvPr>
          <p:cNvSpPr txBox="1"/>
          <p:nvPr/>
        </p:nvSpPr>
        <p:spPr>
          <a:xfrm>
            <a:off x="1316927" y="240487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الأدوات</a:t>
            </a:r>
            <a:endParaRPr sz="24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1C4563AB-C031-FDF3-9906-BC9445DD6336}"/>
              </a:ext>
            </a:extLst>
          </p:cNvPr>
          <p:cNvSpPr/>
          <p:nvPr/>
        </p:nvSpPr>
        <p:spPr>
          <a:xfrm>
            <a:off x="5440679" y="2011680"/>
            <a:ext cx="6001321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F8584B-04A6-7FDA-A165-D89EBD02C1B7}"/>
              </a:ext>
            </a:extLst>
          </p:cNvPr>
          <p:cNvSpPr txBox="1"/>
          <p:nvPr/>
        </p:nvSpPr>
        <p:spPr>
          <a:xfrm>
            <a:off x="9395459" y="2176498"/>
            <a:ext cx="178308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أين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استخدمت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D07474-1988-C297-A46B-09A39ACAEC28}"/>
              </a:ext>
            </a:extLst>
          </p:cNvPr>
          <p:cNvSpPr txBox="1"/>
          <p:nvPr/>
        </p:nvSpPr>
        <p:spPr>
          <a:xfrm>
            <a:off x="5193793" y="2541110"/>
            <a:ext cx="6001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تنفيذ واجهة المستخدم داخل المتصفح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B9982410-5FCC-46BE-015A-26BD5AB5E1E6}"/>
              </a:ext>
            </a:extLst>
          </p:cNvPr>
          <p:cNvSpPr/>
          <p:nvPr/>
        </p:nvSpPr>
        <p:spPr>
          <a:xfrm>
            <a:off x="5440680" y="3493008"/>
            <a:ext cx="600132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03DD79-AB47-D19D-C455-BB6FC4F35003}"/>
              </a:ext>
            </a:extLst>
          </p:cNvPr>
          <p:cNvSpPr txBox="1"/>
          <p:nvPr/>
        </p:nvSpPr>
        <p:spPr>
          <a:xfrm>
            <a:off x="9806940" y="36325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الدور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المشروع</a:t>
            </a:r>
            <a:endParaRPr sz="20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E46147-5CD1-2D2D-F32D-1AE6C7A5E495}"/>
              </a:ext>
            </a:extLst>
          </p:cNvPr>
          <p:cNvSpPr txBox="1"/>
          <p:nvPr/>
        </p:nvSpPr>
        <p:spPr>
          <a:xfrm>
            <a:off x="5440679" y="4005072"/>
            <a:ext cx="575443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عرض القنوات والرسائل، وإرسال الطلبات، واستقبال التحديثات اللحظية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40CC0507-2F1E-0D1E-BE96-61746E00C4BC}"/>
              </a:ext>
            </a:extLst>
          </p:cNvPr>
          <p:cNvSpPr/>
          <p:nvPr/>
        </p:nvSpPr>
        <p:spPr>
          <a:xfrm>
            <a:off x="603504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94D10CF0-3D69-2FC1-49D0-7AF0EC3E4877}"/>
              </a:ext>
            </a:extLst>
          </p:cNvPr>
          <p:cNvSpPr/>
          <p:nvPr/>
        </p:nvSpPr>
        <p:spPr>
          <a:xfrm>
            <a:off x="7452359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UI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9147D6D7-76FC-12AE-4458-0119DC3826E8}"/>
              </a:ext>
            </a:extLst>
          </p:cNvPr>
          <p:cNvSpPr/>
          <p:nvPr/>
        </p:nvSpPr>
        <p:spPr>
          <a:xfrm>
            <a:off x="886968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Typing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B1629-BDE5-F508-35EE-B0F497726A2F}"/>
              </a:ext>
            </a:extLst>
          </p:cNvPr>
          <p:cNvSpPr txBox="1"/>
          <p:nvPr/>
        </p:nvSpPr>
        <p:spPr>
          <a:xfrm>
            <a:off x="1933860" y="4565279"/>
            <a:ext cx="175583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Next.js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5968A-DD63-EDA2-BFAD-C4DDBBA3748B}"/>
              </a:ext>
            </a:extLst>
          </p:cNvPr>
          <p:cNvSpPr txBox="1"/>
          <p:nvPr/>
        </p:nvSpPr>
        <p:spPr>
          <a:xfrm>
            <a:off x="2185607" y="5079569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Framework</a:t>
            </a:r>
          </a:p>
        </p:txBody>
      </p:sp>
      <p:pic>
        <p:nvPicPr>
          <p:cNvPr id="13" name="Picture 12" descr="react.png">
            <a:extLst>
              <a:ext uri="{FF2B5EF4-FFF2-40B4-BE49-F238E27FC236}">
                <a16:creationId xmlns:a16="http://schemas.microsoft.com/office/drawing/2014/main" id="{B1A23AA3-CB4E-D81A-503A-D4ACC7858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712" y="2971997"/>
            <a:ext cx="1539240" cy="1005840"/>
          </a:xfrm>
          <a:prstGeom prst="rect">
            <a:avLst/>
          </a:prstGeom>
        </p:spPr>
      </p:pic>
      <p:pic>
        <p:nvPicPr>
          <p:cNvPr id="21" name="Picture 20" descr="typescript.png">
            <a:extLst>
              <a:ext uri="{FF2B5EF4-FFF2-40B4-BE49-F238E27FC236}">
                <a16:creationId xmlns:a16="http://schemas.microsoft.com/office/drawing/2014/main" id="{4131B241-F31C-36D8-04A4-F96103BA1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665" y="2944368"/>
            <a:ext cx="1539240" cy="100584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72355B-9724-E4BB-D343-350F8FCB0E4E}"/>
              </a:ext>
            </a:extLst>
          </p:cNvPr>
          <p:cNvSpPr txBox="1"/>
          <p:nvPr/>
        </p:nvSpPr>
        <p:spPr>
          <a:xfrm>
            <a:off x="3167395" y="4056460"/>
            <a:ext cx="12344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803122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C2CC-7FB6-8932-BF5B-BE4BE4D0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F17F01-3A09-6630-5C9C-1C725541D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C7BBC6-6461-2641-37C4-5AC21BAF80D8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التقنيات المستخدمة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0EAEE1-9B14-EC1C-5286-4B5FC6F458BF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FDB150-F8D7-F3C9-C051-FAFB9C879737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إدارة الإصدارات والحاويات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23EB7-1409-0C0C-A412-B295AC40A855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20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82031D39-6B2E-E2E4-E897-1E9FB8669BCD}"/>
              </a:ext>
            </a:extLst>
          </p:cNvPr>
          <p:cNvSpPr/>
          <p:nvPr/>
        </p:nvSpPr>
        <p:spPr>
          <a:xfrm>
            <a:off x="749999" y="2194560"/>
            <a:ext cx="42976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3C37C1-F8FF-2B35-4EC0-4A5886F15BF3}"/>
              </a:ext>
            </a:extLst>
          </p:cNvPr>
          <p:cNvSpPr txBox="1"/>
          <p:nvPr/>
        </p:nvSpPr>
        <p:spPr>
          <a:xfrm>
            <a:off x="1316927" y="240487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الأدوات</a:t>
            </a:r>
            <a:endParaRPr sz="24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10012C81-A2A3-D7C0-034C-E12494A4AFA9}"/>
              </a:ext>
            </a:extLst>
          </p:cNvPr>
          <p:cNvSpPr/>
          <p:nvPr/>
        </p:nvSpPr>
        <p:spPr>
          <a:xfrm>
            <a:off x="5440679" y="2011680"/>
            <a:ext cx="6001321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6418AD-3663-E80B-F865-D9A107C507E9}"/>
              </a:ext>
            </a:extLst>
          </p:cNvPr>
          <p:cNvSpPr txBox="1"/>
          <p:nvPr/>
        </p:nvSpPr>
        <p:spPr>
          <a:xfrm>
            <a:off x="9395459" y="2176498"/>
            <a:ext cx="178308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أين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استخدمت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C79D1F-1F4B-0F3E-BBCF-7BAF69433ACE}"/>
              </a:ext>
            </a:extLst>
          </p:cNvPr>
          <p:cNvSpPr txBox="1"/>
          <p:nvPr/>
        </p:nvSpPr>
        <p:spPr>
          <a:xfrm>
            <a:off x="5193793" y="2541110"/>
            <a:ext cx="6001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تشغيل الخدمات وتتبع تطوير الشيفرة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ADD2C6F2-0E54-094D-22C0-DDC5CC86A623}"/>
              </a:ext>
            </a:extLst>
          </p:cNvPr>
          <p:cNvSpPr/>
          <p:nvPr/>
        </p:nvSpPr>
        <p:spPr>
          <a:xfrm>
            <a:off x="5440680" y="3493008"/>
            <a:ext cx="600132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BD5547-4C87-1FC6-0559-F4445B78CEA4}"/>
              </a:ext>
            </a:extLst>
          </p:cNvPr>
          <p:cNvSpPr txBox="1"/>
          <p:nvPr/>
        </p:nvSpPr>
        <p:spPr>
          <a:xfrm>
            <a:off x="9806940" y="36325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الدور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المشروع</a:t>
            </a:r>
            <a:endParaRPr sz="20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ED9980-1A80-8DE4-52E2-09C283E6A14B}"/>
              </a:ext>
            </a:extLst>
          </p:cNvPr>
          <p:cNvSpPr txBox="1"/>
          <p:nvPr/>
        </p:nvSpPr>
        <p:spPr>
          <a:xfrm>
            <a:off x="5440679" y="4005072"/>
            <a:ext cx="575443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تشغيل الخدمات كحاويات، وتتبع التغييرات وحفظ الإصدارات وإدارة الشيفرة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706C5138-1F5E-489C-DC0F-5043BF5BDD3B}"/>
              </a:ext>
            </a:extLst>
          </p:cNvPr>
          <p:cNvSpPr/>
          <p:nvPr/>
        </p:nvSpPr>
        <p:spPr>
          <a:xfrm>
            <a:off x="603504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Run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465B70ED-FBF3-FC74-E1FA-313C1A79D0DB}"/>
              </a:ext>
            </a:extLst>
          </p:cNvPr>
          <p:cNvSpPr/>
          <p:nvPr/>
        </p:nvSpPr>
        <p:spPr>
          <a:xfrm>
            <a:off x="7452359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Version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0BD0F43E-69FD-7361-D802-7B0BA79BF2C8}"/>
              </a:ext>
            </a:extLst>
          </p:cNvPr>
          <p:cNvSpPr/>
          <p:nvPr/>
        </p:nvSpPr>
        <p:spPr>
          <a:xfrm>
            <a:off x="886968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Repo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8" name="Picture 7" descr="docker.png">
            <a:extLst>
              <a:ext uri="{FF2B5EF4-FFF2-40B4-BE49-F238E27FC236}">
                <a16:creationId xmlns:a16="http://schemas.microsoft.com/office/drawing/2014/main" id="{D2A8797D-9105-2072-EF41-869DDFBFE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697" y="4503158"/>
            <a:ext cx="1230283" cy="731520"/>
          </a:xfrm>
          <a:prstGeom prst="rect">
            <a:avLst/>
          </a:prstGeom>
        </p:spPr>
      </p:pic>
      <p:pic>
        <p:nvPicPr>
          <p:cNvPr id="23" name="Picture 22" descr="git.png">
            <a:extLst>
              <a:ext uri="{FF2B5EF4-FFF2-40B4-BE49-F238E27FC236}">
                <a16:creationId xmlns:a16="http://schemas.microsoft.com/office/drawing/2014/main" id="{FF630D2B-89B4-3808-96F1-8C9FCA37D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616" y="2889984"/>
            <a:ext cx="1230283" cy="7315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D9F3D05-107F-4AFE-A83A-F0A02CE1C036}"/>
              </a:ext>
            </a:extLst>
          </p:cNvPr>
          <p:cNvSpPr txBox="1"/>
          <p:nvPr/>
        </p:nvSpPr>
        <p:spPr>
          <a:xfrm>
            <a:off x="1177817" y="3780044"/>
            <a:ext cx="1325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Git</a:t>
            </a:r>
          </a:p>
        </p:txBody>
      </p:sp>
      <p:pic>
        <p:nvPicPr>
          <p:cNvPr id="28" name="Picture 27" descr="github.png">
            <a:extLst>
              <a:ext uri="{FF2B5EF4-FFF2-40B4-BE49-F238E27FC236}">
                <a16:creationId xmlns:a16="http://schemas.microsoft.com/office/drawing/2014/main" id="{8E9FD1D2-02E4-4246-8B38-6BEC202AB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176" y="2889984"/>
            <a:ext cx="1230283" cy="73152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A1452DD-E2D0-1225-3F73-924B1497DFF9}"/>
              </a:ext>
            </a:extLst>
          </p:cNvPr>
          <p:cNvSpPr txBox="1"/>
          <p:nvPr/>
        </p:nvSpPr>
        <p:spPr>
          <a:xfrm>
            <a:off x="3372377" y="3770233"/>
            <a:ext cx="13258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258769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6C7C9-38A9-7216-82C1-8830DBFD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FBDFC-0977-1348-4FB5-C6DDFE84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3F0F12-5342-88FA-F039-B302A45A529A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التقنيات المستخدمة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784E9E-C561-90B6-5D57-E636E653E48D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C1AD084-DE90-CC02-9F83-E0B17B2001A4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الأمان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148D9A-ADC3-66D1-B3C7-5E684C5F48FC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21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91CACC60-AEE0-077E-6F2A-1A56D911CDD9}"/>
              </a:ext>
            </a:extLst>
          </p:cNvPr>
          <p:cNvSpPr/>
          <p:nvPr/>
        </p:nvSpPr>
        <p:spPr>
          <a:xfrm>
            <a:off x="749999" y="2194560"/>
            <a:ext cx="42976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E6F276-8C60-032C-E51E-E40C0457ED35}"/>
              </a:ext>
            </a:extLst>
          </p:cNvPr>
          <p:cNvSpPr txBox="1"/>
          <p:nvPr/>
        </p:nvSpPr>
        <p:spPr>
          <a:xfrm>
            <a:off x="1316927" y="240487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الأدوات</a:t>
            </a:r>
            <a:endParaRPr sz="24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46819740-8FCB-14EC-A859-8168B1C98136}"/>
              </a:ext>
            </a:extLst>
          </p:cNvPr>
          <p:cNvSpPr/>
          <p:nvPr/>
        </p:nvSpPr>
        <p:spPr>
          <a:xfrm>
            <a:off x="5440679" y="2011680"/>
            <a:ext cx="6001321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081E65-005B-7501-0FF5-58F2C8120E1D}"/>
              </a:ext>
            </a:extLst>
          </p:cNvPr>
          <p:cNvSpPr txBox="1"/>
          <p:nvPr/>
        </p:nvSpPr>
        <p:spPr>
          <a:xfrm>
            <a:off x="9395459" y="2176498"/>
            <a:ext cx="178308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أين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استخدمت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38390B-0545-FAB4-6435-A311C6F7FEFA}"/>
              </a:ext>
            </a:extLst>
          </p:cNvPr>
          <p:cNvSpPr txBox="1"/>
          <p:nvPr/>
        </p:nvSpPr>
        <p:spPr>
          <a:xfrm>
            <a:off x="5193793" y="2541110"/>
            <a:ext cx="6001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حماية الحسابات والبيانات والتحقق من صحة النظام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FCCED739-C9C3-3A6E-1852-B9BB638B3F70}"/>
              </a:ext>
            </a:extLst>
          </p:cNvPr>
          <p:cNvSpPr/>
          <p:nvPr/>
        </p:nvSpPr>
        <p:spPr>
          <a:xfrm>
            <a:off x="5440680" y="3493008"/>
            <a:ext cx="600132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469F2A-DA8A-277A-0B26-01C998727FD5}"/>
              </a:ext>
            </a:extLst>
          </p:cNvPr>
          <p:cNvSpPr txBox="1"/>
          <p:nvPr/>
        </p:nvSpPr>
        <p:spPr>
          <a:xfrm>
            <a:off x="9806940" y="36325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الدور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</a:t>
            </a:r>
            <a:r>
              <a:rPr sz="2000" b="1" dirty="0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000" b="1" dirty="0" err="1">
                <a:solidFill>
                  <a:srgbClr val="BD974D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المشروع</a:t>
            </a:r>
            <a:endParaRPr sz="2000" b="1" dirty="0">
              <a:solidFill>
                <a:srgbClr val="BD974D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23152A-0C7B-F314-C870-676830270BD9}"/>
              </a:ext>
            </a:extLst>
          </p:cNvPr>
          <p:cNvSpPr txBox="1"/>
          <p:nvPr/>
        </p:nvSpPr>
        <p:spPr>
          <a:xfrm>
            <a:off x="5440679" y="4005072"/>
            <a:ext cx="575443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ar-SY" sz="2800" b="1" dirty="0">
                <a:solidFill>
                  <a:srgbClr val="1B2D2B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مصادقة وتشفير وسلامة سجل الأحداث، مع اختبارات للواجهة الخلفية والأمامية</a:t>
            </a:r>
            <a:endParaRPr sz="2800" b="1" dirty="0">
              <a:solidFill>
                <a:srgbClr val="1B2D2B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Rounded Rectangle 18">
            <a:extLst>
              <a:ext uri="{FF2B5EF4-FFF2-40B4-BE49-F238E27FC236}">
                <a16:creationId xmlns:a16="http://schemas.microsoft.com/office/drawing/2014/main" id="{8C955267-FA7F-5C90-1765-39FB916F9130}"/>
              </a:ext>
            </a:extLst>
          </p:cNvPr>
          <p:cNvSpPr/>
          <p:nvPr/>
        </p:nvSpPr>
        <p:spPr>
          <a:xfrm>
            <a:off x="603504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Auth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8402078F-5B08-BAF5-83A7-899FF89FB8EA}"/>
              </a:ext>
            </a:extLst>
          </p:cNvPr>
          <p:cNvSpPr/>
          <p:nvPr/>
        </p:nvSpPr>
        <p:spPr>
          <a:xfrm>
            <a:off x="7452359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Crypto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015C9783-338D-2628-4597-BC6AE02D131D}"/>
              </a:ext>
            </a:extLst>
          </p:cNvPr>
          <p:cNvSpPr/>
          <p:nvPr/>
        </p:nvSpPr>
        <p:spPr>
          <a:xfrm>
            <a:off x="8869680" y="5120640"/>
            <a:ext cx="1234440" cy="329184"/>
          </a:xfrm>
          <a:prstGeom prst="roundRect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Tests</a:t>
            </a:r>
            <a:endParaRPr sz="2000" b="1" dirty="0">
              <a:solidFill>
                <a:srgbClr val="FFFFFF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6C7E9-E561-083F-5A86-1311F16AF0D8}"/>
              </a:ext>
            </a:extLst>
          </p:cNvPr>
          <p:cNvSpPr txBox="1"/>
          <p:nvPr/>
        </p:nvSpPr>
        <p:spPr>
          <a:xfrm>
            <a:off x="980723" y="3030713"/>
            <a:ext cx="11247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JWT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A355C-02AC-2FB5-346A-F3D44CA6CB52}"/>
              </a:ext>
            </a:extLst>
          </p:cNvPr>
          <p:cNvSpPr txBox="1"/>
          <p:nvPr/>
        </p:nvSpPr>
        <p:spPr>
          <a:xfrm>
            <a:off x="980723" y="3433049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Tokens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3F775-CA04-A461-5AF3-D6A3FB18CBE1}"/>
              </a:ext>
            </a:extLst>
          </p:cNvPr>
          <p:cNvSpPr txBox="1"/>
          <p:nvPr/>
        </p:nvSpPr>
        <p:spPr>
          <a:xfrm>
            <a:off x="2260883" y="3030713"/>
            <a:ext cx="11247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Argon2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A429A-9EC8-13D5-00F7-E23DD3138006}"/>
              </a:ext>
            </a:extLst>
          </p:cNvPr>
          <p:cNvSpPr txBox="1"/>
          <p:nvPr/>
        </p:nvSpPr>
        <p:spPr>
          <a:xfrm>
            <a:off x="2260883" y="3433049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Passwords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E29A3-E54D-85AF-B076-4FAA5C01511A}"/>
              </a:ext>
            </a:extLst>
          </p:cNvPr>
          <p:cNvSpPr txBox="1"/>
          <p:nvPr/>
        </p:nvSpPr>
        <p:spPr>
          <a:xfrm>
            <a:off x="3541043" y="3030713"/>
            <a:ext cx="11247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50753D-36D3-B26A-A369-BD7D7F60AB88}"/>
              </a:ext>
            </a:extLst>
          </p:cNvPr>
          <p:cNvSpPr txBox="1"/>
          <p:nvPr/>
        </p:nvSpPr>
        <p:spPr>
          <a:xfrm>
            <a:off x="3541043" y="3433049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Files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3B3192-05A4-194F-2124-B37C23CA5069}"/>
              </a:ext>
            </a:extLst>
          </p:cNvPr>
          <p:cNvSpPr txBox="1"/>
          <p:nvPr/>
        </p:nvSpPr>
        <p:spPr>
          <a:xfrm>
            <a:off x="842598" y="4329161"/>
            <a:ext cx="135543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SHA-256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717292-9D89-C87A-283C-7072ABA6FCAE}"/>
              </a:ext>
            </a:extLst>
          </p:cNvPr>
          <p:cNvSpPr txBox="1"/>
          <p:nvPr/>
        </p:nvSpPr>
        <p:spPr>
          <a:xfrm>
            <a:off x="980723" y="4731497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Audit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C92FA5-34AF-5675-EE65-CB3B5B9633D0}"/>
              </a:ext>
            </a:extLst>
          </p:cNvPr>
          <p:cNvSpPr txBox="1"/>
          <p:nvPr/>
        </p:nvSpPr>
        <p:spPr>
          <a:xfrm>
            <a:off x="2260883" y="4329161"/>
            <a:ext cx="11247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pytest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B023DE-8EEC-CA24-7460-8CD8FF4BFB15}"/>
              </a:ext>
            </a:extLst>
          </p:cNvPr>
          <p:cNvSpPr txBox="1"/>
          <p:nvPr/>
        </p:nvSpPr>
        <p:spPr>
          <a:xfrm>
            <a:off x="2260883" y="4731497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Tests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1F2371-D1A4-8BFF-5AD8-268265A27911}"/>
              </a:ext>
            </a:extLst>
          </p:cNvPr>
          <p:cNvSpPr txBox="1"/>
          <p:nvPr/>
        </p:nvSpPr>
        <p:spPr>
          <a:xfrm>
            <a:off x="3541043" y="4329161"/>
            <a:ext cx="11247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004D45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Build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03EB16-6E6A-6971-31CC-CD1954487065}"/>
              </a:ext>
            </a:extLst>
          </p:cNvPr>
          <p:cNvSpPr txBox="1"/>
          <p:nvPr/>
        </p:nvSpPr>
        <p:spPr>
          <a:xfrm>
            <a:off x="3541043" y="4731497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4B525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Checks</a:t>
            </a:r>
          </a:p>
        </p:txBody>
      </p:sp>
    </p:spTree>
    <p:extLst>
      <p:ext uri="{BB962C8B-B14F-4D97-AF65-F5344CB8AC3E}">
        <p14:creationId xmlns:p14="http://schemas.microsoft.com/office/powerpoint/2010/main" val="81145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F6DD-6099-09C7-4E99-D090E280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41EAA7-A313-1F47-1E14-3A12C41F3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1F7E30-8417-6E56-6CD0-CCBAD6D9DDE7}"/>
              </a:ext>
            </a:extLst>
          </p:cNvPr>
          <p:cNvSpPr txBox="1"/>
          <p:nvPr/>
        </p:nvSpPr>
        <p:spPr>
          <a:xfrm>
            <a:off x="845574" y="2635200"/>
            <a:ext cx="6825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80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خامساً: آلية عمل النظام</a:t>
            </a:r>
            <a:endParaRPr lang="en-US" sz="80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5B8BF-77E7-1D15-95C6-9B2E5DDA68D6}"/>
              </a:ext>
            </a:extLst>
          </p:cNvPr>
          <p:cNvSpPr txBox="1"/>
          <p:nvPr/>
        </p:nvSpPr>
        <p:spPr>
          <a:xfrm>
            <a:off x="9997440" y="4439920"/>
            <a:ext cx="66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5</a:t>
            </a:r>
            <a:endParaRPr lang="en-US" sz="4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6176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06D4-B1D3-2A44-EE6F-7594ABBE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66E68-0F07-7989-79E8-492780F42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EB16A5-DF65-2803-8BD9-F6DB1B325824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آلية عمل النظام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387B13-9706-90FD-EEE5-4E7626E2CB59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493E547-DF38-6401-6FC5-180FEE7D1A0A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 نشر الرسالة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E2A9D-6B63-4285-6226-91832B7E3DE3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23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6" name="!!flow_arrow_1">
            <a:extLst>
              <a:ext uri="{FF2B5EF4-FFF2-40B4-BE49-F238E27FC236}">
                <a16:creationId xmlns:a16="http://schemas.microsoft.com/office/drawing/2014/main" id="{EF702A46-C514-3638-CB05-7499488BCFBC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201050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!!flow_arrow_2">
            <a:extLst>
              <a:ext uri="{FF2B5EF4-FFF2-40B4-BE49-F238E27FC236}">
                <a16:creationId xmlns:a16="http://schemas.microsoft.com/office/drawing/2014/main" id="{571FC8BD-97EB-4EA3-76C1-B1309CC4AF5D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647276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!!flow_arrow_3">
            <a:extLst>
              <a:ext uri="{FF2B5EF4-FFF2-40B4-BE49-F238E27FC236}">
                <a16:creationId xmlns:a16="http://schemas.microsoft.com/office/drawing/2014/main" id="{AF6CC07D-2ADA-8B0D-14A8-8CD70CDC7947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5284052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!!flow_arrow_4">
            <a:extLst>
              <a:ext uri="{FF2B5EF4-FFF2-40B4-BE49-F238E27FC236}">
                <a16:creationId xmlns:a16="http://schemas.microsoft.com/office/drawing/2014/main" id="{0B8F233F-D159-A7D6-D2EB-E3F627F4F358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6920828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!!flow_arrow_5">
            <a:extLst>
              <a:ext uri="{FF2B5EF4-FFF2-40B4-BE49-F238E27FC236}">
                <a16:creationId xmlns:a16="http://schemas.microsoft.com/office/drawing/2014/main" id="{2284A26C-3009-AFD9-6AA1-1CE5B64E622A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557604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!!flow_arrow_6">
            <a:extLst>
              <a:ext uri="{FF2B5EF4-FFF2-40B4-BE49-F238E27FC236}">
                <a16:creationId xmlns:a16="http://schemas.microsoft.com/office/drawing/2014/main" id="{978230E5-86BF-04F0-2C65-579F4440ABA2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19438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flow_node_1">
            <a:extLst>
              <a:ext uri="{FF2B5EF4-FFF2-40B4-BE49-F238E27FC236}">
                <a16:creationId xmlns:a16="http://schemas.microsoft.com/office/drawing/2014/main" id="{2A82EF6E-99D5-CAA8-C87B-21CEBC882170}"/>
              </a:ext>
            </a:extLst>
          </p:cNvPr>
          <p:cNvSpPr/>
          <p:nvPr/>
        </p:nvSpPr>
        <p:spPr>
          <a:xfrm>
            <a:off x="620612" y="4276872"/>
            <a:ext cx="1389888" cy="914400"/>
          </a:xfrm>
          <a:prstGeom prst="roundRect">
            <a:avLst/>
          </a:prstGeom>
          <a:solidFill>
            <a:srgbClr val="385F58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المرسل</a:t>
            </a:r>
          </a:p>
          <a:p>
            <a:pPr algn="ctr" rtl="1"/>
            <a:r>
              <a:rPr lang="ar-SY" sz="16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</a:p>
        </p:txBody>
      </p:sp>
      <p:sp>
        <p:nvSpPr>
          <p:cNvPr id="63" name="!!flow_node_2">
            <a:extLst>
              <a:ext uri="{FF2B5EF4-FFF2-40B4-BE49-F238E27FC236}">
                <a16:creationId xmlns:a16="http://schemas.microsoft.com/office/drawing/2014/main" id="{9DD3E775-6C78-3763-D2B6-75454B249264}"/>
              </a:ext>
            </a:extLst>
          </p:cNvPr>
          <p:cNvSpPr/>
          <p:nvPr/>
        </p:nvSpPr>
        <p:spPr>
          <a:xfrm>
            <a:off x="2257388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</a:p>
        </p:txBody>
      </p:sp>
      <p:sp>
        <p:nvSpPr>
          <p:cNvPr id="64" name="!!flow_node_3">
            <a:extLst>
              <a:ext uri="{FF2B5EF4-FFF2-40B4-BE49-F238E27FC236}">
                <a16:creationId xmlns:a16="http://schemas.microsoft.com/office/drawing/2014/main" id="{EF62720E-76C5-91FE-820D-87D3B78EA9AE}"/>
              </a:ext>
            </a:extLst>
          </p:cNvPr>
          <p:cNvSpPr/>
          <p:nvPr/>
        </p:nvSpPr>
        <p:spPr>
          <a:xfrm>
            <a:off x="3894164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PostgreSQL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دائم</a:t>
            </a:r>
          </a:p>
        </p:txBody>
      </p:sp>
      <p:sp>
        <p:nvSpPr>
          <p:cNvPr id="65" name="!!flow_node_4">
            <a:extLst>
              <a:ext uri="{FF2B5EF4-FFF2-40B4-BE49-F238E27FC236}">
                <a16:creationId xmlns:a16="http://schemas.microsoft.com/office/drawing/2014/main" id="{9CF85BA5-0485-64D8-C2D0-1F41423D40D4}"/>
              </a:ext>
            </a:extLst>
          </p:cNvPr>
          <p:cNvSpPr/>
          <p:nvPr/>
        </p:nvSpPr>
        <p:spPr>
          <a:xfrm>
            <a:off x="5530940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Outbox + Worker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تجهيز التوزيع</a:t>
            </a:r>
          </a:p>
        </p:txBody>
      </p:sp>
      <p:sp>
        <p:nvSpPr>
          <p:cNvPr id="66" name="!!flow_node_5">
            <a:extLst>
              <a:ext uri="{FF2B5EF4-FFF2-40B4-BE49-F238E27FC236}">
                <a16:creationId xmlns:a16="http://schemas.microsoft.com/office/drawing/2014/main" id="{8BB4BF4E-FF81-D51E-DC80-9AE806D42731}"/>
              </a:ext>
            </a:extLst>
          </p:cNvPr>
          <p:cNvSpPr/>
          <p:nvPr/>
        </p:nvSpPr>
        <p:spPr>
          <a:xfrm>
            <a:off x="7167716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توجيه الرسالة</a:t>
            </a:r>
          </a:p>
        </p:txBody>
      </p:sp>
      <p:sp>
        <p:nvSpPr>
          <p:cNvPr id="67" name="!!flow_node_6">
            <a:extLst>
              <a:ext uri="{FF2B5EF4-FFF2-40B4-BE49-F238E27FC236}">
                <a16:creationId xmlns:a16="http://schemas.microsoft.com/office/drawing/2014/main" id="{FAAC8FFC-049F-B54F-E4AF-C96844486BC2}"/>
              </a:ext>
            </a:extLst>
          </p:cNvPr>
          <p:cNvSpPr/>
          <p:nvPr/>
        </p:nvSpPr>
        <p:spPr>
          <a:xfrm>
            <a:off x="8804492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Redis + WebSocket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إيصال لحظي</a:t>
            </a:r>
          </a:p>
        </p:txBody>
      </p:sp>
      <p:sp>
        <p:nvSpPr>
          <p:cNvPr id="68" name="!!flow_node_7">
            <a:extLst>
              <a:ext uri="{FF2B5EF4-FFF2-40B4-BE49-F238E27FC236}">
                <a16:creationId xmlns:a16="http://schemas.microsoft.com/office/drawing/2014/main" id="{FF8A2A95-705F-F455-84A1-978D37AB2EE4}"/>
              </a:ext>
            </a:extLst>
          </p:cNvPr>
          <p:cNvSpPr/>
          <p:nvPr/>
        </p:nvSpPr>
        <p:spPr>
          <a:xfrm>
            <a:off x="10441268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المستلم</a:t>
            </a:r>
          </a:p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Subscriber UI</a:t>
            </a:r>
          </a:p>
        </p:txBody>
      </p:sp>
      <p:pic>
        <p:nvPicPr>
          <p:cNvPr id="69" name="Picture 68" descr="a_clean_flat_modern_vector_style_icon_illustration_1_batch_1.png">
            <a:extLst>
              <a:ext uri="{FF2B5EF4-FFF2-40B4-BE49-F238E27FC236}">
                <a16:creationId xmlns:a16="http://schemas.microsoft.com/office/drawing/2014/main" id="{B75FBCA2-A42B-1C51-95D1-9456837F5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913981"/>
            <a:ext cx="1828800" cy="1828800"/>
          </a:xfrm>
          <a:prstGeom prst="rect">
            <a:avLst/>
          </a:prstGeom>
        </p:spPr>
      </p:pic>
      <p:pic>
        <p:nvPicPr>
          <p:cNvPr id="70" name="Picture 69" descr="a_clean_vector_style_flat_gradiented_icon_illustra_2_batch_2.png">
            <a:extLst>
              <a:ext uri="{FF2B5EF4-FFF2-40B4-BE49-F238E27FC236}">
                <a16:creationId xmlns:a16="http://schemas.microsoft.com/office/drawing/2014/main" id="{68A034AE-C3E7-FF47-D511-1114E7D9A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4631" y="1896568"/>
            <a:ext cx="1828800" cy="1828800"/>
          </a:xfrm>
          <a:prstGeom prst="rect">
            <a:avLst/>
          </a:prstGeom>
        </p:spPr>
      </p:pic>
      <p:pic>
        <p:nvPicPr>
          <p:cNvPr id="71" name="Picture 70" descr="a_clean_graphic_icon_illustration_on_a_transparent_3_batch_3.png">
            <a:extLst>
              <a:ext uri="{FF2B5EF4-FFF2-40B4-BE49-F238E27FC236}">
                <a16:creationId xmlns:a16="http://schemas.microsoft.com/office/drawing/2014/main" id="{51665117-9C75-CD8A-BA68-E004753AF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0127" y="1878388"/>
            <a:ext cx="1828800" cy="1828800"/>
          </a:xfrm>
          <a:prstGeom prst="rect">
            <a:avLst/>
          </a:prstGeom>
        </p:spPr>
      </p:pic>
      <p:pic>
        <p:nvPicPr>
          <p:cNvPr id="72" name="Picture 71" descr="a_clean_vector_style_icon_on_a_transparent_backgro_4_batch_4.png">
            <a:extLst>
              <a:ext uri="{FF2B5EF4-FFF2-40B4-BE49-F238E27FC236}">
                <a16:creationId xmlns:a16="http://schemas.microsoft.com/office/drawing/2014/main" id="{8FF13213-1EBE-7D95-5408-C3E458D8D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4813" y="1913981"/>
            <a:ext cx="1828800" cy="1828800"/>
          </a:xfrm>
          <a:prstGeom prst="rect">
            <a:avLst/>
          </a:prstGeom>
        </p:spPr>
      </p:pic>
      <p:pic>
        <p:nvPicPr>
          <p:cNvPr id="73" name="Picture 72" descr="graphic_icon_illustration_on_a_transparent_checker_5_batch_5.png">
            <a:extLst>
              <a:ext uri="{FF2B5EF4-FFF2-40B4-BE49-F238E27FC236}">
                <a16:creationId xmlns:a16="http://schemas.microsoft.com/office/drawing/2014/main" id="{B5603F96-1F3B-77BB-FB44-5902B3CDF1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4480" y="1854545"/>
            <a:ext cx="1828800" cy="1828800"/>
          </a:xfrm>
          <a:prstGeom prst="rect">
            <a:avLst/>
          </a:prstGeom>
        </p:spPr>
      </p:pic>
      <p:pic>
        <p:nvPicPr>
          <p:cNvPr id="74" name="Picture 73" descr="vector_illustration_icon_like_graphic_on_a_trans_6_batch_6.png">
            <a:extLst>
              <a:ext uri="{FF2B5EF4-FFF2-40B4-BE49-F238E27FC236}">
                <a16:creationId xmlns:a16="http://schemas.microsoft.com/office/drawing/2014/main" id="{805D1AAC-711C-C258-6058-095AB8671E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94861" y="1854545"/>
            <a:ext cx="1828800" cy="1828800"/>
          </a:xfrm>
          <a:prstGeom prst="rect">
            <a:avLst/>
          </a:prstGeom>
        </p:spPr>
      </p:pic>
      <p:pic>
        <p:nvPicPr>
          <p:cNvPr id="75" name="Picture 74" descr="a_clean_flat_vector_illustration_on_a_transparent_7_batch_7.png">
            <a:extLst>
              <a:ext uri="{FF2B5EF4-FFF2-40B4-BE49-F238E27FC236}">
                <a16:creationId xmlns:a16="http://schemas.microsoft.com/office/drawing/2014/main" id="{80B919F1-9EF2-9071-A53E-A469D0F9E6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39308" y="1913981"/>
            <a:ext cx="1828800" cy="1828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CF94FF8-D6D9-0F61-A8C2-1E3151C0E200}"/>
              </a:ext>
            </a:extLst>
          </p:cNvPr>
          <p:cNvSpPr txBox="1"/>
          <p:nvPr/>
        </p:nvSpPr>
        <p:spPr>
          <a:xfrm>
            <a:off x="943499" y="3429000"/>
            <a:ext cx="744114" cy="76944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C9A46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✉</a:t>
            </a:r>
          </a:p>
        </p:txBody>
      </p:sp>
    </p:spTree>
    <p:extLst>
      <p:ext uri="{BB962C8B-B14F-4D97-AF65-F5344CB8AC3E}">
        <p14:creationId xmlns:p14="http://schemas.microsoft.com/office/powerpoint/2010/main" val="424765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ED38-AA92-F4F1-429E-38D79745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87682-4227-6A8C-F8A0-E69D5B440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4583F0-FD02-3143-04FA-9829DAB0E4EA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آلية عمل النظام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4B451B-769E-2AA9-3154-76C1E1B1AA27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AF83146-B4D9-AAEF-7A2B-AB8443F7800D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 نشر الرسالة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815825-8EFB-251B-35F3-EAEAE2EEA030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24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6" name="!!flow_arrow_1">
            <a:extLst>
              <a:ext uri="{FF2B5EF4-FFF2-40B4-BE49-F238E27FC236}">
                <a16:creationId xmlns:a16="http://schemas.microsoft.com/office/drawing/2014/main" id="{A1735D70-9CA1-F644-B08D-88B87C9EF43C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201050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!!flow_arrow_2">
            <a:extLst>
              <a:ext uri="{FF2B5EF4-FFF2-40B4-BE49-F238E27FC236}">
                <a16:creationId xmlns:a16="http://schemas.microsoft.com/office/drawing/2014/main" id="{AB33FBD5-596D-96FC-D053-DA3A58908CC0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647276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!!flow_arrow_3">
            <a:extLst>
              <a:ext uri="{FF2B5EF4-FFF2-40B4-BE49-F238E27FC236}">
                <a16:creationId xmlns:a16="http://schemas.microsoft.com/office/drawing/2014/main" id="{8902B95C-D66A-4D51-8339-6B6E3A07683C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5284052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!!flow_arrow_4">
            <a:extLst>
              <a:ext uri="{FF2B5EF4-FFF2-40B4-BE49-F238E27FC236}">
                <a16:creationId xmlns:a16="http://schemas.microsoft.com/office/drawing/2014/main" id="{FBBA19F7-2088-95F4-824B-42343C74611E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6920828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!!flow_arrow_5">
            <a:extLst>
              <a:ext uri="{FF2B5EF4-FFF2-40B4-BE49-F238E27FC236}">
                <a16:creationId xmlns:a16="http://schemas.microsoft.com/office/drawing/2014/main" id="{5EBA869E-2426-9DCF-C8CC-89A19F3D6729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557604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!!flow_arrow_6">
            <a:extLst>
              <a:ext uri="{FF2B5EF4-FFF2-40B4-BE49-F238E27FC236}">
                <a16:creationId xmlns:a16="http://schemas.microsoft.com/office/drawing/2014/main" id="{6A666A0E-E80B-9033-7520-1AB1A6B80936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19438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flow_node_1">
            <a:extLst>
              <a:ext uri="{FF2B5EF4-FFF2-40B4-BE49-F238E27FC236}">
                <a16:creationId xmlns:a16="http://schemas.microsoft.com/office/drawing/2014/main" id="{0D1D8AF1-079F-8DCB-41B7-4F9662D4EC25}"/>
              </a:ext>
            </a:extLst>
          </p:cNvPr>
          <p:cNvSpPr/>
          <p:nvPr/>
        </p:nvSpPr>
        <p:spPr>
          <a:xfrm>
            <a:off x="620612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المرسل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</a:p>
        </p:txBody>
      </p:sp>
      <p:sp>
        <p:nvSpPr>
          <p:cNvPr id="63" name="!!flow_node_2">
            <a:extLst>
              <a:ext uri="{FF2B5EF4-FFF2-40B4-BE49-F238E27FC236}">
                <a16:creationId xmlns:a16="http://schemas.microsoft.com/office/drawing/2014/main" id="{5F1032E5-6BDB-013B-3E0F-608CA7694E76}"/>
              </a:ext>
            </a:extLst>
          </p:cNvPr>
          <p:cNvSpPr/>
          <p:nvPr/>
        </p:nvSpPr>
        <p:spPr>
          <a:xfrm>
            <a:off x="2257388" y="4276872"/>
            <a:ext cx="1389888" cy="914400"/>
          </a:xfrm>
          <a:prstGeom prst="roundRect">
            <a:avLst/>
          </a:prstGeom>
          <a:solidFill>
            <a:srgbClr val="385F58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</a:p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</a:p>
        </p:txBody>
      </p:sp>
      <p:sp>
        <p:nvSpPr>
          <p:cNvPr id="64" name="!!flow_node_3">
            <a:extLst>
              <a:ext uri="{FF2B5EF4-FFF2-40B4-BE49-F238E27FC236}">
                <a16:creationId xmlns:a16="http://schemas.microsoft.com/office/drawing/2014/main" id="{91F37053-7417-068B-A77B-85BD564472FA}"/>
              </a:ext>
            </a:extLst>
          </p:cNvPr>
          <p:cNvSpPr/>
          <p:nvPr/>
        </p:nvSpPr>
        <p:spPr>
          <a:xfrm>
            <a:off x="3894164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PostgreSQL</a:t>
            </a:r>
          </a:p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دائم</a:t>
            </a:r>
          </a:p>
        </p:txBody>
      </p:sp>
      <p:sp>
        <p:nvSpPr>
          <p:cNvPr id="65" name="!!flow_node_4">
            <a:extLst>
              <a:ext uri="{FF2B5EF4-FFF2-40B4-BE49-F238E27FC236}">
                <a16:creationId xmlns:a16="http://schemas.microsoft.com/office/drawing/2014/main" id="{FB23FDDF-FC7E-F7AE-A7AF-32F846EFA0C6}"/>
              </a:ext>
            </a:extLst>
          </p:cNvPr>
          <p:cNvSpPr/>
          <p:nvPr/>
        </p:nvSpPr>
        <p:spPr>
          <a:xfrm>
            <a:off x="5530940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Outbox + Worker</a:t>
            </a:r>
          </a:p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تجهيز التوزيع</a:t>
            </a:r>
          </a:p>
        </p:txBody>
      </p:sp>
      <p:sp>
        <p:nvSpPr>
          <p:cNvPr id="66" name="!!flow_node_5">
            <a:extLst>
              <a:ext uri="{FF2B5EF4-FFF2-40B4-BE49-F238E27FC236}">
                <a16:creationId xmlns:a16="http://schemas.microsoft.com/office/drawing/2014/main" id="{5B174122-E058-3B6E-FCAA-907E1C611BBD}"/>
              </a:ext>
            </a:extLst>
          </p:cNvPr>
          <p:cNvSpPr/>
          <p:nvPr/>
        </p:nvSpPr>
        <p:spPr>
          <a:xfrm>
            <a:off x="7167716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توجيه الرسالة</a:t>
            </a:r>
          </a:p>
        </p:txBody>
      </p:sp>
      <p:sp>
        <p:nvSpPr>
          <p:cNvPr id="67" name="!!flow_node_6">
            <a:extLst>
              <a:ext uri="{FF2B5EF4-FFF2-40B4-BE49-F238E27FC236}">
                <a16:creationId xmlns:a16="http://schemas.microsoft.com/office/drawing/2014/main" id="{1DF269E1-11BA-CFF6-D542-E64C9427265D}"/>
              </a:ext>
            </a:extLst>
          </p:cNvPr>
          <p:cNvSpPr/>
          <p:nvPr/>
        </p:nvSpPr>
        <p:spPr>
          <a:xfrm>
            <a:off x="8804492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Redis + WebSocket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إيصال لحظي</a:t>
            </a:r>
          </a:p>
        </p:txBody>
      </p:sp>
      <p:sp>
        <p:nvSpPr>
          <p:cNvPr id="68" name="!!flow_node_7">
            <a:extLst>
              <a:ext uri="{FF2B5EF4-FFF2-40B4-BE49-F238E27FC236}">
                <a16:creationId xmlns:a16="http://schemas.microsoft.com/office/drawing/2014/main" id="{655CFB1E-F1A3-ED75-916F-F62ADB0B38C6}"/>
              </a:ext>
            </a:extLst>
          </p:cNvPr>
          <p:cNvSpPr/>
          <p:nvPr/>
        </p:nvSpPr>
        <p:spPr>
          <a:xfrm>
            <a:off x="10441268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المستلم</a:t>
            </a:r>
          </a:p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Subscriber UI</a:t>
            </a:r>
          </a:p>
        </p:txBody>
      </p:sp>
      <p:pic>
        <p:nvPicPr>
          <p:cNvPr id="69" name="Picture 68" descr="a_clean_flat_modern_vector_style_icon_illustration_1_batch_1.png">
            <a:extLst>
              <a:ext uri="{FF2B5EF4-FFF2-40B4-BE49-F238E27FC236}">
                <a16:creationId xmlns:a16="http://schemas.microsoft.com/office/drawing/2014/main" id="{4ED33E55-5220-9806-5325-AFD91B04F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99398" y="1913981"/>
            <a:ext cx="1828800" cy="1828800"/>
          </a:xfrm>
          <a:prstGeom prst="rect">
            <a:avLst/>
          </a:prstGeom>
        </p:spPr>
      </p:pic>
      <p:pic>
        <p:nvPicPr>
          <p:cNvPr id="70" name="Picture 69" descr="a_clean_vector_style_flat_gradiented_icon_illustra_2_batch_2.png">
            <a:extLst>
              <a:ext uri="{FF2B5EF4-FFF2-40B4-BE49-F238E27FC236}">
                <a16:creationId xmlns:a16="http://schemas.microsoft.com/office/drawing/2014/main" id="{6F664DFB-8729-53FF-0D78-0D06F8611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260" y="1896568"/>
            <a:ext cx="1828800" cy="1828800"/>
          </a:xfrm>
          <a:prstGeom prst="rect">
            <a:avLst/>
          </a:prstGeom>
        </p:spPr>
      </p:pic>
      <p:pic>
        <p:nvPicPr>
          <p:cNvPr id="71" name="Picture 70" descr="a_clean_graphic_icon_illustration_on_a_transparent_3_batch_3.png">
            <a:extLst>
              <a:ext uri="{FF2B5EF4-FFF2-40B4-BE49-F238E27FC236}">
                <a16:creationId xmlns:a16="http://schemas.microsoft.com/office/drawing/2014/main" id="{6A2CD686-8BAF-AFC4-D7A8-54F96195A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0127" y="1878388"/>
            <a:ext cx="1828800" cy="1828800"/>
          </a:xfrm>
          <a:prstGeom prst="rect">
            <a:avLst/>
          </a:prstGeom>
        </p:spPr>
      </p:pic>
      <p:pic>
        <p:nvPicPr>
          <p:cNvPr id="72" name="Picture 71" descr="a_clean_vector_style_icon_on_a_transparent_backgro_4_batch_4.png">
            <a:extLst>
              <a:ext uri="{FF2B5EF4-FFF2-40B4-BE49-F238E27FC236}">
                <a16:creationId xmlns:a16="http://schemas.microsoft.com/office/drawing/2014/main" id="{57183DDB-36AA-631F-08C1-5550377DA7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4813" y="1913981"/>
            <a:ext cx="1828800" cy="1828800"/>
          </a:xfrm>
          <a:prstGeom prst="rect">
            <a:avLst/>
          </a:prstGeom>
        </p:spPr>
      </p:pic>
      <p:pic>
        <p:nvPicPr>
          <p:cNvPr id="73" name="Picture 72" descr="graphic_icon_illustration_on_a_transparent_checker_5_batch_5.png">
            <a:extLst>
              <a:ext uri="{FF2B5EF4-FFF2-40B4-BE49-F238E27FC236}">
                <a16:creationId xmlns:a16="http://schemas.microsoft.com/office/drawing/2014/main" id="{FA88EB79-D153-7738-66A7-AF5044D31C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4480" y="1854545"/>
            <a:ext cx="1828800" cy="1828800"/>
          </a:xfrm>
          <a:prstGeom prst="rect">
            <a:avLst/>
          </a:prstGeom>
        </p:spPr>
      </p:pic>
      <p:pic>
        <p:nvPicPr>
          <p:cNvPr id="74" name="Picture 73" descr="vector_illustration_icon_like_graphic_on_a_trans_6_batch_6.png">
            <a:extLst>
              <a:ext uri="{FF2B5EF4-FFF2-40B4-BE49-F238E27FC236}">
                <a16:creationId xmlns:a16="http://schemas.microsoft.com/office/drawing/2014/main" id="{FDC888F8-ACE3-B03D-1E3F-84FF1023C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94861" y="1854545"/>
            <a:ext cx="1828800" cy="1828800"/>
          </a:xfrm>
          <a:prstGeom prst="rect">
            <a:avLst/>
          </a:prstGeom>
        </p:spPr>
      </p:pic>
      <p:pic>
        <p:nvPicPr>
          <p:cNvPr id="75" name="Picture 74" descr="a_clean_flat_vector_illustration_on_a_transparent_7_batch_7.png">
            <a:extLst>
              <a:ext uri="{FF2B5EF4-FFF2-40B4-BE49-F238E27FC236}">
                <a16:creationId xmlns:a16="http://schemas.microsoft.com/office/drawing/2014/main" id="{23083365-7A95-119F-2A7C-97E747DD5C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39308" y="1913981"/>
            <a:ext cx="1828800" cy="1828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08CDE59-BBB2-59A4-A77F-D3E097166D21}"/>
              </a:ext>
            </a:extLst>
          </p:cNvPr>
          <p:cNvSpPr txBox="1"/>
          <p:nvPr/>
        </p:nvSpPr>
        <p:spPr>
          <a:xfrm>
            <a:off x="2612279" y="3429000"/>
            <a:ext cx="744114" cy="76944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C9A46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✉</a:t>
            </a:r>
          </a:p>
        </p:txBody>
      </p:sp>
    </p:spTree>
    <p:extLst>
      <p:ext uri="{BB962C8B-B14F-4D97-AF65-F5344CB8AC3E}">
        <p14:creationId xmlns:p14="http://schemas.microsoft.com/office/powerpoint/2010/main" val="1299725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CAF8-7172-2119-C44B-4B8B3A5D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CB8D79-3848-6514-9E5B-3A11604C1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5BB6A2-2B3A-4030-BF03-240128C7CA11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آلية عمل النظام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DA35B8-DD66-4160-AA5C-C813E8020EA8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E9B83A-0683-B219-3909-199F01BEA713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 نشر الرسالة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ED5BD5-E4D4-706E-F1EF-96B9F2CF164F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25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6" name="!!flow_arrow_1">
            <a:extLst>
              <a:ext uri="{FF2B5EF4-FFF2-40B4-BE49-F238E27FC236}">
                <a16:creationId xmlns:a16="http://schemas.microsoft.com/office/drawing/2014/main" id="{3FD685D8-4F01-5A04-E7BE-35F0598339F0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201050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!!flow_arrow_2">
            <a:extLst>
              <a:ext uri="{FF2B5EF4-FFF2-40B4-BE49-F238E27FC236}">
                <a16:creationId xmlns:a16="http://schemas.microsoft.com/office/drawing/2014/main" id="{25C76CFB-A552-74C1-9E35-D1247EB06E56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647276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!!flow_arrow_3">
            <a:extLst>
              <a:ext uri="{FF2B5EF4-FFF2-40B4-BE49-F238E27FC236}">
                <a16:creationId xmlns:a16="http://schemas.microsoft.com/office/drawing/2014/main" id="{DBD8E667-5108-D812-823B-4FD16C5B1366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5284052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!!flow_arrow_4">
            <a:extLst>
              <a:ext uri="{FF2B5EF4-FFF2-40B4-BE49-F238E27FC236}">
                <a16:creationId xmlns:a16="http://schemas.microsoft.com/office/drawing/2014/main" id="{8AD25B6D-842A-EF60-5566-7FB595615975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6920828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!!flow_arrow_5">
            <a:extLst>
              <a:ext uri="{FF2B5EF4-FFF2-40B4-BE49-F238E27FC236}">
                <a16:creationId xmlns:a16="http://schemas.microsoft.com/office/drawing/2014/main" id="{ECECAFF8-53A6-46DD-9224-3BB7660AEC86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557604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!!flow_arrow_6">
            <a:extLst>
              <a:ext uri="{FF2B5EF4-FFF2-40B4-BE49-F238E27FC236}">
                <a16:creationId xmlns:a16="http://schemas.microsoft.com/office/drawing/2014/main" id="{2E9CF9CB-B1BB-334E-30C3-DCCDFAAE68EB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19438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flow_node_1">
            <a:extLst>
              <a:ext uri="{FF2B5EF4-FFF2-40B4-BE49-F238E27FC236}">
                <a16:creationId xmlns:a16="http://schemas.microsoft.com/office/drawing/2014/main" id="{2E6F0BB4-2479-4658-2168-7931C5E53EE5}"/>
              </a:ext>
            </a:extLst>
          </p:cNvPr>
          <p:cNvSpPr/>
          <p:nvPr/>
        </p:nvSpPr>
        <p:spPr>
          <a:xfrm>
            <a:off x="620612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المرسل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</a:p>
        </p:txBody>
      </p:sp>
      <p:sp>
        <p:nvSpPr>
          <p:cNvPr id="63" name="!!flow_node_2">
            <a:extLst>
              <a:ext uri="{FF2B5EF4-FFF2-40B4-BE49-F238E27FC236}">
                <a16:creationId xmlns:a16="http://schemas.microsoft.com/office/drawing/2014/main" id="{968964E5-7521-E9DD-B84E-A87889E23FBD}"/>
              </a:ext>
            </a:extLst>
          </p:cNvPr>
          <p:cNvSpPr/>
          <p:nvPr/>
        </p:nvSpPr>
        <p:spPr>
          <a:xfrm>
            <a:off x="2257388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</a:p>
        </p:txBody>
      </p:sp>
      <p:sp>
        <p:nvSpPr>
          <p:cNvPr id="64" name="!!flow_node_3">
            <a:extLst>
              <a:ext uri="{FF2B5EF4-FFF2-40B4-BE49-F238E27FC236}">
                <a16:creationId xmlns:a16="http://schemas.microsoft.com/office/drawing/2014/main" id="{5CD5637E-F7A2-574F-5085-56ABC600394D}"/>
              </a:ext>
            </a:extLst>
          </p:cNvPr>
          <p:cNvSpPr/>
          <p:nvPr/>
        </p:nvSpPr>
        <p:spPr>
          <a:xfrm>
            <a:off x="3894164" y="4276872"/>
            <a:ext cx="1389888" cy="914400"/>
          </a:xfrm>
          <a:prstGeom prst="roundRect">
            <a:avLst/>
          </a:prstGeom>
          <a:solidFill>
            <a:srgbClr val="385F58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PostgreSQL</a:t>
            </a:r>
          </a:p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دائم</a:t>
            </a:r>
          </a:p>
        </p:txBody>
      </p:sp>
      <p:sp>
        <p:nvSpPr>
          <p:cNvPr id="65" name="!!flow_node_4">
            <a:extLst>
              <a:ext uri="{FF2B5EF4-FFF2-40B4-BE49-F238E27FC236}">
                <a16:creationId xmlns:a16="http://schemas.microsoft.com/office/drawing/2014/main" id="{B9C589C6-3EFE-3C41-608D-D485EB9FC82C}"/>
              </a:ext>
            </a:extLst>
          </p:cNvPr>
          <p:cNvSpPr/>
          <p:nvPr/>
        </p:nvSpPr>
        <p:spPr>
          <a:xfrm>
            <a:off x="5530940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Outbox + Worker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تجهيز التوزيع</a:t>
            </a:r>
          </a:p>
        </p:txBody>
      </p:sp>
      <p:sp>
        <p:nvSpPr>
          <p:cNvPr id="66" name="!!flow_node_5">
            <a:extLst>
              <a:ext uri="{FF2B5EF4-FFF2-40B4-BE49-F238E27FC236}">
                <a16:creationId xmlns:a16="http://schemas.microsoft.com/office/drawing/2014/main" id="{4158D630-A760-53C8-0144-2E20C74AE37F}"/>
              </a:ext>
            </a:extLst>
          </p:cNvPr>
          <p:cNvSpPr/>
          <p:nvPr/>
        </p:nvSpPr>
        <p:spPr>
          <a:xfrm>
            <a:off x="7167716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  <a:p>
            <a:pPr algn="ctr" rtl="1"/>
            <a:r>
              <a:rPr lang="ar-SY" sz="1600" b="1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توجيه الرسالة</a:t>
            </a:r>
          </a:p>
        </p:txBody>
      </p:sp>
      <p:sp>
        <p:nvSpPr>
          <p:cNvPr id="67" name="!!flow_node_6">
            <a:extLst>
              <a:ext uri="{FF2B5EF4-FFF2-40B4-BE49-F238E27FC236}">
                <a16:creationId xmlns:a16="http://schemas.microsoft.com/office/drawing/2014/main" id="{F8C2E138-DD35-83DA-0E00-2D6FA087552E}"/>
              </a:ext>
            </a:extLst>
          </p:cNvPr>
          <p:cNvSpPr/>
          <p:nvPr/>
        </p:nvSpPr>
        <p:spPr>
          <a:xfrm>
            <a:off x="8804492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Redis + WebSocket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إيصال لحظي</a:t>
            </a:r>
          </a:p>
        </p:txBody>
      </p:sp>
      <p:sp>
        <p:nvSpPr>
          <p:cNvPr id="68" name="!!flow_node_7">
            <a:extLst>
              <a:ext uri="{FF2B5EF4-FFF2-40B4-BE49-F238E27FC236}">
                <a16:creationId xmlns:a16="http://schemas.microsoft.com/office/drawing/2014/main" id="{B3B0920E-1956-CB4B-D337-9D5023341161}"/>
              </a:ext>
            </a:extLst>
          </p:cNvPr>
          <p:cNvSpPr/>
          <p:nvPr/>
        </p:nvSpPr>
        <p:spPr>
          <a:xfrm>
            <a:off x="10441268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المستلم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Subscriber UI</a:t>
            </a:r>
          </a:p>
        </p:txBody>
      </p:sp>
      <p:pic>
        <p:nvPicPr>
          <p:cNvPr id="69" name="Picture 68" descr="a_clean_flat_modern_vector_style_icon_illustration_1_batch_1.png">
            <a:extLst>
              <a:ext uri="{FF2B5EF4-FFF2-40B4-BE49-F238E27FC236}">
                <a16:creationId xmlns:a16="http://schemas.microsoft.com/office/drawing/2014/main" id="{11A006D0-5E79-FA79-A7C9-8973C2F1C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456996" y="1913981"/>
            <a:ext cx="1828800" cy="1828800"/>
          </a:xfrm>
          <a:prstGeom prst="rect">
            <a:avLst/>
          </a:prstGeom>
        </p:spPr>
      </p:pic>
      <p:pic>
        <p:nvPicPr>
          <p:cNvPr id="70" name="Picture 69" descr="a_clean_vector_style_flat_gradiented_icon_illustra_2_batch_2.png">
            <a:extLst>
              <a:ext uri="{FF2B5EF4-FFF2-40B4-BE49-F238E27FC236}">
                <a16:creationId xmlns:a16="http://schemas.microsoft.com/office/drawing/2014/main" id="{965A6711-1603-4AA8-850A-517883A49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125500" y="1896568"/>
            <a:ext cx="1828800" cy="1828800"/>
          </a:xfrm>
          <a:prstGeom prst="rect">
            <a:avLst/>
          </a:prstGeom>
        </p:spPr>
      </p:pic>
      <p:pic>
        <p:nvPicPr>
          <p:cNvPr id="71" name="Picture 70" descr="a_clean_graphic_icon_illustration_on_a_transparent_3_batch_3.png">
            <a:extLst>
              <a:ext uri="{FF2B5EF4-FFF2-40B4-BE49-F238E27FC236}">
                <a16:creationId xmlns:a16="http://schemas.microsoft.com/office/drawing/2014/main" id="{2756517F-D098-9E6B-DE90-DD2A703B7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211" y="1878388"/>
            <a:ext cx="1828800" cy="1828800"/>
          </a:xfrm>
          <a:prstGeom prst="rect">
            <a:avLst/>
          </a:prstGeom>
        </p:spPr>
      </p:pic>
      <p:pic>
        <p:nvPicPr>
          <p:cNvPr id="72" name="Picture 71" descr="a_clean_vector_style_icon_on_a_transparent_backgro_4_batch_4.png">
            <a:extLst>
              <a:ext uri="{FF2B5EF4-FFF2-40B4-BE49-F238E27FC236}">
                <a16:creationId xmlns:a16="http://schemas.microsoft.com/office/drawing/2014/main" id="{DFE57512-B5A0-D9D0-852A-1FC6ED27F9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4813" y="1913981"/>
            <a:ext cx="1828800" cy="1828800"/>
          </a:xfrm>
          <a:prstGeom prst="rect">
            <a:avLst/>
          </a:prstGeom>
        </p:spPr>
      </p:pic>
      <p:pic>
        <p:nvPicPr>
          <p:cNvPr id="73" name="Picture 72" descr="graphic_icon_illustration_on_a_transparent_checker_5_batch_5.png">
            <a:extLst>
              <a:ext uri="{FF2B5EF4-FFF2-40B4-BE49-F238E27FC236}">
                <a16:creationId xmlns:a16="http://schemas.microsoft.com/office/drawing/2014/main" id="{59B3DDBF-79A4-A8EE-519A-DD5FDE9B16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4480" y="1854545"/>
            <a:ext cx="1828800" cy="1828800"/>
          </a:xfrm>
          <a:prstGeom prst="rect">
            <a:avLst/>
          </a:prstGeom>
        </p:spPr>
      </p:pic>
      <p:pic>
        <p:nvPicPr>
          <p:cNvPr id="74" name="Picture 73" descr="vector_illustration_icon_like_graphic_on_a_trans_6_batch_6.png">
            <a:extLst>
              <a:ext uri="{FF2B5EF4-FFF2-40B4-BE49-F238E27FC236}">
                <a16:creationId xmlns:a16="http://schemas.microsoft.com/office/drawing/2014/main" id="{2D51B845-9AD1-882A-7C4B-087AB176F1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94861" y="1854545"/>
            <a:ext cx="1828800" cy="1828800"/>
          </a:xfrm>
          <a:prstGeom prst="rect">
            <a:avLst/>
          </a:prstGeom>
        </p:spPr>
      </p:pic>
      <p:pic>
        <p:nvPicPr>
          <p:cNvPr id="75" name="Picture 74" descr="a_clean_flat_vector_illustration_on_a_transparent_7_batch_7.png">
            <a:extLst>
              <a:ext uri="{FF2B5EF4-FFF2-40B4-BE49-F238E27FC236}">
                <a16:creationId xmlns:a16="http://schemas.microsoft.com/office/drawing/2014/main" id="{823FEA20-E570-F16E-A52E-2DB46CB6F4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39308" y="1913981"/>
            <a:ext cx="1828800" cy="1828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7115FF7-51EE-87B7-4F5F-53F7B65E6BC4}"/>
              </a:ext>
            </a:extLst>
          </p:cNvPr>
          <p:cNvSpPr txBox="1"/>
          <p:nvPr/>
        </p:nvSpPr>
        <p:spPr>
          <a:xfrm>
            <a:off x="4209587" y="3429000"/>
            <a:ext cx="744114" cy="76944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C9A46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✉</a:t>
            </a:r>
          </a:p>
        </p:txBody>
      </p:sp>
    </p:spTree>
    <p:extLst>
      <p:ext uri="{BB962C8B-B14F-4D97-AF65-F5344CB8AC3E}">
        <p14:creationId xmlns:p14="http://schemas.microsoft.com/office/powerpoint/2010/main" val="816683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FE91-41CE-48C6-593E-426B81DD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826F56-A459-99F1-9A05-8037BFF85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D7D3A4-E2F1-83CF-96BC-5AFFE3530E7E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آلية عمل النظام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69BC6C-AEAC-5A54-F247-4CBA2C500911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82E03C-D6D5-8E28-3388-A18E52164702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 نشر الرسالة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EFA6CD-7035-E912-5FBD-0B72CED7ECE2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26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6" name="!!flow_arrow_1">
            <a:extLst>
              <a:ext uri="{FF2B5EF4-FFF2-40B4-BE49-F238E27FC236}">
                <a16:creationId xmlns:a16="http://schemas.microsoft.com/office/drawing/2014/main" id="{C39B6C7D-709A-907A-8004-37E0039D3B73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201050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!!flow_arrow_2">
            <a:extLst>
              <a:ext uri="{FF2B5EF4-FFF2-40B4-BE49-F238E27FC236}">
                <a16:creationId xmlns:a16="http://schemas.microsoft.com/office/drawing/2014/main" id="{4F8754E0-F01B-20CB-348C-E738210AF837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647276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!!flow_arrow_3">
            <a:extLst>
              <a:ext uri="{FF2B5EF4-FFF2-40B4-BE49-F238E27FC236}">
                <a16:creationId xmlns:a16="http://schemas.microsoft.com/office/drawing/2014/main" id="{7C9522CB-5D62-AD0C-B300-DBC24864BC39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5284052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!!flow_arrow_4">
            <a:extLst>
              <a:ext uri="{FF2B5EF4-FFF2-40B4-BE49-F238E27FC236}">
                <a16:creationId xmlns:a16="http://schemas.microsoft.com/office/drawing/2014/main" id="{1A0548E1-4703-AE14-94AF-7830504A36D0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6920828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!!flow_arrow_5">
            <a:extLst>
              <a:ext uri="{FF2B5EF4-FFF2-40B4-BE49-F238E27FC236}">
                <a16:creationId xmlns:a16="http://schemas.microsoft.com/office/drawing/2014/main" id="{94D53764-430B-5414-18F5-6428C297B38C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557604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!!flow_arrow_6">
            <a:extLst>
              <a:ext uri="{FF2B5EF4-FFF2-40B4-BE49-F238E27FC236}">
                <a16:creationId xmlns:a16="http://schemas.microsoft.com/office/drawing/2014/main" id="{3DF58CF8-DA28-490D-5253-F4B22B37CBCF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19438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flow_node_1">
            <a:extLst>
              <a:ext uri="{FF2B5EF4-FFF2-40B4-BE49-F238E27FC236}">
                <a16:creationId xmlns:a16="http://schemas.microsoft.com/office/drawing/2014/main" id="{18ACDD15-3204-0D18-BEAC-0CC66A449EE2}"/>
              </a:ext>
            </a:extLst>
          </p:cNvPr>
          <p:cNvSpPr/>
          <p:nvPr/>
        </p:nvSpPr>
        <p:spPr>
          <a:xfrm>
            <a:off x="620612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المرسل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</a:p>
        </p:txBody>
      </p:sp>
      <p:sp>
        <p:nvSpPr>
          <p:cNvPr id="63" name="!!flow_node_2">
            <a:extLst>
              <a:ext uri="{FF2B5EF4-FFF2-40B4-BE49-F238E27FC236}">
                <a16:creationId xmlns:a16="http://schemas.microsoft.com/office/drawing/2014/main" id="{BBD3E829-A843-F829-F858-50D63E850235}"/>
              </a:ext>
            </a:extLst>
          </p:cNvPr>
          <p:cNvSpPr/>
          <p:nvPr/>
        </p:nvSpPr>
        <p:spPr>
          <a:xfrm>
            <a:off x="2257388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</a:p>
        </p:txBody>
      </p:sp>
      <p:sp>
        <p:nvSpPr>
          <p:cNvPr id="64" name="!!flow_node_3">
            <a:extLst>
              <a:ext uri="{FF2B5EF4-FFF2-40B4-BE49-F238E27FC236}">
                <a16:creationId xmlns:a16="http://schemas.microsoft.com/office/drawing/2014/main" id="{B6EE4C79-3BDE-B974-ED5B-82B3A0AE79AC}"/>
              </a:ext>
            </a:extLst>
          </p:cNvPr>
          <p:cNvSpPr/>
          <p:nvPr/>
        </p:nvSpPr>
        <p:spPr>
          <a:xfrm>
            <a:off x="3894164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PostgreSQL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دائم</a:t>
            </a:r>
          </a:p>
        </p:txBody>
      </p:sp>
      <p:sp>
        <p:nvSpPr>
          <p:cNvPr id="65" name="!!flow_node_4">
            <a:extLst>
              <a:ext uri="{FF2B5EF4-FFF2-40B4-BE49-F238E27FC236}">
                <a16:creationId xmlns:a16="http://schemas.microsoft.com/office/drawing/2014/main" id="{D4CB3CC6-5A40-2766-BE0C-AF39B223ECE4}"/>
              </a:ext>
            </a:extLst>
          </p:cNvPr>
          <p:cNvSpPr/>
          <p:nvPr/>
        </p:nvSpPr>
        <p:spPr>
          <a:xfrm>
            <a:off x="5530940" y="4276872"/>
            <a:ext cx="1389888" cy="914400"/>
          </a:xfrm>
          <a:prstGeom prst="roundRect">
            <a:avLst/>
          </a:prstGeom>
          <a:solidFill>
            <a:srgbClr val="385F58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Outbox + Worker</a:t>
            </a:r>
          </a:p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تجهيز التوزيع</a:t>
            </a:r>
          </a:p>
        </p:txBody>
      </p:sp>
      <p:sp>
        <p:nvSpPr>
          <p:cNvPr id="66" name="!!flow_node_5">
            <a:extLst>
              <a:ext uri="{FF2B5EF4-FFF2-40B4-BE49-F238E27FC236}">
                <a16:creationId xmlns:a16="http://schemas.microsoft.com/office/drawing/2014/main" id="{98A2E2D9-344E-0C13-731F-37B5C67B0AD8}"/>
              </a:ext>
            </a:extLst>
          </p:cNvPr>
          <p:cNvSpPr/>
          <p:nvPr/>
        </p:nvSpPr>
        <p:spPr>
          <a:xfrm>
            <a:off x="7167716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توجيه الرسالة</a:t>
            </a:r>
          </a:p>
        </p:txBody>
      </p:sp>
      <p:sp>
        <p:nvSpPr>
          <p:cNvPr id="67" name="!!flow_node_6">
            <a:extLst>
              <a:ext uri="{FF2B5EF4-FFF2-40B4-BE49-F238E27FC236}">
                <a16:creationId xmlns:a16="http://schemas.microsoft.com/office/drawing/2014/main" id="{6B15F1DE-F1CC-994C-2A45-3D9804322833}"/>
              </a:ext>
            </a:extLst>
          </p:cNvPr>
          <p:cNvSpPr/>
          <p:nvPr/>
        </p:nvSpPr>
        <p:spPr>
          <a:xfrm>
            <a:off x="8804492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Redis + WebSocket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إيصال لحظي</a:t>
            </a:r>
          </a:p>
        </p:txBody>
      </p:sp>
      <p:sp>
        <p:nvSpPr>
          <p:cNvPr id="68" name="!!flow_node_7">
            <a:extLst>
              <a:ext uri="{FF2B5EF4-FFF2-40B4-BE49-F238E27FC236}">
                <a16:creationId xmlns:a16="http://schemas.microsoft.com/office/drawing/2014/main" id="{A3198A5A-0D4B-E70A-7960-BC80CEE471D3}"/>
              </a:ext>
            </a:extLst>
          </p:cNvPr>
          <p:cNvSpPr/>
          <p:nvPr/>
        </p:nvSpPr>
        <p:spPr>
          <a:xfrm>
            <a:off x="10441268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المستلم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Subscriber UI</a:t>
            </a:r>
          </a:p>
        </p:txBody>
      </p:sp>
      <p:pic>
        <p:nvPicPr>
          <p:cNvPr id="69" name="Picture 68" descr="a_clean_flat_modern_vector_style_icon_illustration_1_batch_1.png">
            <a:extLst>
              <a:ext uri="{FF2B5EF4-FFF2-40B4-BE49-F238E27FC236}">
                <a16:creationId xmlns:a16="http://schemas.microsoft.com/office/drawing/2014/main" id="{D7F98E71-8B1B-F223-40A1-C1A0FCABF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456996" y="1913981"/>
            <a:ext cx="1828800" cy="1828800"/>
          </a:xfrm>
          <a:prstGeom prst="rect">
            <a:avLst/>
          </a:prstGeom>
        </p:spPr>
      </p:pic>
      <p:pic>
        <p:nvPicPr>
          <p:cNvPr id="70" name="Picture 69" descr="a_clean_vector_style_flat_gradiented_icon_illustra_2_batch_2.png">
            <a:extLst>
              <a:ext uri="{FF2B5EF4-FFF2-40B4-BE49-F238E27FC236}">
                <a16:creationId xmlns:a16="http://schemas.microsoft.com/office/drawing/2014/main" id="{2CE370C2-3E59-0447-D493-DEECA127E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125500" y="1896568"/>
            <a:ext cx="1828800" cy="1828800"/>
          </a:xfrm>
          <a:prstGeom prst="rect">
            <a:avLst/>
          </a:prstGeom>
        </p:spPr>
      </p:pic>
      <p:pic>
        <p:nvPicPr>
          <p:cNvPr id="71" name="Picture 70" descr="a_clean_graphic_icon_illustration_on_a_transparent_3_batch_3.png">
            <a:extLst>
              <a:ext uri="{FF2B5EF4-FFF2-40B4-BE49-F238E27FC236}">
                <a16:creationId xmlns:a16="http://schemas.microsoft.com/office/drawing/2014/main" id="{C19D1E73-773B-D57E-18F4-FD539062D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698589" y="1878388"/>
            <a:ext cx="1828800" cy="1828800"/>
          </a:xfrm>
          <a:prstGeom prst="rect">
            <a:avLst/>
          </a:prstGeom>
        </p:spPr>
      </p:pic>
      <p:pic>
        <p:nvPicPr>
          <p:cNvPr id="72" name="Picture 71" descr="a_clean_vector_style_icon_on_a_transparent_backgro_4_batch_4.png">
            <a:extLst>
              <a:ext uri="{FF2B5EF4-FFF2-40B4-BE49-F238E27FC236}">
                <a16:creationId xmlns:a16="http://schemas.microsoft.com/office/drawing/2014/main" id="{05D1EA7D-B26A-F181-47AA-2B67614441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8244" y="1913981"/>
            <a:ext cx="1828800" cy="1828800"/>
          </a:xfrm>
          <a:prstGeom prst="rect">
            <a:avLst/>
          </a:prstGeom>
        </p:spPr>
      </p:pic>
      <p:pic>
        <p:nvPicPr>
          <p:cNvPr id="73" name="Picture 72" descr="graphic_icon_illustration_on_a_transparent_checker_5_batch_5.png">
            <a:extLst>
              <a:ext uri="{FF2B5EF4-FFF2-40B4-BE49-F238E27FC236}">
                <a16:creationId xmlns:a16="http://schemas.microsoft.com/office/drawing/2014/main" id="{28826DEB-AB95-4109-C34F-1E55C99A2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4480" y="1854545"/>
            <a:ext cx="1828800" cy="1828800"/>
          </a:xfrm>
          <a:prstGeom prst="rect">
            <a:avLst/>
          </a:prstGeom>
        </p:spPr>
      </p:pic>
      <p:pic>
        <p:nvPicPr>
          <p:cNvPr id="74" name="Picture 73" descr="vector_illustration_icon_like_graphic_on_a_trans_6_batch_6.png">
            <a:extLst>
              <a:ext uri="{FF2B5EF4-FFF2-40B4-BE49-F238E27FC236}">
                <a16:creationId xmlns:a16="http://schemas.microsoft.com/office/drawing/2014/main" id="{B76A4E89-CF29-AF63-45BB-FA3A18FE3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94861" y="1854545"/>
            <a:ext cx="1828800" cy="1828800"/>
          </a:xfrm>
          <a:prstGeom prst="rect">
            <a:avLst/>
          </a:prstGeom>
        </p:spPr>
      </p:pic>
      <p:pic>
        <p:nvPicPr>
          <p:cNvPr id="75" name="Picture 74" descr="a_clean_flat_vector_illustration_on_a_transparent_7_batch_7.png">
            <a:extLst>
              <a:ext uri="{FF2B5EF4-FFF2-40B4-BE49-F238E27FC236}">
                <a16:creationId xmlns:a16="http://schemas.microsoft.com/office/drawing/2014/main" id="{6DD30AAC-FBA8-135B-F1A8-D7F4B11488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39308" y="1913981"/>
            <a:ext cx="1828800" cy="1828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E1E70DF1-262A-ACFD-EBD9-9C6F7BDDDD6D}"/>
              </a:ext>
            </a:extLst>
          </p:cNvPr>
          <p:cNvSpPr txBox="1"/>
          <p:nvPr/>
        </p:nvSpPr>
        <p:spPr>
          <a:xfrm>
            <a:off x="5825027" y="3429000"/>
            <a:ext cx="744114" cy="76944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C9A46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✉</a:t>
            </a:r>
          </a:p>
        </p:txBody>
      </p:sp>
    </p:spTree>
    <p:extLst>
      <p:ext uri="{BB962C8B-B14F-4D97-AF65-F5344CB8AC3E}">
        <p14:creationId xmlns:p14="http://schemas.microsoft.com/office/powerpoint/2010/main" val="2774233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F6E1-B36E-0924-3131-04E281D6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794DC2-C937-673F-BF46-1CE757804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5B9B59-A191-0D3C-D698-A4E6F0BF2321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آلية عمل النظام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F32BF0-A596-90A7-FD9F-2A918AE8E4E0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D0DFC-BC5D-324C-79C3-26A8035FA6CF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 نشر الرسالة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59FDCB-3DF1-EE9B-57D1-B55629CD9E5A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27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6" name="!!flow_arrow_1">
            <a:extLst>
              <a:ext uri="{FF2B5EF4-FFF2-40B4-BE49-F238E27FC236}">
                <a16:creationId xmlns:a16="http://schemas.microsoft.com/office/drawing/2014/main" id="{8D4814B7-D096-1760-B55E-658610C30BB7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201050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!!flow_arrow_2">
            <a:extLst>
              <a:ext uri="{FF2B5EF4-FFF2-40B4-BE49-F238E27FC236}">
                <a16:creationId xmlns:a16="http://schemas.microsoft.com/office/drawing/2014/main" id="{268A1311-C5C5-377D-E86A-862AE0FBCDAB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647276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!!flow_arrow_3">
            <a:extLst>
              <a:ext uri="{FF2B5EF4-FFF2-40B4-BE49-F238E27FC236}">
                <a16:creationId xmlns:a16="http://schemas.microsoft.com/office/drawing/2014/main" id="{E54D3CA1-DB06-86C8-427A-B6FAFB28D9ED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5284052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!!flow_arrow_4">
            <a:extLst>
              <a:ext uri="{FF2B5EF4-FFF2-40B4-BE49-F238E27FC236}">
                <a16:creationId xmlns:a16="http://schemas.microsoft.com/office/drawing/2014/main" id="{07E0E43B-6516-C157-2EAD-DD9A23E5CD60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6920828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!!flow_arrow_5">
            <a:extLst>
              <a:ext uri="{FF2B5EF4-FFF2-40B4-BE49-F238E27FC236}">
                <a16:creationId xmlns:a16="http://schemas.microsoft.com/office/drawing/2014/main" id="{49331257-71B1-6FE7-0362-76C4DB09E5D5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557604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!!flow_arrow_6">
            <a:extLst>
              <a:ext uri="{FF2B5EF4-FFF2-40B4-BE49-F238E27FC236}">
                <a16:creationId xmlns:a16="http://schemas.microsoft.com/office/drawing/2014/main" id="{04970DD0-4B10-0F24-1D42-2DD0BB4A8623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19438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flow_node_1">
            <a:extLst>
              <a:ext uri="{FF2B5EF4-FFF2-40B4-BE49-F238E27FC236}">
                <a16:creationId xmlns:a16="http://schemas.microsoft.com/office/drawing/2014/main" id="{3A802E5A-7898-ED80-F327-80397B4561A7}"/>
              </a:ext>
            </a:extLst>
          </p:cNvPr>
          <p:cNvSpPr/>
          <p:nvPr/>
        </p:nvSpPr>
        <p:spPr>
          <a:xfrm>
            <a:off x="620612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المرسل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</a:p>
        </p:txBody>
      </p:sp>
      <p:sp>
        <p:nvSpPr>
          <p:cNvPr id="63" name="!!flow_node_2">
            <a:extLst>
              <a:ext uri="{FF2B5EF4-FFF2-40B4-BE49-F238E27FC236}">
                <a16:creationId xmlns:a16="http://schemas.microsoft.com/office/drawing/2014/main" id="{AD4F3B5B-FFAE-BA8E-EE18-7E92E3F0A36C}"/>
              </a:ext>
            </a:extLst>
          </p:cNvPr>
          <p:cNvSpPr/>
          <p:nvPr/>
        </p:nvSpPr>
        <p:spPr>
          <a:xfrm>
            <a:off x="2257388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</a:p>
        </p:txBody>
      </p:sp>
      <p:sp>
        <p:nvSpPr>
          <p:cNvPr id="64" name="!!flow_node_3">
            <a:extLst>
              <a:ext uri="{FF2B5EF4-FFF2-40B4-BE49-F238E27FC236}">
                <a16:creationId xmlns:a16="http://schemas.microsoft.com/office/drawing/2014/main" id="{47FB96C9-4DBC-E6D9-C6DA-C24C230D6E13}"/>
              </a:ext>
            </a:extLst>
          </p:cNvPr>
          <p:cNvSpPr/>
          <p:nvPr/>
        </p:nvSpPr>
        <p:spPr>
          <a:xfrm>
            <a:off x="3894164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PostgreSQL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دائم</a:t>
            </a:r>
          </a:p>
        </p:txBody>
      </p:sp>
      <p:sp>
        <p:nvSpPr>
          <p:cNvPr id="65" name="!!flow_node_4">
            <a:extLst>
              <a:ext uri="{FF2B5EF4-FFF2-40B4-BE49-F238E27FC236}">
                <a16:creationId xmlns:a16="http://schemas.microsoft.com/office/drawing/2014/main" id="{6615A971-94C5-E653-A32D-148561B0C87B}"/>
              </a:ext>
            </a:extLst>
          </p:cNvPr>
          <p:cNvSpPr/>
          <p:nvPr/>
        </p:nvSpPr>
        <p:spPr>
          <a:xfrm>
            <a:off x="5530940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Outbox + Worker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تجهيز التوزيع</a:t>
            </a:r>
          </a:p>
        </p:txBody>
      </p:sp>
      <p:sp>
        <p:nvSpPr>
          <p:cNvPr id="66" name="!!flow_node_5">
            <a:extLst>
              <a:ext uri="{FF2B5EF4-FFF2-40B4-BE49-F238E27FC236}">
                <a16:creationId xmlns:a16="http://schemas.microsoft.com/office/drawing/2014/main" id="{FFFEF253-6853-88F8-91C6-0699BC3379A7}"/>
              </a:ext>
            </a:extLst>
          </p:cNvPr>
          <p:cNvSpPr/>
          <p:nvPr/>
        </p:nvSpPr>
        <p:spPr>
          <a:xfrm>
            <a:off x="7167716" y="4276872"/>
            <a:ext cx="1389888" cy="914400"/>
          </a:xfrm>
          <a:prstGeom prst="roundRect">
            <a:avLst/>
          </a:prstGeom>
          <a:solidFill>
            <a:srgbClr val="385F58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توجيه الرسالة</a:t>
            </a:r>
          </a:p>
        </p:txBody>
      </p:sp>
      <p:sp>
        <p:nvSpPr>
          <p:cNvPr id="67" name="!!flow_node_6">
            <a:extLst>
              <a:ext uri="{FF2B5EF4-FFF2-40B4-BE49-F238E27FC236}">
                <a16:creationId xmlns:a16="http://schemas.microsoft.com/office/drawing/2014/main" id="{89759CC5-A24E-1F75-5D63-926CC8C9D985}"/>
              </a:ext>
            </a:extLst>
          </p:cNvPr>
          <p:cNvSpPr/>
          <p:nvPr/>
        </p:nvSpPr>
        <p:spPr>
          <a:xfrm>
            <a:off x="8804492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Redis + WebSocket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إيصال لحظي</a:t>
            </a:r>
          </a:p>
        </p:txBody>
      </p:sp>
      <p:sp>
        <p:nvSpPr>
          <p:cNvPr id="68" name="!!flow_node_7">
            <a:extLst>
              <a:ext uri="{FF2B5EF4-FFF2-40B4-BE49-F238E27FC236}">
                <a16:creationId xmlns:a16="http://schemas.microsoft.com/office/drawing/2014/main" id="{DD663297-0433-6F03-8BB3-C4B354246721}"/>
              </a:ext>
            </a:extLst>
          </p:cNvPr>
          <p:cNvSpPr/>
          <p:nvPr/>
        </p:nvSpPr>
        <p:spPr>
          <a:xfrm>
            <a:off x="10441268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المستلم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Subscriber UI</a:t>
            </a:r>
          </a:p>
        </p:txBody>
      </p:sp>
      <p:pic>
        <p:nvPicPr>
          <p:cNvPr id="69" name="Picture 68" descr="a_clean_flat_modern_vector_style_icon_illustration_1_batch_1.png">
            <a:extLst>
              <a:ext uri="{FF2B5EF4-FFF2-40B4-BE49-F238E27FC236}">
                <a16:creationId xmlns:a16="http://schemas.microsoft.com/office/drawing/2014/main" id="{013FC220-EE33-4EBB-AAFC-D88D27B60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76836" y="1913981"/>
            <a:ext cx="1828800" cy="1828800"/>
          </a:xfrm>
          <a:prstGeom prst="rect">
            <a:avLst/>
          </a:prstGeom>
        </p:spPr>
      </p:pic>
      <p:pic>
        <p:nvPicPr>
          <p:cNvPr id="70" name="Picture 69" descr="a_clean_vector_style_flat_gradiented_icon_illustra_2_batch_2.png">
            <a:extLst>
              <a:ext uri="{FF2B5EF4-FFF2-40B4-BE49-F238E27FC236}">
                <a16:creationId xmlns:a16="http://schemas.microsoft.com/office/drawing/2014/main" id="{6513BA5A-B2A2-0C42-992E-C734FCDC5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845340" y="1896568"/>
            <a:ext cx="1828800" cy="1828800"/>
          </a:xfrm>
          <a:prstGeom prst="rect">
            <a:avLst/>
          </a:prstGeom>
        </p:spPr>
      </p:pic>
      <p:pic>
        <p:nvPicPr>
          <p:cNvPr id="71" name="Picture 70" descr="a_clean_graphic_icon_illustration_on_a_transparent_3_batch_3.png">
            <a:extLst>
              <a:ext uri="{FF2B5EF4-FFF2-40B4-BE49-F238E27FC236}">
                <a16:creationId xmlns:a16="http://schemas.microsoft.com/office/drawing/2014/main" id="{5815BE5F-D5CE-D78A-F28B-411CC5ADED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418429" y="1878388"/>
            <a:ext cx="1828800" cy="1828800"/>
          </a:xfrm>
          <a:prstGeom prst="rect">
            <a:avLst/>
          </a:prstGeom>
        </p:spPr>
      </p:pic>
      <p:pic>
        <p:nvPicPr>
          <p:cNvPr id="72" name="Picture 71" descr="a_clean_vector_style_icon_on_a_transparent_backgro_4_batch_4.png">
            <a:extLst>
              <a:ext uri="{FF2B5EF4-FFF2-40B4-BE49-F238E27FC236}">
                <a16:creationId xmlns:a16="http://schemas.microsoft.com/office/drawing/2014/main" id="{82F994BD-D42B-E931-1F1D-FDB4232E56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60316" y="1913981"/>
            <a:ext cx="1828800" cy="1828800"/>
          </a:xfrm>
          <a:prstGeom prst="rect">
            <a:avLst/>
          </a:prstGeom>
        </p:spPr>
      </p:pic>
      <p:pic>
        <p:nvPicPr>
          <p:cNvPr id="73" name="Picture 72" descr="graphic_icon_illustration_on_a_transparent_checker_5_batch_5.png">
            <a:extLst>
              <a:ext uri="{FF2B5EF4-FFF2-40B4-BE49-F238E27FC236}">
                <a16:creationId xmlns:a16="http://schemas.microsoft.com/office/drawing/2014/main" id="{03D83302-839D-FCE1-235A-24BC12006B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7680" y="1854545"/>
            <a:ext cx="1828800" cy="1828800"/>
          </a:xfrm>
          <a:prstGeom prst="rect">
            <a:avLst/>
          </a:prstGeom>
        </p:spPr>
      </p:pic>
      <p:pic>
        <p:nvPicPr>
          <p:cNvPr id="74" name="Picture 73" descr="vector_illustration_icon_like_graphic_on_a_trans_6_batch_6.png">
            <a:extLst>
              <a:ext uri="{FF2B5EF4-FFF2-40B4-BE49-F238E27FC236}">
                <a16:creationId xmlns:a16="http://schemas.microsoft.com/office/drawing/2014/main" id="{ED4C0A0E-EE62-B77A-29E5-1C83645350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00141" y="1854545"/>
            <a:ext cx="1828800" cy="1828800"/>
          </a:xfrm>
          <a:prstGeom prst="rect">
            <a:avLst/>
          </a:prstGeom>
        </p:spPr>
      </p:pic>
      <p:pic>
        <p:nvPicPr>
          <p:cNvPr id="75" name="Picture 74" descr="a_clean_flat_vector_illustration_on_a_transparent_7_batch_7.png">
            <a:extLst>
              <a:ext uri="{FF2B5EF4-FFF2-40B4-BE49-F238E27FC236}">
                <a16:creationId xmlns:a16="http://schemas.microsoft.com/office/drawing/2014/main" id="{07E0BB14-F63E-32D3-80B3-AAB2C52004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44588" y="1913981"/>
            <a:ext cx="1828800" cy="1828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38D7B98-23E4-A8A3-2BE4-B4BEA3FA9171}"/>
              </a:ext>
            </a:extLst>
          </p:cNvPr>
          <p:cNvSpPr txBox="1"/>
          <p:nvPr/>
        </p:nvSpPr>
        <p:spPr>
          <a:xfrm>
            <a:off x="7457057" y="3429000"/>
            <a:ext cx="744114" cy="76944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C9A46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✉</a:t>
            </a:r>
          </a:p>
        </p:txBody>
      </p:sp>
    </p:spTree>
    <p:extLst>
      <p:ext uri="{BB962C8B-B14F-4D97-AF65-F5344CB8AC3E}">
        <p14:creationId xmlns:p14="http://schemas.microsoft.com/office/powerpoint/2010/main" val="946760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746D-7708-60CF-CE27-C750407C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7FF7A5-D174-28FF-FE25-7B67C9379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8B07E4-5D6E-9412-ABDD-910AD404DDF5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آلية عمل النظام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5189B-C677-3380-3226-51A88AA0567E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640F450-801E-F26D-9BA7-C76B7DBB7935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 نشر الرسالة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7EFDDA-FF0E-9C9C-4D73-9D36DCE0EEB3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28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6" name="!!flow_arrow_1">
            <a:extLst>
              <a:ext uri="{FF2B5EF4-FFF2-40B4-BE49-F238E27FC236}">
                <a16:creationId xmlns:a16="http://schemas.microsoft.com/office/drawing/2014/main" id="{54D0EBC3-549F-EEA7-27EE-4999619242A2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201050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!!flow_arrow_2">
            <a:extLst>
              <a:ext uri="{FF2B5EF4-FFF2-40B4-BE49-F238E27FC236}">
                <a16:creationId xmlns:a16="http://schemas.microsoft.com/office/drawing/2014/main" id="{DC61086F-9AC1-1C39-0929-27594FC76237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647276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!!flow_arrow_3">
            <a:extLst>
              <a:ext uri="{FF2B5EF4-FFF2-40B4-BE49-F238E27FC236}">
                <a16:creationId xmlns:a16="http://schemas.microsoft.com/office/drawing/2014/main" id="{B3046F48-7FCE-84A7-32AC-17301C62417C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5284052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!!flow_arrow_4">
            <a:extLst>
              <a:ext uri="{FF2B5EF4-FFF2-40B4-BE49-F238E27FC236}">
                <a16:creationId xmlns:a16="http://schemas.microsoft.com/office/drawing/2014/main" id="{435B881B-FA2B-7D6B-B3ED-D92CAAD99677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6920828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!!flow_arrow_5">
            <a:extLst>
              <a:ext uri="{FF2B5EF4-FFF2-40B4-BE49-F238E27FC236}">
                <a16:creationId xmlns:a16="http://schemas.microsoft.com/office/drawing/2014/main" id="{65520B98-D7E5-C16D-2A81-3F7C84633321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557604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!!flow_arrow_6">
            <a:extLst>
              <a:ext uri="{FF2B5EF4-FFF2-40B4-BE49-F238E27FC236}">
                <a16:creationId xmlns:a16="http://schemas.microsoft.com/office/drawing/2014/main" id="{67F429B3-BED9-BD5B-BF9E-48B548DE0759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19438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flow_node_1">
            <a:extLst>
              <a:ext uri="{FF2B5EF4-FFF2-40B4-BE49-F238E27FC236}">
                <a16:creationId xmlns:a16="http://schemas.microsoft.com/office/drawing/2014/main" id="{56750A8D-5AD2-1B8A-CF00-7F080AA07837}"/>
              </a:ext>
            </a:extLst>
          </p:cNvPr>
          <p:cNvSpPr/>
          <p:nvPr/>
        </p:nvSpPr>
        <p:spPr>
          <a:xfrm>
            <a:off x="620612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المرسل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</a:p>
        </p:txBody>
      </p:sp>
      <p:sp>
        <p:nvSpPr>
          <p:cNvPr id="63" name="!!flow_node_2">
            <a:extLst>
              <a:ext uri="{FF2B5EF4-FFF2-40B4-BE49-F238E27FC236}">
                <a16:creationId xmlns:a16="http://schemas.microsoft.com/office/drawing/2014/main" id="{A275369B-741A-1CE7-B4A9-CFE33EA3BEEC}"/>
              </a:ext>
            </a:extLst>
          </p:cNvPr>
          <p:cNvSpPr/>
          <p:nvPr/>
        </p:nvSpPr>
        <p:spPr>
          <a:xfrm>
            <a:off x="2257388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</a:p>
        </p:txBody>
      </p:sp>
      <p:sp>
        <p:nvSpPr>
          <p:cNvPr id="64" name="!!flow_node_3">
            <a:extLst>
              <a:ext uri="{FF2B5EF4-FFF2-40B4-BE49-F238E27FC236}">
                <a16:creationId xmlns:a16="http://schemas.microsoft.com/office/drawing/2014/main" id="{E07EC835-1166-1306-5558-A1CC0D526337}"/>
              </a:ext>
            </a:extLst>
          </p:cNvPr>
          <p:cNvSpPr/>
          <p:nvPr/>
        </p:nvSpPr>
        <p:spPr>
          <a:xfrm>
            <a:off x="3894164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PostgreSQL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دائم</a:t>
            </a:r>
          </a:p>
        </p:txBody>
      </p:sp>
      <p:sp>
        <p:nvSpPr>
          <p:cNvPr id="65" name="!!flow_node_4">
            <a:extLst>
              <a:ext uri="{FF2B5EF4-FFF2-40B4-BE49-F238E27FC236}">
                <a16:creationId xmlns:a16="http://schemas.microsoft.com/office/drawing/2014/main" id="{15E7E886-13E3-D299-2BC0-06A5166392FB}"/>
              </a:ext>
            </a:extLst>
          </p:cNvPr>
          <p:cNvSpPr/>
          <p:nvPr/>
        </p:nvSpPr>
        <p:spPr>
          <a:xfrm>
            <a:off x="5530940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Outbox + Worker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تجهيز التوزيع</a:t>
            </a:r>
          </a:p>
        </p:txBody>
      </p:sp>
      <p:sp>
        <p:nvSpPr>
          <p:cNvPr id="66" name="!!flow_node_5">
            <a:extLst>
              <a:ext uri="{FF2B5EF4-FFF2-40B4-BE49-F238E27FC236}">
                <a16:creationId xmlns:a16="http://schemas.microsoft.com/office/drawing/2014/main" id="{13977272-1854-C15E-9D81-AF8439E9767D}"/>
              </a:ext>
            </a:extLst>
          </p:cNvPr>
          <p:cNvSpPr/>
          <p:nvPr/>
        </p:nvSpPr>
        <p:spPr>
          <a:xfrm>
            <a:off x="7167716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توجيه الرسالة</a:t>
            </a:r>
          </a:p>
        </p:txBody>
      </p:sp>
      <p:sp>
        <p:nvSpPr>
          <p:cNvPr id="67" name="!!flow_node_6">
            <a:extLst>
              <a:ext uri="{FF2B5EF4-FFF2-40B4-BE49-F238E27FC236}">
                <a16:creationId xmlns:a16="http://schemas.microsoft.com/office/drawing/2014/main" id="{F222ECCF-C888-43E0-8A19-54D40EB1897A}"/>
              </a:ext>
            </a:extLst>
          </p:cNvPr>
          <p:cNvSpPr/>
          <p:nvPr/>
        </p:nvSpPr>
        <p:spPr>
          <a:xfrm>
            <a:off x="8804492" y="4276872"/>
            <a:ext cx="1389888" cy="914400"/>
          </a:xfrm>
          <a:prstGeom prst="roundRect">
            <a:avLst/>
          </a:prstGeom>
          <a:solidFill>
            <a:srgbClr val="385F58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Redis + WebSocket</a:t>
            </a:r>
          </a:p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إيصال لحظي</a:t>
            </a:r>
          </a:p>
        </p:txBody>
      </p:sp>
      <p:sp>
        <p:nvSpPr>
          <p:cNvPr id="68" name="!!flow_node_7">
            <a:extLst>
              <a:ext uri="{FF2B5EF4-FFF2-40B4-BE49-F238E27FC236}">
                <a16:creationId xmlns:a16="http://schemas.microsoft.com/office/drawing/2014/main" id="{F866C685-0913-32C3-7BE6-D0C0AA282E87}"/>
              </a:ext>
            </a:extLst>
          </p:cNvPr>
          <p:cNvSpPr/>
          <p:nvPr/>
        </p:nvSpPr>
        <p:spPr>
          <a:xfrm>
            <a:off x="10441268" y="4276872"/>
            <a:ext cx="1389888" cy="914400"/>
          </a:xfrm>
          <a:prstGeom prst="roundRect">
            <a:avLst/>
          </a:prstGeom>
          <a:solidFill>
            <a:srgbClr val="E7D5A4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المستلم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Subscriber UI</a:t>
            </a:r>
          </a:p>
        </p:txBody>
      </p:sp>
      <p:pic>
        <p:nvPicPr>
          <p:cNvPr id="69" name="Picture 68" descr="a_clean_flat_modern_vector_style_icon_illustration_1_batch_1.png">
            <a:extLst>
              <a:ext uri="{FF2B5EF4-FFF2-40B4-BE49-F238E27FC236}">
                <a16:creationId xmlns:a16="http://schemas.microsoft.com/office/drawing/2014/main" id="{1AAFCBF7-BE8E-36B9-AE68-57CFA5830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966941" y="1913981"/>
            <a:ext cx="1828800" cy="1828800"/>
          </a:xfrm>
          <a:prstGeom prst="rect">
            <a:avLst/>
          </a:prstGeom>
        </p:spPr>
      </p:pic>
      <p:pic>
        <p:nvPicPr>
          <p:cNvPr id="70" name="Picture 69" descr="a_clean_vector_style_flat_gradiented_icon_illustra_2_batch_2.png">
            <a:extLst>
              <a:ext uri="{FF2B5EF4-FFF2-40B4-BE49-F238E27FC236}">
                <a16:creationId xmlns:a16="http://schemas.microsoft.com/office/drawing/2014/main" id="{7656E78A-6E5F-8D54-1123-E64E87E80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635445" y="1896568"/>
            <a:ext cx="1828800" cy="1828800"/>
          </a:xfrm>
          <a:prstGeom prst="rect">
            <a:avLst/>
          </a:prstGeom>
        </p:spPr>
      </p:pic>
      <p:pic>
        <p:nvPicPr>
          <p:cNvPr id="71" name="Picture 70" descr="a_clean_graphic_icon_illustration_on_a_transparent_3_batch_3.png">
            <a:extLst>
              <a:ext uri="{FF2B5EF4-FFF2-40B4-BE49-F238E27FC236}">
                <a16:creationId xmlns:a16="http://schemas.microsoft.com/office/drawing/2014/main" id="{022238CE-471D-A7AA-C925-F71CF2ED6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8534" y="1878388"/>
            <a:ext cx="1828800" cy="1828800"/>
          </a:xfrm>
          <a:prstGeom prst="rect">
            <a:avLst/>
          </a:prstGeom>
        </p:spPr>
      </p:pic>
      <p:pic>
        <p:nvPicPr>
          <p:cNvPr id="72" name="Picture 71" descr="a_clean_vector_style_icon_on_a_transparent_backgro_4_batch_4.png">
            <a:extLst>
              <a:ext uri="{FF2B5EF4-FFF2-40B4-BE49-F238E27FC236}">
                <a16:creationId xmlns:a16="http://schemas.microsoft.com/office/drawing/2014/main" id="{4BC30A6B-E85A-C12E-D50F-D968C83E68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050421" y="1913981"/>
            <a:ext cx="1828800" cy="1828800"/>
          </a:xfrm>
          <a:prstGeom prst="rect">
            <a:avLst/>
          </a:prstGeom>
        </p:spPr>
      </p:pic>
      <p:pic>
        <p:nvPicPr>
          <p:cNvPr id="73" name="Picture 72" descr="graphic_icon_illustration_on_a_transparent_checker_5_batch_5.png">
            <a:extLst>
              <a:ext uri="{FF2B5EF4-FFF2-40B4-BE49-F238E27FC236}">
                <a16:creationId xmlns:a16="http://schemas.microsoft.com/office/drawing/2014/main" id="{CF6E2857-6272-F4F1-2192-52B0A13FA9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911593" y="1854545"/>
            <a:ext cx="1828800" cy="1828800"/>
          </a:xfrm>
          <a:prstGeom prst="rect">
            <a:avLst/>
          </a:prstGeom>
        </p:spPr>
      </p:pic>
      <p:pic>
        <p:nvPicPr>
          <p:cNvPr id="74" name="Picture 73" descr="vector_illustration_icon_like_graphic_on_a_trans_6_batch_6.png">
            <a:extLst>
              <a:ext uri="{FF2B5EF4-FFF2-40B4-BE49-F238E27FC236}">
                <a16:creationId xmlns:a16="http://schemas.microsoft.com/office/drawing/2014/main" id="{5AA71072-408E-C076-80BA-DE3E5A1707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1206" y="1854545"/>
            <a:ext cx="1828800" cy="1828800"/>
          </a:xfrm>
          <a:prstGeom prst="rect">
            <a:avLst/>
          </a:prstGeom>
        </p:spPr>
      </p:pic>
      <p:pic>
        <p:nvPicPr>
          <p:cNvPr id="75" name="Picture 74" descr="a_clean_flat_vector_illustration_on_a_transparent_7_batch_7.png">
            <a:extLst>
              <a:ext uri="{FF2B5EF4-FFF2-40B4-BE49-F238E27FC236}">
                <a16:creationId xmlns:a16="http://schemas.microsoft.com/office/drawing/2014/main" id="{20D76217-82CD-A580-06EB-F5CE9F24D2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44588" y="1913981"/>
            <a:ext cx="1828800" cy="1828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B2055AE1-EE62-8584-51B5-9FD44C5F88ED}"/>
              </a:ext>
            </a:extLst>
          </p:cNvPr>
          <p:cNvSpPr txBox="1"/>
          <p:nvPr/>
        </p:nvSpPr>
        <p:spPr>
          <a:xfrm>
            <a:off x="9072497" y="3429000"/>
            <a:ext cx="744114" cy="76944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C9A46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✉</a:t>
            </a:r>
          </a:p>
        </p:txBody>
      </p:sp>
    </p:spTree>
    <p:extLst>
      <p:ext uri="{BB962C8B-B14F-4D97-AF65-F5344CB8AC3E}">
        <p14:creationId xmlns:p14="http://schemas.microsoft.com/office/powerpoint/2010/main" val="845272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E581-C7F8-DDCB-0AD1-9FCC263F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6F454A-1194-E9D1-4246-B6AE19346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F1B119-9E62-2171-1FEA-D1E798396B07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آلية عمل النظام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EB7AB4-10C2-9AF3-8330-A5326C31D32F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3147D2-CF5B-C2F9-34CE-E1834AD59CA8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مسار نشر الرسالة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9A23EE-7DAD-D38E-3BEC-12D687D94D8D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29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6" name="!!flow_arrow_1">
            <a:extLst>
              <a:ext uri="{FF2B5EF4-FFF2-40B4-BE49-F238E27FC236}">
                <a16:creationId xmlns:a16="http://schemas.microsoft.com/office/drawing/2014/main" id="{CEB73A5A-3317-01F1-6E49-54E922AFC4EE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201050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!!flow_arrow_2">
            <a:extLst>
              <a:ext uri="{FF2B5EF4-FFF2-40B4-BE49-F238E27FC236}">
                <a16:creationId xmlns:a16="http://schemas.microsoft.com/office/drawing/2014/main" id="{7F61417B-51D4-F90E-1D57-FECA04C5D1F7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3647276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!!flow_arrow_3">
            <a:extLst>
              <a:ext uri="{FF2B5EF4-FFF2-40B4-BE49-F238E27FC236}">
                <a16:creationId xmlns:a16="http://schemas.microsoft.com/office/drawing/2014/main" id="{07A0B99F-A808-2FF4-B0D3-CE2339FFD605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5284052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!!flow_arrow_4">
            <a:extLst>
              <a:ext uri="{FF2B5EF4-FFF2-40B4-BE49-F238E27FC236}">
                <a16:creationId xmlns:a16="http://schemas.microsoft.com/office/drawing/2014/main" id="{5494D75E-2F0E-35BE-5243-27FA192034E2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6920828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!!flow_arrow_5">
            <a:extLst>
              <a:ext uri="{FF2B5EF4-FFF2-40B4-BE49-F238E27FC236}">
                <a16:creationId xmlns:a16="http://schemas.microsoft.com/office/drawing/2014/main" id="{0684CDA7-6F56-7D6F-86BE-7FBD597E7623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8557604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!!flow_arrow_6">
            <a:extLst>
              <a:ext uri="{FF2B5EF4-FFF2-40B4-BE49-F238E27FC236}">
                <a16:creationId xmlns:a16="http://schemas.microsoft.com/office/drawing/2014/main" id="{A9F04E3F-5ECC-CD25-72B3-D7AF44259858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194380" y="4734072"/>
            <a:ext cx="246888" cy="0"/>
          </a:xfrm>
          <a:prstGeom prst="line">
            <a:avLst/>
          </a:prstGeom>
          <a:ln w="25400">
            <a:solidFill>
              <a:srgbClr val="C9A8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flow_node_1">
            <a:extLst>
              <a:ext uri="{FF2B5EF4-FFF2-40B4-BE49-F238E27FC236}">
                <a16:creationId xmlns:a16="http://schemas.microsoft.com/office/drawing/2014/main" id="{4429E67B-15EB-F406-0D31-067144B304B5}"/>
              </a:ext>
            </a:extLst>
          </p:cNvPr>
          <p:cNvSpPr/>
          <p:nvPr/>
        </p:nvSpPr>
        <p:spPr>
          <a:xfrm>
            <a:off x="620612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المرسل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</a:p>
        </p:txBody>
      </p:sp>
      <p:sp>
        <p:nvSpPr>
          <p:cNvPr id="63" name="!!flow_node_2">
            <a:extLst>
              <a:ext uri="{FF2B5EF4-FFF2-40B4-BE49-F238E27FC236}">
                <a16:creationId xmlns:a16="http://schemas.microsoft.com/office/drawing/2014/main" id="{274546E2-A4EC-4F5C-0344-27500D6576F0}"/>
              </a:ext>
            </a:extLst>
          </p:cNvPr>
          <p:cNvSpPr/>
          <p:nvPr/>
        </p:nvSpPr>
        <p:spPr>
          <a:xfrm>
            <a:off x="2257388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FastAPI</a:t>
            </a:r>
          </a:p>
          <a:p>
            <a:pPr algn="ctr" rtl="1"/>
            <a:r>
              <a:rPr lang="ar-SY" sz="1600" b="1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تحقق وصلاحيات</a:t>
            </a:r>
          </a:p>
        </p:txBody>
      </p:sp>
      <p:sp>
        <p:nvSpPr>
          <p:cNvPr id="64" name="!!flow_node_3">
            <a:extLst>
              <a:ext uri="{FF2B5EF4-FFF2-40B4-BE49-F238E27FC236}">
                <a16:creationId xmlns:a16="http://schemas.microsoft.com/office/drawing/2014/main" id="{5CB2D14C-713B-1E7D-5951-E096BCE156FA}"/>
              </a:ext>
            </a:extLst>
          </p:cNvPr>
          <p:cNvSpPr/>
          <p:nvPr/>
        </p:nvSpPr>
        <p:spPr>
          <a:xfrm>
            <a:off x="3894164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PostgreSQL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حفظ دائم</a:t>
            </a:r>
          </a:p>
        </p:txBody>
      </p:sp>
      <p:sp>
        <p:nvSpPr>
          <p:cNvPr id="65" name="!!flow_node_4">
            <a:extLst>
              <a:ext uri="{FF2B5EF4-FFF2-40B4-BE49-F238E27FC236}">
                <a16:creationId xmlns:a16="http://schemas.microsoft.com/office/drawing/2014/main" id="{63463182-0F9C-300A-58E3-DB13626C8EB8}"/>
              </a:ext>
            </a:extLst>
          </p:cNvPr>
          <p:cNvSpPr/>
          <p:nvPr/>
        </p:nvSpPr>
        <p:spPr>
          <a:xfrm>
            <a:off x="5530940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Outbox + Worker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تجهيز التوزيع</a:t>
            </a:r>
          </a:p>
        </p:txBody>
      </p:sp>
      <p:sp>
        <p:nvSpPr>
          <p:cNvPr id="66" name="!!flow_node_5">
            <a:extLst>
              <a:ext uri="{FF2B5EF4-FFF2-40B4-BE49-F238E27FC236}">
                <a16:creationId xmlns:a16="http://schemas.microsoft.com/office/drawing/2014/main" id="{ABB97262-B5E0-07FC-750C-DA724E22E5D3}"/>
              </a:ext>
            </a:extLst>
          </p:cNvPr>
          <p:cNvSpPr/>
          <p:nvPr/>
        </p:nvSpPr>
        <p:spPr>
          <a:xfrm>
            <a:off x="7167716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RabbitMQ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توجيه الرسالة</a:t>
            </a:r>
          </a:p>
        </p:txBody>
      </p:sp>
      <p:sp>
        <p:nvSpPr>
          <p:cNvPr id="67" name="!!flow_node_6">
            <a:extLst>
              <a:ext uri="{FF2B5EF4-FFF2-40B4-BE49-F238E27FC236}">
                <a16:creationId xmlns:a16="http://schemas.microsoft.com/office/drawing/2014/main" id="{1D5EBB3F-E589-30D2-A5D2-9BB8F0F37BC3}"/>
              </a:ext>
            </a:extLst>
          </p:cNvPr>
          <p:cNvSpPr/>
          <p:nvPr/>
        </p:nvSpPr>
        <p:spPr>
          <a:xfrm>
            <a:off x="8804492" y="4276872"/>
            <a:ext cx="1389888" cy="914400"/>
          </a:xfrm>
          <a:prstGeom prst="roundRect">
            <a:avLst/>
          </a:prstGeom>
          <a:solidFill>
            <a:srgbClr val="DFCBAA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Redis + WebSocket</a:t>
            </a:r>
          </a:p>
          <a:p>
            <a:pPr algn="ctr" rtl="1"/>
            <a:r>
              <a:rPr lang="ar-SY" sz="1600" b="1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إيصال لحظي</a:t>
            </a:r>
          </a:p>
        </p:txBody>
      </p:sp>
      <p:sp>
        <p:nvSpPr>
          <p:cNvPr id="68" name="!!flow_node_7">
            <a:extLst>
              <a:ext uri="{FF2B5EF4-FFF2-40B4-BE49-F238E27FC236}">
                <a16:creationId xmlns:a16="http://schemas.microsoft.com/office/drawing/2014/main" id="{A84CEA9C-D523-A053-EF79-51D641A4C8F3}"/>
              </a:ext>
            </a:extLst>
          </p:cNvPr>
          <p:cNvSpPr/>
          <p:nvPr/>
        </p:nvSpPr>
        <p:spPr>
          <a:xfrm>
            <a:off x="10441268" y="4276872"/>
            <a:ext cx="1389888" cy="914400"/>
          </a:xfrm>
          <a:prstGeom prst="roundRect">
            <a:avLst/>
          </a:prstGeom>
          <a:solidFill>
            <a:srgbClr val="385F58"/>
          </a:solidFill>
          <a:ln w="17780">
            <a:solidFill>
              <a:srgbClr val="C9A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واجهة المستلم</a:t>
            </a:r>
          </a:p>
          <a:p>
            <a:pPr algn="ctr" rtl="1"/>
            <a:r>
              <a:rPr lang="ar-SY" sz="16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Subscriber UI</a:t>
            </a:r>
          </a:p>
        </p:txBody>
      </p:sp>
      <p:pic>
        <p:nvPicPr>
          <p:cNvPr id="69" name="Picture 68" descr="a_clean_flat_modern_vector_style_icon_illustration_1_batch_1.png">
            <a:extLst>
              <a:ext uri="{FF2B5EF4-FFF2-40B4-BE49-F238E27FC236}">
                <a16:creationId xmlns:a16="http://schemas.microsoft.com/office/drawing/2014/main" id="{1F6D3FF8-DDE4-8F87-479A-1AA136FE3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252941" y="1913981"/>
            <a:ext cx="1828800" cy="1828800"/>
          </a:xfrm>
          <a:prstGeom prst="rect">
            <a:avLst/>
          </a:prstGeom>
        </p:spPr>
      </p:pic>
      <p:pic>
        <p:nvPicPr>
          <p:cNvPr id="70" name="Picture 69" descr="a_clean_vector_style_flat_gradiented_icon_illustra_2_batch_2.png">
            <a:extLst>
              <a:ext uri="{FF2B5EF4-FFF2-40B4-BE49-F238E27FC236}">
                <a16:creationId xmlns:a16="http://schemas.microsoft.com/office/drawing/2014/main" id="{D4886E95-07BE-40F6-87E1-F41C6DA98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921445" y="1896568"/>
            <a:ext cx="1828800" cy="1828800"/>
          </a:xfrm>
          <a:prstGeom prst="rect">
            <a:avLst/>
          </a:prstGeom>
        </p:spPr>
      </p:pic>
      <p:pic>
        <p:nvPicPr>
          <p:cNvPr id="71" name="Picture 70" descr="a_clean_graphic_icon_illustration_on_a_transparent_3_batch_3.png">
            <a:extLst>
              <a:ext uri="{FF2B5EF4-FFF2-40B4-BE49-F238E27FC236}">
                <a16:creationId xmlns:a16="http://schemas.microsoft.com/office/drawing/2014/main" id="{3657C056-C450-01B0-01EF-20FA94237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494534" y="1878388"/>
            <a:ext cx="1828800" cy="1828800"/>
          </a:xfrm>
          <a:prstGeom prst="rect">
            <a:avLst/>
          </a:prstGeom>
        </p:spPr>
      </p:pic>
      <p:pic>
        <p:nvPicPr>
          <p:cNvPr id="72" name="Picture 71" descr="a_clean_vector_style_icon_on_a_transparent_backgro_4_batch_4.png">
            <a:extLst>
              <a:ext uri="{FF2B5EF4-FFF2-40B4-BE49-F238E27FC236}">
                <a16:creationId xmlns:a16="http://schemas.microsoft.com/office/drawing/2014/main" id="{C4A7D1E2-A4FC-DD44-4E64-62F266D5E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336421" y="1913981"/>
            <a:ext cx="1828800" cy="1828800"/>
          </a:xfrm>
          <a:prstGeom prst="rect">
            <a:avLst/>
          </a:prstGeom>
        </p:spPr>
      </p:pic>
      <p:pic>
        <p:nvPicPr>
          <p:cNvPr id="73" name="Picture 72" descr="graphic_icon_illustration_on_a_transparent_checker_5_batch_5.png">
            <a:extLst>
              <a:ext uri="{FF2B5EF4-FFF2-40B4-BE49-F238E27FC236}">
                <a16:creationId xmlns:a16="http://schemas.microsoft.com/office/drawing/2014/main" id="{F787173C-AE05-746D-D6ED-4D12B004AD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197593" y="1854545"/>
            <a:ext cx="1828800" cy="1828800"/>
          </a:xfrm>
          <a:prstGeom prst="rect">
            <a:avLst/>
          </a:prstGeom>
        </p:spPr>
      </p:pic>
      <p:pic>
        <p:nvPicPr>
          <p:cNvPr id="74" name="Picture 73" descr="vector_illustration_icon_like_graphic_on_a_trans_6_batch_6.png">
            <a:extLst>
              <a:ext uri="{FF2B5EF4-FFF2-40B4-BE49-F238E27FC236}">
                <a16:creationId xmlns:a16="http://schemas.microsoft.com/office/drawing/2014/main" id="{69C7EABA-AF53-3E5A-D54D-A2AF6E0F34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887914" y="1854545"/>
            <a:ext cx="1828800" cy="1828800"/>
          </a:xfrm>
          <a:prstGeom prst="rect">
            <a:avLst/>
          </a:prstGeom>
        </p:spPr>
      </p:pic>
      <p:pic>
        <p:nvPicPr>
          <p:cNvPr id="75" name="Picture 74" descr="a_clean_flat_vector_illustration_on_a_transparent_7_batch_7.png">
            <a:extLst>
              <a:ext uri="{FF2B5EF4-FFF2-40B4-BE49-F238E27FC236}">
                <a16:creationId xmlns:a16="http://schemas.microsoft.com/office/drawing/2014/main" id="{3D6A7B26-8FB4-3570-D9CD-DCF726BC20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7468" y="1913981"/>
            <a:ext cx="1828800" cy="1828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2C12637-9C3F-E85B-3EA4-410B9DBDADCA}"/>
              </a:ext>
            </a:extLst>
          </p:cNvPr>
          <p:cNvSpPr txBox="1"/>
          <p:nvPr/>
        </p:nvSpPr>
        <p:spPr>
          <a:xfrm>
            <a:off x="10738737" y="3429000"/>
            <a:ext cx="744114" cy="76944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C9A46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✉</a:t>
            </a:r>
          </a:p>
        </p:txBody>
      </p:sp>
    </p:spTree>
    <p:extLst>
      <p:ext uri="{BB962C8B-B14F-4D97-AF65-F5344CB8AC3E}">
        <p14:creationId xmlns:p14="http://schemas.microsoft.com/office/powerpoint/2010/main" val="4179052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7345B-95E9-9E89-22E1-07B2EF6A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6F9656-C8CD-7115-7A51-B9322F789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9FA00A-07EE-A9CF-BB2E-A1C643C24623}"/>
              </a:ext>
            </a:extLst>
          </p:cNvPr>
          <p:cNvSpPr txBox="1"/>
          <p:nvPr/>
        </p:nvSpPr>
        <p:spPr>
          <a:xfrm>
            <a:off x="845574" y="2635200"/>
            <a:ext cx="6825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80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سادساً: الأمان والوثوقية</a:t>
            </a:r>
            <a:endParaRPr lang="en-US" sz="80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079CC-56B2-DE9E-C16D-CBA1BEB1BACB}"/>
              </a:ext>
            </a:extLst>
          </p:cNvPr>
          <p:cNvSpPr txBox="1"/>
          <p:nvPr/>
        </p:nvSpPr>
        <p:spPr>
          <a:xfrm>
            <a:off x="9997440" y="4439920"/>
            <a:ext cx="66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6</a:t>
            </a:r>
            <a:endParaRPr lang="en-US" sz="4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75626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1BA3E-635D-BEE3-1C11-64743CAF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6AC9D3-142F-3852-582F-AAF06C02A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30BCF9-920A-E67E-D549-E342DB8B42ED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الأمان والوثوقية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3A8B71-7A3D-A748-ACE9-A56A9B414FD0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AC04ADD-41D2-D1FE-69F0-C107D8F30B12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31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4B1D4-77CD-5373-58F2-AE268828F716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الفكرة العامة لآلية التحقق</a:t>
            </a:r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6AC6802E-5885-FB07-94DC-EB0E44994F6A}"/>
              </a:ext>
            </a:extLst>
          </p:cNvPr>
          <p:cNvSpPr/>
          <p:nvPr/>
        </p:nvSpPr>
        <p:spPr>
          <a:xfrm>
            <a:off x="9144000" y="3657600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الأحداث</a:t>
            </a:r>
            <a:endParaRPr lang="en-US" sz="240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05D31460-5496-05BC-B1A2-3E3A644110B2}"/>
              </a:ext>
            </a:extLst>
          </p:cNvPr>
          <p:cNvSpPr/>
          <p:nvPr/>
        </p:nvSpPr>
        <p:spPr>
          <a:xfrm>
            <a:off x="7223760" y="3657600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سلسلة</a:t>
            </a:r>
            <a:r>
              <a:rPr lang="ar-SY" sz="240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Y" sz="200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التجز</a:t>
            </a: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ئة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Hash Chain</a:t>
            </a:r>
          </a:p>
        </p:txBody>
      </p:sp>
      <p:sp>
        <p:nvSpPr>
          <p:cNvPr id="41" name="Left Arrow 12">
            <a:extLst>
              <a:ext uri="{FF2B5EF4-FFF2-40B4-BE49-F238E27FC236}">
                <a16:creationId xmlns:a16="http://schemas.microsoft.com/office/drawing/2014/main" id="{52FBDF00-6213-FE00-5D56-9E7F1D1B6B14}"/>
              </a:ext>
            </a:extLst>
          </p:cNvPr>
          <p:cNvSpPr/>
          <p:nvPr/>
        </p:nvSpPr>
        <p:spPr>
          <a:xfrm>
            <a:off x="8641080" y="3977640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3" name="Left Arrow 13">
            <a:extLst>
              <a:ext uri="{FF2B5EF4-FFF2-40B4-BE49-F238E27FC236}">
                <a16:creationId xmlns:a16="http://schemas.microsoft.com/office/drawing/2014/main" id="{CCD2B224-9D94-2455-EC8A-819BCF92EAA5}"/>
              </a:ext>
            </a:extLst>
          </p:cNvPr>
          <p:cNvSpPr/>
          <p:nvPr/>
        </p:nvSpPr>
        <p:spPr>
          <a:xfrm>
            <a:off x="6720840" y="3977640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Left Arrow 14">
            <a:extLst>
              <a:ext uri="{FF2B5EF4-FFF2-40B4-BE49-F238E27FC236}">
                <a16:creationId xmlns:a16="http://schemas.microsoft.com/office/drawing/2014/main" id="{22D344D1-C355-4515-DB17-CAFF09FF71A8}"/>
              </a:ext>
            </a:extLst>
          </p:cNvPr>
          <p:cNvSpPr/>
          <p:nvPr/>
        </p:nvSpPr>
        <p:spPr>
          <a:xfrm>
            <a:off x="4800600" y="3977640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Left Arrow 15">
            <a:extLst>
              <a:ext uri="{FF2B5EF4-FFF2-40B4-BE49-F238E27FC236}">
                <a16:creationId xmlns:a16="http://schemas.microsoft.com/office/drawing/2014/main" id="{5DBE0AD0-7CE1-6793-3E6F-1F5E05B3B53D}"/>
              </a:ext>
            </a:extLst>
          </p:cNvPr>
          <p:cNvSpPr/>
          <p:nvPr/>
        </p:nvSpPr>
        <p:spPr>
          <a:xfrm>
            <a:off x="2880360" y="3977640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9" name="Rounded Rectangle 16">
            <a:extLst>
              <a:ext uri="{FF2B5EF4-FFF2-40B4-BE49-F238E27FC236}">
                <a16:creationId xmlns:a16="http://schemas.microsoft.com/office/drawing/2014/main" id="{82B5217C-680B-4C88-E396-39ABC561CE13}"/>
              </a:ext>
            </a:extLst>
          </p:cNvPr>
          <p:cNvSpPr/>
          <p:nvPr/>
        </p:nvSpPr>
        <p:spPr>
          <a:xfrm>
            <a:off x="1828800" y="5199960"/>
            <a:ext cx="845784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rtl="1"/>
            <a:r>
              <a:rPr lang="ar-SY" b="1" dirty="0">
                <a:solidFill>
                  <a:srgbClr val="005C53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المهم هنا: شجرة ميركل تُبنى فوق فيم الهاش الناتجة من سلسلة التجزئة، وليس مباشرة من الأحداث.</a:t>
            </a:r>
            <a:endParaRPr lang="en-US" dirty="0">
              <a:solidFill>
                <a:srgbClr val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53" name="Picture 6" descr="need_icon.png">
            <a:extLst>
              <a:ext uri="{FF2B5EF4-FFF2-40B4-BE49-F238E27FC236}">
                <a16:creationId xmlns:a16="http://schemas.microsoft.com/office/drawing/2014/main" id="{04CC5AAD-557D-8474-998D-58D1E11A4A9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14720" y="1567293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87B80CB7-5B5D-8713-8ADD-A88285A966C1}"/>
              </a:ext>
            </a:extLst>
          </p:cNvPr>
          <p:cNvSpPr/>
          <p:nvPr/>
        </p:nvSpPr>
        <p:spPr>
          <a:xfrm>
            <a:off x="5213061" y="3652685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شجرة ميركل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Merkle Tree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CCE3E3AB-2A23-1BAF-DC12-1211D5CEA81F}"/>
              </a:ext>
            </a:extLst>
          </p:cNvPr>
          <p:cNvSpPr/>
          <p:nvPr/>
        </p:nvSpPr>
        <p:spPr>
          <a:xfrm>
            <a:off x="1324393" y="365760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التحقق</a:t>
            </a:r>
          </a:p>
          <a:p>
            <a:pPr algn="ctr" defTabSz="914400">
              <a:lnSpc>
                <a:spcPct val="100000"/>
              </a:lnSpc>
            </a:pPr>
            <a:r>
              <a:rPr lang="ar-SY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كشف العبث أو السلامة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9" name="Rounded Rectangle 8">
            <a:extLst>
              <a:ext uri="{FF2B5EF4-FFF2-40B4-BE49-F238E27FC236}">
                <a16:creationId xmlns:a16="http://schemas.microsoft.com/office/drawing/2014/main" id="{B828CF8F-A091-0A19-F6A0-A1B3A038973E}"/>
              </a:ext>
            </a:extLst>
          </p:cNvPr>
          <p:cNvSpPr/>
          <p:nvPr/>
        </p:nvSpPr>
        <p:spPr>
          <a:xfrm>
            <a:off x="3309253" y="3658092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نقطة تحقق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Checkpoint</a:t>
            </a:r>
          </a:p>
        </p:txBody>
      </p:sp>
    </p:spTree>
    <p:extLst>
      <p:ext uri="{BB962C8B-B14F-4D97-AF65-F5344CB8AC3E}">
        <p14:creationId xmlns:p14="http://schemas.microsoft.com/office/powerpoint/2010/main" val="555945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C439-CF89-9CF6-0E35-9ECC7881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6A180B-FF9E-D465-C810-E93188402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840EE2-FF69-32B8-CBE2-82AC247324A5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الأمان والوثوقية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6E0DF9-2A49-1CB7-E3FB-EDC93F48B6DD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9EF6DDD-5003-1D63-8CF9-F5C39FD86284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D581E-3671-643F-1C25-79F9F5F6914B}"/>
              </a:ext>
            </a:extLst>
          </p:cNvPr>
          <p:cNvSpPr txBox="1"/>
          <p:nvPr/>
        </p:nvSpPr>
        <p:spPr>
          <a:xfrm>
            <a:off x="5093505" y="866328"/>
            <a:ext cx="674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الخطوة الأولى: بناء سلسلة التجزئة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8A5D86CD-52D4-4F69-34B9-0C97777F6907}"/>
              </a:ext>
            </a:extLst>
          </p:cNvPr>
          <p:cNvSpPr/>
          <p:nvPr/>
        </p:nvSpPr>
        <p:spPr>
          <a:xfrm>
            <a:off x="9032902" y="356910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=0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sp>
        <p:nvSpPr>
          <p:cNvPr id="43" name="Left Arrow 13">
            <a:extLst>
              <a:ext uri="{FF2B5EF4-FFF2-40B4-BE49-F238E27FC236}">
                <a16:creationId xmlns:a16="http://schemas.microsoft.com/office/drawing/2014/main" id="{30CC61E3-1F87-8E0D-AD34-523394E1B6E1}"/>
              </a:ext>
            </a:extLst>
          </p:cNvPr>
          <p:cNvSpPr/>
          <p:nvPr/>
        </p:nvSpPr>
        <p:spPr>
          <a:xfrm>
            <a:off x="8529982" y="3889149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Left Arrow 14">
            <a:extLst>
              <a:ext uri="{FF2B5EF4-FFF2-40B4-BE49-F238E27FC236}">
                <a16:creationId xmlns:a16="http://schemas.microsoft.com/office/drawing/2014/main" id="{91668024-FCDB-A469-DF08-3C1B4EA7DC31}"/>
              </a:ext>
            </a:extLst>
          </p:cNvPr>
          <p:cNvSpPr/>
          <p:nvPr/>
        </p:nvSpPr>
        <p:spPr>
          <a:xfrm>
            <a:off x="6609742" y="3889149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Left Arrow 15">
            <a:extLst>
              <a:ext uri="{FF2B5EF4-FFF2-40B4-BE49-F238E27FC236}">
                <a16:creationId xmlns:a16="http://schemas.microsoft.com/office/drawing/2014/main" id="{142645AE-F83B-AF84-B6C6-D245C1B4D9CF}"/>
              </a:ext>
            </a:extLst>
          </p:cNvPr>
          <p:cNvSpPr/>
          <p:nvPr/>
        </p:nvSpPr>
        <p:spPr>
          <a:xfrm>
            <a:off x="4689502" y="3889149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CE4B1B20-A468-F6DD-81C4-A48BCD603156}"/>
              </a:ext>
            </a:extLst>
          </p:cNvPr>
          <p:cNvSpPr/>
          <p:nvPr/>
        </p:nvSpPr>
        <p:spPr>
          <a:xfrm>
            <a:off x="7022203" y="356419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2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H1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H2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E0D55BCF-5382-D6F6-076A-79ACB1341300}"/>
              </a:ext>
            </a:extLst>
          </p:cNvPr>
          <p:cNvSpPr/>
          <p:nvPr/>
        </p:nvSpPr>
        <p:spPr>
          <a:xfrm>
            <a:off x="3133535" y="3569113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4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H4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9" name="Rounded Rectangle 8">
            <a:extLst>
              <a:ext uri="{FF2B5EF4-FFF2-40B4-BE49-F238E27FC236}">
                <a16:creationId xmlns:a16="http://schemas.microsoft.com/office/drawing/2014/main" id="{F0618651-E308-1BD3-FCCB-14912D167164}"/>
              </a:ext>
            </a:extLst>
          </p:cNvPr>
          <p:cNvSpPr/>
          <p:nvPr/>
        </p:nvSpPr>
        <p:spPr>
          <a:xfrm>
            <a:off x="5118395" y="3569601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H2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H3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7" name="Picture 6" descr="chain_icon.png">
            <a:extLst>
              <a:ext uri="{FF2B5EF4-FFF2-40B4-BE49-F238E27FC236}">
                <a16:creationId xmlns:a16="http://schemas.microsoft.com/office/drawing/2014/main" id="{1683A54F-88F1-F23F-1DDB-F397CA28580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824261" y="1616346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Left Arrow 15">
            <a:extLst>
              <a:ext uri="{FF2B5EF4-FFF2-40B4-BE49-F238E27FC236}">
                <a16:creationId xmlns:a16="http://schemas.microsoft.com/office/drawing/2014/main" id="{08FB7C37-36C4-5CFD-E803-843F6948E078}"/>
              </a:ext>
            </a:extLst>
          </p:cNvPr>
          <p:cNvSpPr/>
          <p:nvPr/>
        </p:nvSpPr>
        <p:spPr>
          <a:xfrm>
            <a:off x="2605060" y="3898981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5B27A879-6523-4DD0-1B64-5C04580EDB9D}"/>
              </a:ext>
            </a:extLst>
          </p:cNvPr>
          <p:cNvSpPr/>
          <p:nvPr/>
        </p:nvSpPr>
        <p:spPr>
          <a:xfrm>
            <a:off x="965517" y="356419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</a:t>
            </a: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n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Hn-1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 err="1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02B02A59-5710-6703-EB85-30629134EA61}"/>
              </a:ext>
            </a:extLst>
          </p:cNvPr>
          <p:cNvSpPr/>
          <p:nvPr/>
        </p:nvSpPr>
        <p:spPr>
          <a:xfrm>
            <a:off x="3657600" y="4709160"/>
            <a:ext cx="4754520" cy="63972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= SHA-256(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event_n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+ 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previous_hash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94D15BBB-3608-ACE3-DBBE-41A301CFE327}"/>
              </a:ext>
            </a:extLst>
          </p:cNvPr>
          <p:cNvSpPr/>
          <p:nvPr/>
        </p:nvSpPr>
        <p:spPr>
          <a:xfrm>
            <a:off x="7178040" y="5623560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تعديل أي حدث يكسر السلسلة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CEC2B9FC-B9EE-F4CB-D039-C9668158E03E}"/>
              </a:ext>
            </a:extLst>
          </p:cNvPr>
          <p:cNvSpPr/>
          <p:nvPr/>
        </p:nvSpPr>
        <p:spPr>
          <a:xfrm>
            <a:off x="3721991" y="5628476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حدث يعتمد على السابق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21" name="Picture 6" descr="tree_icon.png">
            <a:extLst>
              <a:ext uri="{FF2B5EF4-FFF2-40B4-BE49-F238E27FC236}">
                <a16:creationId xmlns:a16="http://schemas.microsoft.com/office/drawing/2014/main" id="{DF6A9933-493C-4769-4DBA-DE150752D61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5241173" y="1616346"/>
            <a:ext cx="2194560" cy="14630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79921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02B22-0CFE-76AB-3BC3-EE2F117B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382870-1FAD-472D-DE9D-D500ECFA6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1FB0EA-FF49-5B2A-36DF-580DB1B60519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الأمان والوثوقية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307D1A-1EC0-67D0-B5A1-93DEE2721095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6B39E1-5EF5-4E52-2262-EB25BC54B85C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E9892-5BF9-1941-25ED-BCF05F893676}"/>
              </a:ext>
            </a:extLst>
          </p:cNvPr>
          <p:cNvSpPr txBox="1"/>
          <p:nvPr/>
        </p:nvSpPr>
        <p:spPr>
          <a:xfrm>
            <a:off x="4550495" y="866328"/>
            <a:ext cx="7291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الخطوة الثانية: بناء شجرة ميركل فوق السلسلة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5618950E-D3F8-1B1D-ECB4-D27677A5CC08}"/>
              </a:ext>
            </a:extLst>
          </p:cNvPr>
          <p:cNvSpPr/>
          <p:nvPr/>
        </p:nvSpPr>
        <p:spPr>
          <a:xfrm>
            <a:off x="8470197" y="523378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=0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sp>
        <p:nvSpPr>
          <p:cNvPr id="43" name="Left Arrow 13">
            <a:extLst>
              <a:ext uri="{FF2B5EF4-FFF2-40B4-BE49-F238E27FC236}">
                <a16:creationId xmlns:a16="http://schemas.microsoft.com/office/drawing/2014/main" id="{46466146-C8DC-2856-BAE1-71983F49F157}"/>
              </a:ext>
            </a:extLst>
          </p:cNvPr>
          <p:cNvSpPr/>
          <p:nvPr/>
        </p:nvSpPr>
        <p:spPr>
          <a:xfrm>
            <a:off x="796727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Left Arrow 14">
            <a:extLst>
              <a:ext uri="{FF2B5EF4-FFF2-40B4-BE49-F238E27FC236}">
                <a16:creationId xmlns:a16="http://schemas.microsoft.com/office/drawing/2014/main" id="{9F8334B2-1A89-FB3C-0805-A04A5A0B80DB}"/>
              </a:ext>
            </a:extLst>
          </p:cNvPr>
          <p:cNvSpPr/>
          <p:nvPr/>
        </p:nvSpPr>
        <p:spPr>
          <a:xfrm>
            <a:off x="604703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Left Arrow 15">
            <a:extLst>
              <a:ext uri="{FF2B5EF4-FFF2-40B4-BE49-F238E27FC236}">
                <a16:creationId xmlns:a16="http://schemas.microsoft.com/office/drawing/2014/main" id="{91EF8C5C-E615-B77C-CE09-2001F94DB95E}"/>
              </a:ext>
            </a:extLst>
          </p:cNvPr>
          <p:cNvSpPr/>
          <p:nvPr/>
        </p:nvSpPr>
        <p:spPr>
          <a:xfrm>
            <a:off x="412679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D2A383E9-EBA5-D6C7-B4F8-3FD49583F044}"/>
              </a:ext>
            </a:extLst>
          </p:cNvPr>
          <p:cNvSpPr/>
          <p:nvPr/>
        </p:nvSpPr>
        <p:spPr>
          <a:xfrm>
            <a:off x="6459498" y="522886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2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H1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H2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91FBCA37-2C04-59C7-144B-DD64DB0D9947}"/>
              </a:ext>
            </a:extLst>
          </p:cNvPr>
          <p:cNvSpPr/>
          <p:nvPr/>
        </p:nvSpPr>
        <p:spPr>
          <a:xfrm>
            <a:off x="2570830" y="5233788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4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H4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9" name="Rounded Rectangle 8">
            <a:extLst>
              <a:ext uri="{FF2B5EF4-FFF2-40B4-BE49-F238E27FC236}">
                <a16:creationId xmlns:a16="http://schemas.microsoft.com/office/drawing/2014/main" id="{58AD9CDB-82F9-C042-5CC7-E5A0834E811E}"/>
              </a:ext>
            </a:extLst>
          </p:cNvPr>
          <p:cNvSpPr/>
          <p:nvPr/>
        </p:nvSpPr>
        <p:spPr>
          <a:xfrm>
            <a:off x="4555690" y="5234276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H2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H3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7" name="Picture 6" descr="chain_icon.png">
            <a:extLst>
              <a:ext uri="{FF2B5EF4-FFF2-40B4-BE49-F238E27FC236}">
                <a16:creationId xmlns:a16="http://schemas.microsoft.com/office/drawing/2014/main" id="{C9A1CC78-0948-1E1C-3FE8-CF6CB71B4A2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-7531863" y="-1229360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Left Arrow 15">
            <a:extLst>
              <a:ext uri="{FF2B5EF4-FFF2-40B4-BE49-F238E27FC236}">
                <a16:creationId xmlns:a16="http://schemas.microsoft.com/office/drawing/2014/main" id="{41357A6B-716A-B6BA-BE3C-B8A89D18B187}"/>
              </a:ext>
            </a:extLst>
          </p:cNvPr>
          <p:cNvSpPr/>
          <p:nvPr/>
        </p:nvSpPr>
        <p:spPr>
          <a:xfrm>
            <a:off x="-4406240" y="4039656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A01C08E2-7746-62A8-2120-ED2EDEFED376}"/>
              </a:ext>
            </a:extLst>
          </p:cNvPr>
          <p:cNvSpPr/>
          <p:nvPr/>
        </p:nvSpPr>
        <p:spPr>
          <a:xfrm>
            <a:off x="-6045783" y="370487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</a:t>
            </a: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n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– Hn-1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 err="1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B1030136-CF91-ADCF-4265-FCABE094F1FC}"/>
              </a:ext>
            </a:extLst>
          </p:cNvPr>
          <p:cNvSpPr/>
          <p:nvPr/>
        </p:nvSpPr>
        <p:spPr>
          <a:xfrm>
            <a:off x="1780835" y="9421837"/>
            <a:ext cx="4754520" cy="63972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= SHA-256(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event_n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+ 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previous_hash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3D3E04CB-2AC9-3372-4F2D-F733A7149B0C}"/>
              </a:ext>
            </a:extLst>
          </p:cNvPr>
          <p:cNvSpPr/>
          <p:nvPr/>
        </p:nvSpPr>
        <p:spPr>
          <a:xfrm>
            <a:off x="5301275" y="10336237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تعديل أي حدث يكسر السلسلة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D9791D67-4ED1-5EE1-8CA3-4E1B4B33CE8F}"/>
              </a:ext>
            </a:extLst>
          </p:cNvPr>
          <p:cNvSpPr/>
          <p:nvPr/>
        </p:nvSpPr>
        <p:spPr>
          <a:xfrm>
            <a:off x="1845226" y="10341153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حدث يعتمد على السابق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21" name="Picture 6" descr="tree_icon.png">
            <a:extLst>
              <a:ext uri="{FF2B5EF4-FFF2-40B4-BE49-F238E27FC236}">
                <a16:creationId xmlns:a16="http://schemas.microsoft.com/office/drawing/2014/main" id="{48C0E0D6-22F0-FF99-4066-5000EDC69CF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249200" y="284017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19AD435-E9A8-5048-949D-447C65C770C5}"/>
              </a:ext>
            </a:extLst>
          </p:cNvPr>
          <p:cNvSpPr/>
          <p:nvPr/>
        </p:nvSpPr>
        <p:spPr>
          <a:xfrm>
            <a:off x="7414137" y="3519870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12</a:t>
            </a:r>
          </a:p>
          <a:p>
            <a:pPr algn="ctr" defTabSz="914400" rtl="1">
              <a:lnSpc>
                <a:spcPct val="100000"/>
              </a:lnSpc>
            </a:pPr>
            <a:r>
              <a:rPr lang="ar-SY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F5542FE6-90D9-17B6-2036-0C735AF1E8CD}"/>
              </a:ext>
            </a:extLst>
          </p:cNvPr>
          <p:cNvSpPr/>
          <p:nvPr/>
        </p:nvSpPr>
        <p:spPr>
          <a:xfrm>
            <a:off x="3583817" y="3508558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34</a:t>
            </a:r>
            <a:endParaRPr lang="en-US" sz="105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H34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3D427E7B-EB57-F010-09B7-3F40C8F8354B}"/>
              </a:ext>
            </a:extLst>
          </p:cNvPr>
          <p:cNvCxnSpPr>
            <a:cxnSpLocks/>
            <a:stCxn id="9" idx="2"/>
            <a:endCxn id="33" idx="0"/>
          </p:cNvCxnSpPr>
          <p:nvPr/>
        </p:nvCxnSpPr>
        <p:spPr>
          <a:xfrm>
            <a:off x="8122617" y="4433910"/>
            <a:ext cx="1056060" cy="799874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3" name="Connector 15">
            <a:extLst>
              <a:ext uri="{FF2B5EF4-FFF2-40B4-BE49-F238E27FC236}">
                <a16:creationId xmlns:a16="http://schemas.microsoft.com/office/drawing/2014/main" id="{41B5E215-F120-800B-EF0A-F10E3BC15AE5}"/>
              </a:ext>
            </a:extLst>
          </p:cNvPr>
          <p:cNvCxnSpPr>
            <a:cxnSpLocks/>
            <a:stCxn id="9" idx="2"/>
            <a:endCxn id="55" idx="0"/>
          </p:cNvCxnSpPr>
          <p:nvPr/>
        </p:nvCxnSpPr>
        <p:spPr>
          <a:xfrm flipH="1">
            <a:off x="7167978" y="4433910"/>
            <a:ext cx="954639" cy="794959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8" name="Connector 15">
            <a:extLst>
              <a:ext uri="{FF2B5EF4-FFF2-40B4-BE49-F238E27FC236}">
                <a16:creationId xmlns:a16="http://schemas.microsoft.com/office/drawing/2014/main" id="{512F3F65-0FD6-9F94-53F3-96571D94BF43}"/>
              </a:ext>
            </a:extLst>
          </p:cNvPr>
          <p:cNvCxnSpPr>
            <a:cxnSpLocks/>
            <a:stCxn id="13" idx="2"/>
            <a:endCxn id="59" idx="0"/>
          </p:cNvCxnSpPr>
          <p:nvPr/>
        </p:nvCxnSpPr>
        <p:spPr>
          <a:xfrm>
            <a:off x="4292297" y="4422598"/>
            <a:ext cx="971873" cy="811678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9" name="Connector 15">
            <a:extLst>
              <a:ext uri="{FF2B5EF4-FFF2-40B4-BE49-F238E27FC236}">
                <a16:creationId xmlns:a16="http://schemas.microsoft.com/office/drawing/2014/main" id="{92FD6B9E-CF31-6E72-9F14-5F1A5BDD037B}"/>
              </a:ext>
            </a:extLst>
          </p:cNvPr>
          <p:cNvCxnSpPr>
            <a:cxnSpLocks/>
            <a:stCxn id="13" idx="2"/>
            <a:endCxn id="57" idx="0"/>
          </p:cNvCxnSpPr>
          <p:nvPr/>
        </p:nvCxnSpPr>
        <p:spPr>
          <a:xfrm flipH="1">
            <a:off x="3279310" y="4422598"/>
            <a:ext cx="1012987" cy="811190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241C3248-5E83-BF23-2D16-43A4DEEFC16B}"/>
              </a:ext>
            </a:extLst>
          </p:cNvPr>
          <p:cNvSpPr/>
          <p:nvPr/>
        </p:nvSpPr>
        <p:spPr>
          <a:xfrm>
            <a:off x="5390052" y="183042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</a:t>
            </a: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1234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34</a:t>
            </a:r>
            <a:r>
              <a:rPr lang="ar-SY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cxnSp>
        <p:nvCxnSpPr>
          <p:cNvPr id="41" name="Connector 15">
            <a:extLst>
              <a:ext uri="{FF2B5EF4-FFF2-40B4-BE49-F238E27FC236}">
                <a16:creationId xmlns:a16="http://schemas.microsoft.com/office/drawing/2014/main" id="{BFB733DF-DDCC-5B05-A0CD-E29C4D1E0D5D}"/>
              </a:ext>
            </a:extLst>
          </p:cNvPr>
          <p:cNvCxnSpPr>
            <a:cxnSpLocks/>
            <a:stCxn id="40" idx="2"/>
            <a:endCxn id="13" idx="0"/>
          </p:cNvCxnSpPr>
          <p:nvPr/>
        </p:nvCxnSpPr>
        <p:spPr>
          <a:xfrm flipH="1">
            <a:off x="4292297" y="2744469"/>
            <a:ext cx="1806235" cy="764089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42" name="Connector 15">
            <a:extLst>
              <a:ext uri="{FF2B5EF4-FFF2-40B4-BE49-F238E27FC236}">
                <a16:creationId xmlns:a16="http://schemas.microsoft.com/office/drawing/2014/main" id="{F9FF7600-9CC8-4042-3096-A64A695000CD}"/>
              </a:ext>
            </a:extLst>
          </p:cNvPr>
          <p:cNvCxnSpPr>
            <a:cxnSpLocks/>
            <a:stCxn id="40" idx="2"/>
            <a:endCxn id="9" idx="0"/>
          </p:cNvCxnSpPr>
          <p:nvPr/>
        </p:nvCxnSpPr>
        <p:spPr>
          <a:xfrm>
            <a:off x="6098532" y="2744469"/>
            <a:ext cx="2024085" cy="775401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B38227C0-09B9-F75E-EE05-A1CA52A80E0D}"/>
              </a:ext>
            </a:extLst>
          </p:cNvPr>
          <p:cNvSpPr/>
          <p:nvPr/>
        </p:nvSpPr>
        <p:spPr>
          <a:xfrm flipH="1">
            <a:off x="7110574" y="1834035"/>
            <a:ext cx="2193576" cy="830997"/>
          </a:xfrm>
          <a:prstGeom prst="rightArrow">
            <a:avLst/>
          </a:prstGeom>
          <a:solidFill>
            <a:srgbClr val="0A4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Merkle Root</a:t>
            </a:r>
          </a:p>
        </p:txBody>
      </p:sp>
      <p:pic>
        <p:nvPicPr>
          <p:cNvPr id="54" name="Picture 6" descr="image.png">
            <a:extLst>
              <a:ext uri="{FF2B5EF4-FFF2-40B4-BE49-F238E27FC236}">
                <a16:creationId xmlns:a16="http://schemas.microsoft.com/office/drawing/2014/main" id="{D0F41BD6-4129-489C-B028-1E217801B6D3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13134041" y="1121762"/>
            <a:ext cx="2194560" cy="14630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637006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EFB4-5BAE-76E7-4CD6-104B5F75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58A304-483F-D58E-7C62-36E1C759C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8169D3-F50A-21C1-E9EA-313CF68DBEE3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الأمان والوثوقية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CADE9B-5A5D-9D96-41B0-30BD22CD5647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74FDD9-CA2C-7E8C-8B0A-58522E1BDD5A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0F031-9929-8915-FFB0-7ED2DD0C67F8}"/>
              </a:ext>
            </a:extLst>
          </p:cNvPr>
          <p:cNvSpPr txBox="1"/>
          <p:nvPr/>
        </p:nvSpPr>
        <p:spPr>
          <a:xfrm>
            <a:off x="4550495" y="866328"/>
            <a:ext cx="7291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الخطوة الثالثة: إنشاء النقطة العلام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F2071AF1-DB0C-F202-330F-3D6ED85C9094}"/>
              </a:ext>
            </a:extLst>
          </p:cNvPr>
          <p:cNvSpPr/>
          <p:nvPr/>
        </p:nvSpPr>
        <p:spPr>
          <a:xfrm>
            <a:off x="8470197" y="523378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=0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sp>
        <p:nvSpPr>
          <p:cNvPr id="43" name="Left Arrow 13">
            <a:extLst>
              <a:ext uri="{FF2B5EF4-FFF2-40B4-BE49-F238E27FC236}">
                <a16:creationId xmlns:a16="http://schemas.microsoft.com/office/drawing/2014/main" id="{DBBA503E-54F9-E064-EB43-74325B1450FB}"/>
              </a:ext>
            </a:extLst>
          </p:cNvPr>
          <p:cNvSpPr/>
          <p:nvPr/>
        </p:nvSpPr>
        <p:spPr>
          <a:xfrm>
            <a:off x="796727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Left Arrow 14">
            <a:extLst>
              <a:ext uri="{FF2B5EF4-FFF2-40B4-BE49-F238E27FC236}">
                <a16:creationId xmlns:a16="http://schemas.microsoft.com/office/drawing/2014/main" id="{F3480146-B27C-A8DA-32A6-AF3E6D263D7C}"/>
              </a:ext>
            </a:extLst>
          </p:cNvPr>
          <p:cNvSpPr/>
          <p:nvPr/>
        </p:nvSpPr>
        <p:spPr>
          <a:xfrm>
            <a:off x="604703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Left Arrow 15">
            <a:extLst>
              <a:ext uri="{FF2B5EF4-FFF2-40B4-BE49-F238E27FC236}">
                <a16:creationId xmlns:a16="http://schemas.microsoft.com/office/drawing/2014/main" id="{DF908729-0DDA-F5C8-40F5-DFAB53996610}"/>
              </a:ext>
            </a:extLst>
          </p:cNvPr>
          <p:cNvSpPr/>
          <p:nvPr/>
        </p:nvSpPr>
        <p:spPr>
          <a:xfrm>
            <a:off x="412679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27980E8B-82C2-BF53-6E17-5A8DA0022976}"/>
              </a:ext>
            </a:extLst>
          </p:cNvPr>
          <p:cNvSpPr/>
          <p:nvPr/>
        </p:nvSpPr>
        <p:spPr>
          <a:xfrm>
            <a:off x="6459498" y="522886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2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H1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H2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F14302DB-2116-A661-8732-5A5FD93FD981}"/>
              </a:ext>
            </a:extLst>
          </p:cNvPr>
          <p:cNvSpPr/>
          <p:nvPr/>
        </p:nvSpPr>
        <p:spPr>
          <a:xfrm>
            <a:off x="2570830" y="5233788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4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H4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9" name="Rounded Rectangle 8">
            <a:extLst>
              <a:ext uri="{FF2B5EF4-FFF2-40B4-BE49-F238E27FC236}">
                <a16:creationId xmlns:a16="http://schemas.microsoft.com/office/drawing/2014/main" id="{08073D00-372C-7BC8-EE10-58E46D18E30D}"/>
              </a:ext>
            </a:extLst>
          </p:cNvPr>
          <p:cNvSpPr/>
          <p:nvPr/>
        </p:nvSpPr>
        <p:spPr>
          <a:xfrm>
            <a:off x="4555690" y="5234276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H2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H3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7" name="Picture 6" descr="chain_icon.png">
            <a:extLst>
              <a:ext uri="{FF2B5EF4-FFF2-40B4-BE49-F238E27FC236}">
                <a16:creationId xmlns:a16="http://schemas.microsoft.com/office/drawing/2014/main" id="{BD111A79-3F1C-419B-1A16-CCC3CA74A8C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-7531863" y="-1229360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Left Arrow 15">
            <a:extLst>
              <a:ext uri="{FF2B5EF4-FFF2-40B4-BE49-F238E27FC236}">
                <a16:creationId xmlns:a16="http://schemas.microsoft.com/office/drawing/2014/main" id="{FB83F633-2901-A823-77CE-4621DC83371D}"/>
              </a:ext>
            </a:extLst>
          </p:cNvPr>
          <p:cNvSpPr/>
          <p:nvPr/>
        </p:nvSpPr>
        <p:spPr>
          <a:xfrm>
            <a:off x="-4406240" y="4039656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C7F0BDEF-D302-5076-7FEF-EC38AEF1DE4F}"/>
              </a:ext>
            </a:extLst>
          </p:cNvPr>
          <p:cNvSpPr/>
          <p:nvPr/>
        </p:nvSpPr>
        <p:spPr>
          <a:xfrm>
            <a:off x="-6045783" y="370487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</a:t>
            </a: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n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– Hn-1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 err="1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A00F8049-2A70-3F8C-9F33-8F044F34F6F7}"/>
              </a:ext>
            </a:extLst>
          </p:cNvPr>
          <p:cNvSpPr/>
          <p:nvPr/>
        </p:nvSpPr>
        <p:spPr>
          <a:xfrm>
            <a:off x="1780835" y="9421837"/>
            <a:ext cx="4754520" cy="63972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= SHA-256(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event_n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+ 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previous_hash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A84F3E36-FFF1-ACFD-CCA6-31166010C52A}"/>
              </a:ext>
            </a:extLst>
          </p:cNvPr>
          <p:cNvSpPr/>
          <p:nvPr/>
        </p:nvSpPr>
        <p:spPr>
          <a:xfrm>
            <a:off x="5301275" y="10336237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تعديل أي حدث يكسر السلسلة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F302BC12-833D-65D5-5169-87BC160774A1}"/>
              </a:ext>
            </a:extLst>
          </p:cNvPr>
          <p:cNvSpPr/>
          <p:nvPr/>
        </p:nvSpPr>
        <p:spPr>
          <a:xfrm>
            <a:off x="1845226" y="10341153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حدث يعتمد على السابق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21" name="Picture 6" descr="tree_icon.png">
            <a:extLst>
              <a:ext uri="{FF2B5EF4-FFF2-40B4-BE49-F238E27FC236}">
                <a16:creationId xmlns:a16="http://schemas.microsoft.com/office/drawing/2014/main" id="{9559DA09-48EF-8A7A-72B8-287E5F8DBA6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249200" y="284017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1C5A45-99B0-1B7C-728E-6200ECAF0926}"/>
              </a:ext>
            </a:extLst>
          </p:cNvPr>
          <p:cNvSpPr/>
          <p:nvPr/>
        </p:nvSpPr>
        <p:spPr>
          <a:xfrm>
            <a:off x="7414137" y="3519870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12</a:t>
            </a:r>
          </a:p>
          <a:p>
            <a:pPr algn="ctr" defTabSz="914400" rtl="1">
              <a:lnSpc>
                <a:spcPct val="100000"/>
              </a:lnSpc>
            </a:pPr>
            <a:r>
              <a:rPr lang="ar-SY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9FA04167-5278-EEAB-91BB-51029390849F}"/>
              </a:ext>
            </a:extLst>
          </p:cNvPr>
          <p:cNvSpPr/>
          <p:nvPr/>
        </p:nvSpPr>
        <p:spPr>
          <a:xfrm>
            <a:off x="3583817" y="3508558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34</a:t>
            </a:r>
            <a:endParaRPr lang="en-US" sz="105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H34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E6F90019-44FA-C552-D81F-1A9DD3D0F896}"/>
              </a:ext>
            </a:extLst>
          </p:cNvPr>
          <p:cNvCxnSpPr>
            <a:cxnSpLocks/>
            <a:stCxn id="9" idx="2"/>
            <a:endCxn id="33" idx="0"/>
          </p:cNvCxnSpPr>
          <p:nvPr/>
        </p:nvCxnSpPr>
        <p:spPr>
          <a:xfrm>
            <a:off x="8122617" y="4433910"/>
            <a:ext cx="1056060" cy="799874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3" name="Connector 15">
            <a:extLst>
              <a:ext uri="{FF2B5EF4-FFF2-40B4-BE49-F238E27FC236}">
                <a16:creationId xmlns:a16="http://schemas.microsoft.com/office/drawing/2014/main" id="{E4BC6E36-8FEF-4D6C-7BB1-ACE63E1456C4}"/>
              </a:ext>
            </a:extLst>
          </p:cNvPr>
          <p:cNvCxnSpPr>
            <a:cxnSpLocks/>
            <a:stCxn id="9" idx="2"/>
            <a:endCxn id="55" idx="0"/>
          </p:cNvCxnSpPr>
          <p:nvPr/>
        </p:nvCxnSpPr>
        <p:spPr>
          <a:xfrm flipH="1">
            <a:off x="7167978" y="4433910"/>
            <a:ext cx="954639" cy="794959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8" name="Connector 15">
            <a:extLst>
              <a:ext uri="{FF2B5EF4-FFF2-40B4-BE49-F238E27FC236}">
                <a16:creationId xmlns:a16="http://schemas.microsoft.com/office/drawing/2014/main" id="{F12E23C1-2599-5653-951F-2FEEB2C9E80A}"/>
              </a:ext>
            </a:extLst>
          </p:cNvPr>
          <p:cNvCxnSpPr>
            <a:cxnSpLocks/>
            <a:stCxn id="13" idx="2"/>
            <a:endCxn id="59" idx="0"/>
          </p:cNvCxnSpPr>
          <p:nvPr/>
        </p:nvCxnSpPr>
        <p:spPr>
          <a:xfrm>
            <a:off x="4292297" y="4422598"/>
            <a:ext cx="971873" cy="811678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9" name="Connector 15">
            <a:extLst>
              <a:ext uri="{FF2B5EF4-FFF2-40B4-BE49-F238E27FC236}">
                <a16:creationId xmlns:a16="http://schemas.microsoft.com/office/drawing/2014/main" id="{D3D52A54-5AE1-1C61-9EBF-254578F51C30}"/>
              </a:ext>
            </a:extLst>
          </p:cNvPr>
          <p:cNvCxnSpPr>
            <a:cxnSpLocks/>
            <a:stCxn id="13" idx="2"/>
            <a:endCxn id="57" idx="0"/>
          </p:cNvCxnSpPr>
          <p:nvPr/>
        </p:nvCxnSpPr>
        <p:spPr>
          <a:xfrm flipH="1">
            <a:off x="3279310" y="4422598"/>
            <a:ext cx="1012987" cy="811190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88D2C122-43B9-0CCE-DF17-15F3693601AF}"/>
              </a:ext>
            </a:extLst>
          </p:cNvPr>
          <p:cNvSpPr/>
          <p:nvPr/>
        </p:nvSpPr>
        <p:spPr>
          <a:xfrm>
            <a:off x="5390052" y="183042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</a:t>
            </a: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1234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34</a:t>
            </a:r>
            <a:r>
              <a:rPr lang="ar-SY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cxnSp>
        <p:nvCxnSpPr>
          <p:cNvPr id="41" name="Connector 15">
            <a:extLst>
              <a:ext uri="{FF2B5EF4-FFF2-40B4-BE49-F238E27FC236}">
                <a16:creationId xmlns:a16="http://schemas.microsoft.com/office/drawing/2014/main" id="{72A001AA-5030-BA38-DC3B-F71772FBA183}"/>
              </a:ext>
            </a:extLst>
          </p:cNvPr>
          <p:cNvCxnSpPr>
            <a:cxnSpLocks/>
            <a:stCxn id="40" idx="2"/>
            <a:endCxn id="13" idx="0"/>
          </p:cNvCxnSpPr>
          <p:nvPr/>
        </p:nvCxnSpPr>
        <p:spPr>
          <a:xfrm flipH="1">
            <a:off x="4292297" y="2744469"/>
            <a:ext cx="1806235" cy="764089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42" name="Connector 15">
            <a:extLst>
              <a:ext uri="{FF2B5EF4-FFF2-40B4-BE49-F238E27FC236}">
                <a16:creationId xmlns:a16="http://schemas.microsoft.com/office/drawing/2014/main" id="{DF89C885-895C-73AD-4AFA-AE7D88306F48}"/>
              </a:ext>
            </a:extLst>
          </p:cNvPr>
          <p:cNvCxnSpPr>
            <a:cxnSpLocks/>
            <a:stCxn id="40" idx="2"/>
            <a:endCxn id="9" idx="0"/>
          </p:cNvCxnSpPr>
          <p:nvPr/>
        </p:nvCxnSpPr>
        <p:spPr>
          <a:xfrm>
            <a:off x="6098532" y="2744469"/>
            <a:ext cx="2024085" cy="775401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1815412-63DD-0557-01C4-601FA35E0DD5}"/>
              </a:ext>
            </a:extLst>
          </p:cNvPr>
          <p:cNvSpPr/>
          <p:nvPr/>
        </p:nvSpPr>
        <p:spPr>
          <a:xfrm flipH="1">
            <a:off x="3278342" y="1871950"/>
            <a:ext cx="1806235" cy="830997"/>
          </a:xfrm>
          <a:prstGeom prst="rightArrow">
            <a:avLst/>
          </a:prstGeom>
          <a:solidFill>
            <a:srgbClr val="0A4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SHA-256</a:t>
            </a:r>
          </a:p>
        </p:txBody>
      </p:sp>
      <p:pic>
        <p:nvPicPr>
          <p:cNvPr id="54" name="Picture 6" descr="image.png">
            <a:extLst>
              <a:ext uri="{FF2B5EF4-FFF2-40B4-BE49-F238E27FC236}">
                <a16:creationId xmlns:a16="http://schemas.microsoft.com/office/drawing/2014/main" id="{432A6B76-0916-18AD-F119-F91A8BF8E6CF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13134041" y="1121762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986FFE72-34EC-673C-8519-09FE016CEBA7}"/>
              </a:ext>
            </a:extLst>
          </p:cNvPr>
          <p:cNvSpPr/>
          <p:nvPr/>
        </p:nvSpPr>
        <p:spPr>
          <a:xfrm>
            <a:off x="7888491" y="1830428"/>
            <a:ext cx="1660922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Checkpoint</a:t>
            </a:r>
            <a:endParaRPr lang="en-US" sz="105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 = null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6C278763-E9CC-8598-8B99-B2F5073437D6}"/>
              </a:ext>
            </a:extLst>
          </p:cNvPr>
          <p:cNvSpPr/>
          <p:nvPr/>
        </p:nvSpPr>
        <p:spPr>
          <a:xfrm>
            <a:off x="7110574" y="2050408"/>
            <a:ext cx="584314" cy="593164"/>
          </a:xfrm>
          <a:prstGeom prst="mathPlus">
            <a:avLst/>
          </a:prstGeom>
          <a:solidFill>
            <a:srgbClr val="385F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BF0F33BD-8870-A963-86C7-2D02684BDAF4}"/>
              </a:ext>
            </a:extLst>
          </p:cNvPr>
          <p:cNvSpPr/>
          <p:nvPr/>
        </p:nvSpPr>
        <p:spPr>
          <a:xfrm>
            <a:off x="1171489" y="1843931"/>
            <a:ext cx="1806235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Checkpoint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204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DF26C-DAC3-2C20-F0A8-F2ED65FE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88397-C32D-4EF4-E5C5-F304CD2C1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6F5B0B-FA5C-CAE7-D5BC-A5BBF52FB59F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الأمان والوثوقية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EB6665-7E02-F29B-4D40-578BC6B2C998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712DB6-EE7F-2B5D-7F4E-023569CDBDC9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F2865-724E-FD4E-9758-9243A20B9C5D}"/>
              </a:ext>
            </a:extLst>
          </p:cNvPr>
          <p:cNvSpPr txBox="1"/>
          <p:nvPr/>
        </p:nvSpPr>
        <p:spPr>
          <a:xfrm>
            <a:off x="4550495" y="866328"/>
            <a:ext cx="7291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الخطوة الرابعة: توقيع النقطة العلام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51338B50-2D22-62B4-B796-0BCE835258D5}"/>
              </a:ext>
            </a:extLst>
          </p:cNvPr>
          <p:cNvSpPr/>
          <p:nvPr/>
        </p:nvSpPr>
        <p:spPr>
          <a:xfrm>
            <a:off x="8470197" y="523378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=0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sp>
        <p:nvSpPr>
          <p:cNvPr id="43" name="Left Arrow 13">
            <a:extLst>
              <a:ext uri="{FF2B5EF4-FFF2-40B4-BE49-F238E27FC236}">
                <a16:creationId xmlns:a16="http://schemas.microsoft.com/office/drawing/2014/main" id="{586B9D4C-2EBB-BB29-A0A3-71D42043AF5D}"/>
              </a:ext>
            </a:extLst>
          </p:cNvPr>
          <p:cNvSpPr/>
          <p:nvPr/>
        </p:nvSpPr>
        <p:spPr>
          <a:xfrm>
            <a:off x="796727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5" name="Left Arrow 14">
            <a:extLst>
              <a:ext uri="{FF2B5EF4-FFF2-40B4-BE49-F238E27FC236}">
                <a16:creationId xmlns:a16="http://schemas.microsoft.com/office/drawing/2014/main" id="{7EE952D3-FB6B-48A8-9068-5A7ED7FC8C24}"/>
              </a:ext>
            </a:extLst>
          </p:cNvPr>
          <p:cNvSpPr/>
          <p:nvPr/>
        </p:nvSpPr>
        <p:spPr>
          <a:xfrm>
            <a:off x="604703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7" name="Left Arrow 15">
            <a:extLst>
              <a:ext uri="{FF2B5EF4-FFF2-40B4-BE49-F238E27FC236}">
                <a16:creationId xmlns:a16="http://schemas.microsoft.com/office/drawing/2014/main" id="{E589DFD6-5BD7-0438-31FA-DF5327E3DC72}"/>
              </a:ext>
            </a:extLst>
          </p:cNvPr>
          <p:cNvSpPr/>
          <p:nvPr/>
        </p:nvSpPr>
        <p:spPr>
          <a:xfrm>
            <a:off x="4126797" y="5553824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552CE053-335F-6583-8FBB-61BCCCF0DC8A}"/>
              </a:ext>
            </a:extLst>
          </p:cNvPr>
          <p:cNvSpPr/>
          <p:nvPr/>
        </p:nvSpPr>
        <p:spPr>
          <a:xfrm>
            <a:off x="6459498" y="522886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2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H1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H2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FDD1F4C7-BAD1-53CA-6027-D06E140298EC}"/>
              </a:ext>
            </a:extLst>
          </p:cNvPr>
          <p:cNvSpPr/>
          <p:nvPr/>
        </p:nvSpPr>
        <p:spPr>
          <a:xfrm>
            <a:off x="2570830" y="5233788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4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H4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9" name="Rounded Rectangle 8">
            <a:extLst>
              <a:ext uri="{FF2B5EF4-FFF2-40B4-BE49-F238E27FC236}">
                <a16:creationId xmlns:a16="http://schemas.microsoft.com/office/drawing/2014/main" id="{5ED9D1BD-6204-D5D1-1F4B-E1A966413BC5}"/>
              </a:ext>
            </a:extLst>
          </p:cNvPr>
          <p:cNvSpPr/>
          <p:nvPr/>
        </p:nvSpPr>
        <p:spPr>
          <a:xfrm>
            <a:off x="4555690" y="5234276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3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= H2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H3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7" name="Picture 6" descr="chain_icon.png">
            <a:extLst>
              <a:ext uri="{FF2B5EF4-FFF2-40B4-BE49-F238E27FC236}">
                <a16:creationId xmlns:a16="http://schemas.microsoft.com/office/drawing/2014/main" id="{52FAC11B-05E6-AD7C-4A72-CFA7F892827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-7531863" y="-1229360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Left Arrow 15">
            <a:extLst>
              <a:ext uri="{FF2B5EF4-FFF2-40B4-BE49-F238E27FC236}">
                <a16:creationId xmlns:a16="http://schemas.microsoft.com/office/drawing/2014/main" id="{73D4C072-DC70-561E-BFAC-2FF14F53D222}"/>
              </a:ext>
            </a:extLst>
          </p:cNvPr>
          <p:cNvSpPr/>
          <p:nvPr/>
        </p:nvSpPr>
        <p:spPr>
          <a:xfrm>
            <a:off x="-4406240" y="4039656"/>
            <a:ext cx="310680" cy="2192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5C53"/>
          </a:solidFill>
          <a:ln>
            <a:solidFill>
              <a:srgbClr val="00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48B818BC-655A-A242-D840-3AC9698EFA42}"/>
              </a:ext>
            </a:extLst>
          </p:cNvPr>
          <p:cNvSpPr/>
          <p:nvPr/>
        </p:nvSpPr>
        <p:spPr>
          <a:xfrm>
            <a:off x="-6045783" y="3704874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</a:t>
            </a: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n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385F58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– Hn-1</a:t>
            </a: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 err="1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endParaRPr lang="en-US" sz="1050" b="1" u="none" strike="noStrike" dirty="0">
              <a:solidFill>
                <a:srgbClr val="385F58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E5DEE21B-7570-7AFA-F222-5121956659D9}"/>
              </a:ext>
            </a:extLst>
          </p:cNvPr>
          <p:cNvSpPr/>
          <p:nvPr/>
        </p:nvSpPr>
        <p:spPr>
          <a:xfrm>
            <a:off x="1780835" y="9421837"/>
            <a:ext cx="4754520" cy="63972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Hn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= SHA-256(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event_n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+ </a:t>
            </a:r>
            <a:r>
              <a:rPr lang="en-US" sz="1800" b="1" u="none" strike="noStrike" dirty="0" err="1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previous_hash</a:t>
            </a:r>
            <a:r>
              <a:rPr lang="en-US" sz="1800" b="1" u="none" strike="noStrike" dirty="0">
                <a:solidFill>
                  <a:srgbClr val="005C53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74F3B962-C601-0F2C-BDC5-3E33B735D5F8}"/>
              </a:ext>
            </a:extLst>
          </p:cNvPr>
          <p:cNvSpPr/>
          <p:nvPr/>
        </p:nvSpPr>
        <p:spPr>
          <a:xfrm>
            <a:off x="5301275" y="10336237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تعديل أي حدث يكسر السلسلة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C9DD3862-23C8-6165-1FA6-C3752AC834F9}"/>
              </a:ext>
            </a:extLst>
          </p:cNvPr>
          <p:cNvSpPr/>
          <p:nvPr/>
        </p:nvSpPr>
        <p:spPr>
          <a:xfrm>
            <a:off x="1845226" y="10341153"/>
            <a:ext cx="30628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حدث يعتمد على السابق</a:t>
            </a:r>
            <a:endParaRPr lang="en-US" sz="1800" b="0" u="none" strike="noStrike" dirty="0">
              <a:solidFill>
                <a:sysClr val="windowText" lastClr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21" name="Picture 6" descr="tree_icon.png">
            <a:extLst>
              <a:ext uri="{FF2B5EF4-FFF2-40B4-BE49-F238E27FC236}">
                <a16:creationId xmlns:a16="http://schemas.microsoft.com/office/drawing/2014/main" id="{B079320D-56BA-6AEB-6496-DE13AD37E65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-6475790" y="550306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425E895-BDE2-314F-2E98-2F9815D4C372}"/>
              </a:ext>
            </a:extLst>
          </p:cNvPr>
          <p:cNvSpPr/>
          <p:nvPr/>
        </p:nvSpPr>
        <p:spPr>
          <a:xfrm>
            <a:off x="7414137" y="3519870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12</a:t>
            </a:r>
          </a:p>
          <a:p>
            <a:pPr algn="ctr" defTabSz="914400" rtl="1">
              <a:lnSpc>
                <a:spcPct val="100000"/>
              </a:lnSpc>
            </a:pPr>
            <a:r>
              <a:rPr lang="ar-SY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DE7AD0D8-1851-987B-CEE7-C1E14D43ECAD}"/>
              </a:ext>
            </a:extLst>
          </p:cNvPr>
          <p:cNvSpPr/>
          <p:nvPr/>
        </p:nvSpPr>
        <p:spPr>
          <a:xfrm>
            <a:off x="3583817" y="3508558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34</a:t>
            </a:r>
            <a:endParaRPr lang="en-US" sz="105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H34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5BC3CE22-0A40-B76F-991B-17334DF24DD5}"/>
              </a:ext>
            </a:extLst>
          </p:cNvPr>
          <p:cNvCxnSpPr>
            <a:cxnSpLocks/>
            <a:stCxn id="9" idx="2"/>
            <a:endCxn id="33" idx="0"/>
          </p:cNvCxnSpPr>
          <p:nvPr/>
        </p:nvCxnSpPr>
        <p:spPr>
          <a:xfrm>
            <a:off x="8122617" y="4433910"/>
            <a:ext cx="1056060" cy="799874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3" name="Connector 15">
            <a:extLst>
              <a:ext uri="{FF2B5EF4-FFF2-40B4-BE49-F238E27FC236}">
                <a16:creationId xmlns:a16="http://schemas.microsoft.com/office/drawing/2014/main" id="{3F1A5DF9-AB02-CCA0-68F7-90EC11BB9336}"/>
              </a:ext>
            </a:extLst>
          </p:cNvPr>
          <p:cNvCxnSpPr>
            <a:cxnSpLocks/>
            <a:stCxn id="9" idx="2"/>
            <a:endCxn id="55" idx="0"/>
          </p:cNvCxnSpPr>
          <p:nvPr/>
        </p:nvCxnSpPr>
        <p:spPr>
          <a:xfrm flipH="1">
            <a:off x="7167978" y="4433910"/>
            <a:ext cx="954639" cy="794959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8" name="Connector 15">
            <a:extLst>
              <a:ext uri="{FF2B5EF4-FFF2-40B4-BE49-F238E27FC236}">
                <a16:creationId xmlns:a16="http://schemas.microsoft.com/office/drawing/2014/main" id="{324772A2-F1FF-2011-EE1B-C022E1AB53DA}"/>
              </a:ext>
            </a:extLst>
          </p:cNvPr>
          <p:cNvCxnSpPr>
            <a:cxnSpLocks/>
            <a:stCxn id="13" idx="2"/>
            <a:endCxn id="59" idx="0"/>
          </p:cNvCxnSpPr>
          <p:nvPr/>
        </p:nvCxnSpPr>
        <p:spPr>
          <a:xfrm>
            <a:off x="4292297" y="4422598"/>
            <a:ext cx="971873" cy="811678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29" name="Connector 15">
            <a:extLst>
              <a:ext uri="{FF2B5EF4-FFF2-40B4-BE49-F238E27FC236}">
                <a16:creationId xmlns:a16="http://schemas.microsoft.com/office/drawing/2014/main" id="{EC668D8E-6B3E-BD8D-2F32-350DB26AA8F9}"/>
              </a:ext>
            </a:extLst>
          </p:cNvPr>
          <p:cNvCxnSpPr>
            <a:cxnSpLocks/>
            <a:stCxn id="13" idx="2"/>
            <a:endCxn id="57" idx="0"/>
          </p:cNvCxnSpPr>
          <p:nvPr/>
        </p:nvCxnSpPr>
        <p:spPr>
          <a:xfrm flipH="1">
            <a:off x="3279310" y="4422598"/>
            <a:ext cx="1012987" cy="811190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1C32F6C5-DE20-BC93-159D-6375592F0AB5}"/>
              </a:ext>
            </a:extLst>
          </p:cNvPr>
          <p:cNvSpPr/>
          <p:nvPr/>
        </p:nvSpPr>
        <p:spPr>
          <a:xfrm>
            <a:off x="16515252" y="1830429"/>
            <a:ext cx="1416960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الحدث </a:t>
            </a: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1234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34</a:t>
            </a:r>
            <a:r>
              <a:rPr lang="ar-SY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H1</a:t>
            </a:r>
          </a:p>
        </p:txBody>
      </p:sp>
      <p:cxnSp>
        <p:nvCxnSpPr>
          <p:cNvPr id="41" name="Connector 15">
            <a:extLst>
              <a:ext uri="{FF2B5EF4-FFF2-40B4-BE49-F238E27FC236}">
                <a16:creationId xmlns:a16="http://schemas.microsoft.com/office/drawing/2014/main" id="{A6EB1B83-72B1-7D45-8F39-A785AD2111A3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 flipH="1">
            <a:off x="4292297" y="2757971"/>
            <a:ext cx="1805670" cy="750587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cxnSp>
        <p:nvCxnSpPr>
          <p:cNvPr id="42" name="Connector 15">
            <a:extLst>
              <a:ext uri="{FF2B5EF4-FFF2-40B4-BE49-F238E27FC236}">
                <a16:creationId xmlns:a16="http://schemas.microsoft.com/office/drawing/2014/main" id="{D08C43B4-CE80-B5B8-B97E-A50823996D0B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>
            <a:off x="6097967" y="2757971"/>
            <a:ext cx="2024650" cy="761899"/>
          </a:xfrm>
          <a:prstGeom prst="straightConnector1">
            <a:avLst/>
          </a:prstGeom>
          <a:ln w="16510">
            <a:solidFill>
              <a:srgbClr val="0E6C61"/>
            </a:solidFill>
          </a:ln>
        </p:spPr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CED1996C-16EB-0838-FBD7-1C8A59ACC38D}"/>
              </a:ext>
            </a:extLst>
          </p:cNvPr>
          <p:cNvSpPr/>
          <p:nvPr/>
        </p:nvSpPr>
        <p:spPr>
          <a:xfrm flipH="1">
            <a:off x="7195021" y="1926285"/>
            <a:ext cx="927595" cy="730942"/>
          </a:xfrm>
          <a:prstGeom prst="rightArrow">
            <a:avLst/>
          </a:prstGeom>
          <a:solidFill>
            <a:srgbClr val="0A4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54" name="Picture 6" descr="image.png">
            <a:extLst>
              <a:ext uri="{FF2B5EF4-FFF2-40B4-BE49-F238E27FC236}">
                <a16:creationId xmlns:a16="http://schemas.microsoft.com/office/drawing/2014/main" id="{CA0D8F3C-4E40-1D7F-871E-2F15AE751B10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2505791" y="204455"/>
            <a:ext cx="2194560" cy="14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5AAB094A-85F4-A94F-6040-A900250FE15A}"/>
              </a:ext>
            </a:extLst>
          </p:cNvPr>
          <p:cNvSpPr/>
          <p:nvPr/>
        </p:nvSpPr>
        <p:spPr>
          <a:xfrm>
            <a:off x="8440576" y="1851686"/>
            <a:ext cx="1660922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Prev Checkpoint</a:t>
            </a:r>
            <a:endParaRPr lang="en-US" sz="105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defTabSz="914400" rtl="1">
              <a:lnSpc>
                <a:spcPct val="100000"/>
              </a:lnSpc>
            </a:pPr>
            <a:r>
              <a:rPr lang="en-US" sz="105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 = null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08F7EC34-AC0D-85E3-5FA9-CC8292B7B7DA}"/>
              </a:ext>
            </a:extLst>
          </p:cNvPr>
          <p:cNvSpPr/>
          <p:nvPr/>
        </p:nvSpPr>
        <p:spPr>
          <a:xfrm>
            <a:off x="18235774" y="2050408"/>
            <a:ext cx="584314" cy="593164"/>
          </a:xfrm>
          <a:prstGeom prst="mathPlus">
            <a:avLst/>
          </a:prstGeom>
          <a:solidFill>
            <a:srgbClr val="385F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85703AEC-AA9D-A22F-2FD4-D0F08D3D3130}"/>
              </a:ext>
            </a:extLst>
          </p:cNvPr>
          <p:cNvSpPr/>
          <p:nvPr/>
        </p:nvSpPr>
        <p:spPr>
          <a:xfrm>
            <a:off x="5194849" y="1843931"/>
            <a:ext cx="1806235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Checkpoint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5BA2346-B03C-D222-A06D-CB834443EF05}"/>
              </a:ext>
            </a:extLst>
          </p:cNvPr>
          <p:cNvSpPr/>
          <p:nvPr/>
        </p:nvSpPr>
        <p:spPr>
          <a:xfrm flipH="1">
            <a:off x="3098995" y="1858761"/>
            <a:ext cx="1806235" cy="914040"/>
          </a:xfrm>
          <a:prstGeom prst="rightArrow">
            <a:avLst/>
          </a:prstGeom>
          <a:solidFill>
            <a:srgbClr val="385F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ed25519</a:t>
            </a: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A375622-2185-E3A9-7551-383437365783}"/>
              </a:ext>
            </a:extLst>
          </p:cNvPr>
          <p:cNvSpPr/>
          <p:nvPr/>
        </p:nvSpPr>
        <p:spPr>
          <a:xfrm>
            <a:off x="764595" y="1948757"/>
            <a:ext cx="1806235" cy="914040"/>
          </a:xfrm>
          <a:prstGeom prst="roundRect">
            <a:avLst>
              <a:gd name="adj" fmla="val 16667"/>
            </a:avLst>
          </a:prstGeom>
          <a:solidFill>
            <a:srgbClr val="FBF8F0"/>
          </a:solidFill>
          <a:ln w="19050">
            <a:solidFill>
              <a:srgbClr val="C29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20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Signed Checkpoint</a:t>
            </a:r>
            <a:endParaRPr lang="ar-SY" sz="20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52914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78B3-1E6E-ED79-9543-49965B1E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495CA7-BD7A-84C4-AB8B-6AB26075D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EB0D35-5FA1-D2FB-EC35-072913009BF4}"/>
              </a:ext>
            </a:extLst>
          </p:cNvPr>
          <p:cNvSpPr txBox="1"/>
          <p:nvPr/>
        </p:nvSpPr>
        <p:spPr>
          <a:xfrm>
            <a:off x="845574" y="2635200"/>
            <a:ext cx="6825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80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سابعاً: الخاتمة</a:t>
            </a:r>
            <a:endParaRPr lang="en-US" sz="80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8AE01-6D22-28F8-72EB-2B0FC5ABBD99}"/>
              </a:ext>
            </a:extLst>
          </p:cNvPr>
          <p:cNvSpPr txBox="1"/>
          <p:nvPr/>
        </p:nvSpPr>
        <p:spPr>
          <a:xfrm>
            <a:off x="9997440" y="4439920"/>
            <a:ext cx="66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7</a:t>
            </a:r>
            <a:endParaRPr lang="en-US" sz="4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7622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B53C-1D8A-42C6-36A2-D853856E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967FB9-2E72-2288-DA54-63E12786B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6CEAE3-0C8F-32A0-124A-1DC7E43C8FF5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الخاتمة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B21278-DFD4-EF65-0816-89F0B0A84FC9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319AF4-ADD0-FE2C-996E-2387982A763F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1E69A-6665-C253-7646-BE616B4556C1}"/>
              </a:ext>
            </a:extLst>
          </p:cNvPr>
          <p:cNvSpPr txBox="1"/>
          <p:nvPr/>
        </p:nvSpPr>
        <p:spPr>
          <a:xfrm>
            <a:off x="4550495" y="866328"/>
            <a:ext cx="7291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الاختبارات والنتائج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6822F1-5745-4113-EEE9-C3C6F95CFBDD}"/>
              </a:ext>
            </a:extLst>
          </p:cNvPr>
          <p:cNvSpPr/>
          <p:nvPr/>
        </p:nvSpPr>
        <p:spPr>
          <a:xfrm>
            <a:off x="8507391" y="2055323"/>
            <a:ext cx="2893671" cy="222233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ar-SY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endParaRPr lang="ar-SY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r>
              <a:rPr lang="ar-SY" sz="28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مفتاح ترجمة</a:t>
            </a:r>
          </a:p>
          <a:p>
            <a:pPr algn="ctr" rtl="1"/>
            <a:r>
              <a:rPr lang="ar-SY" sz="28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تطابق الترجمات بين العربية والانكليزية</a:t>
            </a:r>
            <a:endParaRPr lang="en-US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57BF480-B242-0941-3372-E7294CAA8DD2}"/>
              </a:ext>
            </a:extLst>
          </p:cNvPr>
          <p:cNvSpPr/>
          <p:nvPr/>
        </p:nvSpPr>
        <p:spPr>
          <a:xfrm>
            <a:off x="8507392" y="2055323"/>
            <a:ext cx="2893670" cy="512876"/>
          </a:xfrm>
          <a:prstGeom prst="roundRect">
            <a:avLst>
              <a:gd name="adj" fmla="val 50000"/>
            </a:avLst>
          </a:prstGeom>
          <a:solidFill>
            <a:srgbClr val="0A4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869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C414417-A8BB-D63A-77F1-6168DEEB19DA}"/>
              </a:ext>
            </a:extLst>
          </p:cNvPr>
          <p:cNvSpPr/>
          <p:nvPr/>
        </p:nvSpPr>
        <p:spPr>
          <a:xfrm>
            <a:off x="4649164" y="2055323"/>
            <a:ext cx="2893671" cy="222233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ar-SY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endParaRPr lang="ar-SY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r>
              <a:rPr lang="ar-SY" sz="28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اختباراً ناجحاً</a:t>
            </a:r>
          </a:p>
          <a:p>
            <a:pPr algn="ctr" rtl="1"/>
            <a:r>
              <a:rPr lang="ar-SY" sz="28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المجموعة المركزة للتطوير والأمان</a:t>
            </a:r>
            <a:endParaRPr lang="en-US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EB884F-B45A-B680-FD2A-486D8E3427D6}"/>
              </a:ext>
            </a:extLst>
          </p:cNvPr>
          <p:cNvSpPr/>
          <p:nvPr/>
        </p:nvSpPr>
        <p:spPr>
          <a:xfrm>
            <a:off x="4654957" y="2055323"/>
            <a:ext cx="2893670" cy="512876"/>
          </a:xfrm>
          <a:prstGeom prst="roundRect">
            <a:avLst>
              <a:gd name="adj" fmla="val 50000"/>
            </a:avLst>
          </a:prstGeom>
          <a:solidFill>
            <a:srgbClr val="0A4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213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9B6DD0E-5193-51DB-EFA2-25DCD4ED6725}"/>
              </a:ext>
            </a:extLst>
          </p:cNvPr>
          <p:cNvSpPr/>
          <p:nvPr/>
        </p:nvSpPr>
        <p:spPr>
          <a:xfrm>
            <a:off x="790937" y="2055323"/>
            <a:ext cx="2893671" cy="222233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ar-SY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endParaRPr lang="ar-SY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endParaRPr lang="ar-SY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/>
            <a:r>
              <a:rPr lang="ar-SY" sz="28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اختباراً ناجحاً</a:t>
            </a:r>
          </a:p>
          <a:p>
            <a:pPr algn="ctr" rtl="1"/>
            <a:r>
              <a:rPr lang="ar-SY" sz="2800" dirty="0">
                <a:solidFill>
                  <a:sysClr val="windowText" lastClr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اختبارات للواجهة الخلفية دون أي فشل</a:t>
            </a:r>
          </a:p>
          <a:p>
            <a:pPr algn="ctr" rtl="1"/>
            <a:endParaRPr lang="en-US" sz="2800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D94407-B6B3-8A37-8473-1E34186D568B}"/>
              </a:ext>
            </a:extLst>
          </p:cNvPr>
          <p:cNvSpPr/>
          <p:nvPr/>
        </p:nvSpPr>
        <p:spPr>
          <a:xfrm>
            <a:off x="790938" y="2055323"/>
            <a:ext cx="2893670" cy="512876"/>
          </a:xfrm>
          <a:prstGeom prst="roundRect">
            <a:avLst>
              <a:gd name="adj" fmla="val 50000"/>
            </a:avLst>
          </a:prstGeom>
          <a:solidFill>
            <a:srgbClr val="0A4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384</a:t>
            </a:r>
            <a:endParaRPr lang="en-US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" name="Rounded Rectangle 21">
            <a:extLst>
              <a:ext uri="{FF2B5EF4-FFF2-40B4-BE49-F238E27FC236}">
                <a16:creationId xmlns:a16="http://schemas.microsoft.com/office/drawing/2014/main" id="{C89C18B5-5CD7-C949-FD9E-4E89FCDE5799}"/>
              </a:ext>
            </a:extLst>
          </p:cNvPr>
          <p:cNvSpPr/>
          <p:nvPr/>
        </p:nvSpPr>
        <p:spPr>
          <a:xfrm>
            <a:off x="1053875" y="4485771"/>
            <a:ext cx="2423160" cy="1081652"/>
          </a:xfrm>
          <a:prstGeom prst="roundRect">
            <a:avLst/>
          </a:prstGeom>
          <a:solidFill>
            <a:srgbClr val="F3F0E8"/>
          </a:solidFill>
          <a:ln w="1143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FD77E37-EC61-FD18-7FCF-448EA1BAA653}"/>
              </a:ext>
            </a:extLst>
          </p:cNvPr>
          <p:cNvSpPr/>
          <p:nvPr/>
        </p:nvSpPr>
        <p:spPr>
          <a:xfrm>
            <a:off x="3047267" y="4613787"/>
            <a:ext cx="292608" cy="292608"/>
          </a:xfrm>
          <a:prstGeom prst="ellipse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DFE03D-B200-6D0D-30D5-A72E295E6D64}"/>
              </a:ext>
            </a:extLst>
          </p:cNvPr>
          <p:cNvSpPr txBox="1"/>
          <p:nvPr/>
        </p:nvSpPr>
        <p:spPr>
          <a:xfrm>
            <a:off x="3070127" y="4640147"/>
            <a:ext cx="246888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✓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B2F96C-6F73-A576-8D12-88688860FD5E}"/>
              </a:ext>
            </a:extLst>
          </p:cNvPr>
          <p:cNvSpPr txBox="1"/>
          <p:nvPr/>
        </p:nvSpPr>
        <p:spPr>
          <a:xfrm>
            <a:off x="1218466" y="4569448"/>
            <a:ext cx="173736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 rtl="1"/>
            <a:r>
              <a:rPr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</a:t>
            </a:r>
            <a:endParaRPr sz="15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F6C085-F788-2529-3B18-5DA19A3FC884}"/>
              </a:ext>
            </a:extLst>
          </p:cNvPr>
          <p:cNvSpPr txBox="1"/>
          <p:nvPr/>
        </p:nvSpPr>
        <p:spPr>
          <a:xfrm>
            <a:off x="1218466" y="4956774"/>
            <a:ext cx="2093976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 err="1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Typecheck</a:t>
            </a:r>
            <a:r>
              <a:rPr sz="1600" b="0" dirty="0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+ Production Build</a:t>
            </a:r>
          </a:p>
        </p:txBody>
      </p:sp>
      <p:sp>
        <p:nvSpPr>
          <p:cNvPr id="56" name="Rounded Rectangle 26">
            <a:extLst>
              <a:ext uri="{FF2B5EF4-FFF2-40B4-BE49-F238E27FC236}">
                <a16:creationId xmlns:a16="http://schemas.microsoft.com/office/drawing/2014/main" id="{6F69B6C0-576B-DDEA-14B2-6BED624602ED}"/>
              </a:ext>
            </a:extLst>
          </p:cNvPr>
          <p:cNvSpPr/>
          <p:nvPr/>
        </p:nvSpPr>
        <p:spPr>
          <a:xfrm>
            <a:off x="4606723" y="4485770"/>
            <a:ext cx="2976199" cy="1081651"/>
          </a:xfrm>
          <a:prstGeom prst="roundRect">
            <a:avLst/>
          </a:prstGeom>
          <a:solidFill>
            <a:srgbClr val="F3F0E8"/>
          </a:solidFill>
          <a:ln w="1143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2A6E67B-8770-3128-AFCF-8F98D832A3E6}"/>
              </a:ext>
            </a:extLst>
          </p:cNvPr>
          <p:cNvSpPr/>
          <p:nvPr/>
        </p:nvSpPr>
        <p:spPr>
          <a:xfrm>
            <a:off x="7153154" y="4613787"/>
            <a:ext cx="292608" cy="292608"/>
          </a:xfrm>
          <a:prstGeom prst="ellipse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8016BE-722C-4BD4-C91B-C7B6DEFE8AB6}"/>
              </a:ext>
            </a:extLst>
          </p:cNvPr>
          <p:cNvSpPr txBox="1"/>
          <p:nvPr/>
        </p:nvSpPr>
        <p:spPr>
          <a:xfrm>
            <a:off x="7176013" y="4640147"/>
            <a:ext cx="246888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✓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9DB644-1399-8317-0736-93532E3D0820}"/>
              </a:ext>
            </a:extLst>
          </p:cNvPr>
          <p:cNvSpPr txBox="1"/>
          <p:nvPr/>
        </p:nvSpPr>
        <p:spPr>
          <a:xfrm>
            <a:off x="5324354" y="4569448"/>
            <a:ext cx="173736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 rtl="1"/>
            <a:r>
              <a:rPr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Compose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D986E7-D5F7-B59C-6340-FC3434E8F866}"/>
              </a:ext>
            </a:extLst>
          </p:cNvPr>
          <p:cNvSpPr txBox="1"/>
          <p:nvPr/>
        </p:nvSpPr>
        <p:spPr>
          <a:xfrm>
            <a:off x="4846445" y="4929411"/>
            <a:ext cx="257188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Development / Production</a:t>
            </a:r>
          </a:p>
        </p:txBody>
      </p:sp>
      <p:sp>
        <p:nvSpPr>
          <p:cNvPr id="79" name="Rounded Rectangle 36">
            <a:extLst>
              <a:ext uri="{FF2B5EF4-FFF2-40B4-BE49-F238E27FC236}">
                <a16:creationId xmlns:a16="http://schemas.microsoft.com/office/drawing/2014/main" id="{07D2785E-6253-7B8A-A9A4-E6708828E2C8}"/>
              </a:ext>
            </a:extLst>
          </p:cNvPr>
          <p:cNvSpPr/>
          <p:nvPr/>
        </p:nvSpPr>
        <p:spPr>
          <a:xfrm>
            <a:off x="8660639" y="4485771"/>
            <a:ext cx="2542032" cy="1081650"/>
          </a:xfrm>
          <a:prstGeom prst="roundRect">
            <a:avLst/>
          </a:prstGeom>
          <a:solidFill>
            <a:srgbClr val="F3F0E8"/>
          </a:solidFill>
          <a:ln w="1143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9C2DCEC-0A27-41EA-A11D-167DEF0BDB0F}"/>
              </a:ext>
            </a:extLst>
          </p:cNvPr>
          <p:cNvSpPr/>
          <p:nvPr/>
        </p:nvSpPr>
        <p:spPr>
          <a:xfrm>
            <a:off x="10772903" y="4613787"/>
            <a:ext cx="292608" cy="292608"/>
          </a:xfrm>
          <a:prstGeom prst="ellipse">
            <a:avLst/>
          </a:prstGeom>
          <a:solidFill>
            <a:srgbClr val="00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E447A71-FE68-4C71-2F40-69D44BE7A40F}"/>
              </a:ext>
            </a:extLst>
          </p:cNvPr>
          <p:cNvSpPr txBox="1"/>
          <p:nvPr/>
        </p:nvSpPr>
        <p:spPr>
          <a:xfrm>
            <a:off x="10795763" y="4640147"/>
            <a:ext cx="246888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✓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FEC050A-6637-46FA-A6B5-BFD618EAEC7B}"/>
              </a:ext>
            </a:extLst>
          </p:cNvPr>
          <p:cNvSpPr txBox="1"/>
          <p:nvPr/>
        </p:nvSpPr>
        <p:spPr>
          <a:xfrm>
            <a:off x="8825231" y="4569448"/>
            <a:ext cx="1856231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 rtl="1"/>
            <a:r>
              <a:rPr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E2E + Merkle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6B52A7-DE72-D7AB-084E-01F0A8DE0F4A}"/>
              </a:ext>
            </a:extLst>
          </p:cNvPr>
          <p:cNvSpPr txBox="1"/>
          <p:nvPr/>
        </p:nvSpPr>
        <p:spPr>
          <a:xfrm>
            <a:off x="8825231" y="4929410"/>
            <a:ext cx="221284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 rtl="1"/>
            <a:r>
              <a:rPr sz="1600" b="0" dirty="0" err="1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سيناريو</a:t>
            </a:r>
            <a:r>
              <a:rPr sz="1600" b="0" dirty="0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1600" b="0" dirty="0" err="1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متكام</a:t>
            </a:r>
            <a:r>
              <a:rPr lang="ar-SY" sz="1600" b="0" dirty="0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 + </a:t>
            </a:r>
            <a:r>
              <a:rPr sz="1600" b="0" dirty="0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1600" b="0" dirty="0" err="1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كشف</a:t>
            </a:r>
            <a:r>
              <a:rPr sz="1600" b="0" dirty="0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1600" b="0" dirty="0" err="1">
                <a:solidFill>
                  <a:srgbClr val="6A737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التلاعب</a:t>
            </a:r>
            <a:endParaRPr sz="1600" b="0" dirty="0">
              <a:solidFill>
                <a:srgbClr val="6A737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9" name="Rounded Rectangle 41">
            <a:extLst>
              <a:ext uri="{FF2B5EF4-FFF2-40B4-BE49-F238E27FC236}">
                <a16:creationId xmlns:a16="http://schemas.microsoft.com/office/drawing/2014/main" id="{F9C95089-6DAE-AF7A-B3B2-B82D79AC289F}"/>
              </a:ext>
            </a:extLst>
          </p:cNvPr>
          <p:cNvSpPr/>
          <p:nvPr/>
        </p:nvSpPr>
        <p:spPr>
          <a:xfrm>
            <a:off x="2011680" y="5855980"/>
            <a:ext cx="8183879" cy="566928"/>
          </a:xfrm>
          <a:prstGeom prst="roundRect">
            <a:avLst/>
          </a:prstGeom>
          <a:solidFill>
            <a:srgbClr val="F8F5ED"/>
          </a:solidFill>
          <a:ln w="12700">
            <a:solidFill>
              <a:srgbClr val="BD9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Y" b="1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نجحت الوظائف الأساسية ومسارات التكامل والأمان والموثوقية ضمن نطاق المشروع</a:t>
            </a:r>
            <a:endParaRPr lang="ar-SY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04585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1AB6-5CBA-FA0A-181F-56FC875F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A8E16D-2F96-A5E2-09FD-4B0AFC392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C86516-3BB6-0D9A-48A4-6A20FD4DAF10}"/>
              </a:ext>
            </a:extLst>
          </p:cNvPr>
          <p:cNvSpPr txBox="1"/>
          <p:nvPr/>
        </p:nvSpPr>
        <p:spPr>
          <a:xfrm>
            <a:off x="9479280" y="233680"/>
            <a:ext cx="2375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الخاتمة</a:t>
            </a:r>
            <a:endParaRPr lang="en-US" sz="2800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77FDB5-53EF-857D-8FB6-6ACCB3B2FBE5}"/>
              </a:ext>
            </a:extLst>
          </p:cNvPr>
          <p:cNvCxnSpPr/>
          <p:nvPr/>
        </p:nvCxnSpPr>
        <p:spPr>
          <a:xfrm flipH="1">
            <a:off x="6749750" y="750017"/>
            <a:ext cx="5043948" cy="0"/>
          </a:xfrm>
          <a:prstGeom prst="line">
            <a:avLst/>
          </a:prstGeom>
          <a:ln>
            <a:solidFill>
              <a:srgbClr val="38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F9A4AD5-405D-4920-50B9-3576E7050874}"/>
              </a:ext>
            </a:extLst>
          </p:cNvPr>
          <p:cNvSpPr txBox="1"/>
          <p:nvPr/>
        </p:nvSpPr>
        <p:spPr>
          <a:xfrm>
            <a:off x="10715427" y="5847163"/>
            <a:ext cx="47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sz="2000" b="1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38</a:t>
            </a:r>
            <a:endParaRPr lang="en-US" sz="2000" b="1" dirty="0">
              <a:solidFill>
                <a:srgbClr val="395D57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E9B5B-AC6A-F9D5-D246-F2F3CD1544BE}"/>
              </a:ext>
            </a:extLst>
          </p:cNvPr>
          <p:cNvSpPr txBox="1"/>
          <p:nvPr/>
        </p:nvSpPr>
        <p:spPr>
          <a:xfrm>
            <a:off x="4550495" y="866328"/>
            <a:ext cx="7291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4800" dirty="0">
                <a:solidFill>
                  <a:srgbClr val="395D57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الآفاق المستقبلية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235A6D-9CA6-1586-4455-371029004CD2}"/>
              </a:ext>
            </a:extLst>
          </p:cNvPr>
          <p:cNvSpPr/>
          <p:nvPr/>
        </p:nvSpPr>
        <p:spPr>
          <a:xfrm>
            <a:off x="6096000" y="1863524"/>
            <a:ext cx="5351362" cy="1565476"/>
          </a:xfrm>
          <a:prstGeom prst="roundRect">
            <a:avLst/>
          </a:prstGeom>
          <a:solidFill>
            <a:srgbClr val="FFFFFF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3FA0F0-35B5-1DA1-2FB9-B2724760DFE4}"/>
              </a:ext>
            </a:extLst>
          </p:cNvPr>
          <p:cNvSpPr/>
          <p:nvPr/>
        </p:nvSpPr>
        <p:spPr>
          <a:xfrm>
            <a:off x="10833904" y="2013995"/>
            <a:ext cx="457200" cy="457200"/>
          </a:xfrm>
          <a:prstGeom prst="ellipse">
            <a:avLst/>
          </a:prstGeom>
          <a:solidFill>
            <a:srgbClr val="BEA77E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1</a:t>
            </a:r>
            <a:endParaRPr lang="en-US" dirty="0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59254-B934-85A5-B477-55A8F0AEFC2A}"/>
              </a:ext>
            </a:extLst>
          </p:cNvPr>
          <p:cNvSpPr txBox="1"/>
          <p:nvPr/>
        </p:nvSpPr>
        <p:spPr>
          <a:xfrm>
            <a:off x="8414795" y="2013995"/>
            <a:ext cx="2176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2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تشفير أقوى</a:t>
            </a:r>
            <a:endParaRPr lang="en-US" sz="32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01C7B-699D-102C-CC18-28EB0784AD78}"/>
              </a:ext>
            </a:extLst>
          </p:cNvPr>
          <p:cNvSpPr txBox="1"/>
          <p:nvPr/>
        </p:nvSpPr>
        <p:spPr>
          <a:xfrm>
            <a:off x="6319777" y="2731625"/>
            <a:ext cx="4875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إضافة تشفير من طرف إلى طرف وتطوير إدارة المفاتيح</a:t>
            </a:r>
            <a:endParaRPr lang="en-US" sz="24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B28265-DE30-2D44-80B3-2CC92D7C0947}"/>
              </a:ext>
            </a:extLst>
          </p:cNvPr>
          <p:cNvSpPr/>
          <p:nvPr/>
        </p:nvSpPr>
        <p:spPr>
          <a:xfrm>
            <a:off x="426330" y="1865452"/>
            <a:ext cx="5351362" cy="1565476"/>
          </a:xfrm>
          <a:prstGeom prst="roundRect">
            <a:avLst/>
          </a:prstGeom>
          <a:solidFill>
            <a:srgbClr val="FFFFFF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07F811-9B87-0095-8051-1878A690C381}"/>
              </a:ext>
            </a:extLst>
          </p:cNvPr>
          <p:cNvSpPr/>
          <p:nvPr/>
        </p:nvSpPr>
        <p:spPr>
          <a:xfrm>
            <a:off x="5164234" y="2015923"/>
            <a:ext cx="457200" cy="457200"/>
          </a:xfrm>
          <a:prstGeom prst="ellipse">
            <a:avLst/>
          </a:prstGeom>
          <a:solidFill>
            <a:srgbClr val="BEA77E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0175C-55A7-1F16-41EB-D0F4F8DC490E}"/>
              </a:ext>
            </a:extLst>
          </p:cNvPr>
          <p:cNvSpPr txBox="1"/>
          <p:nvPr/>
        </p:nvSpPr>
        <p:spPr>
          <a:xfrm>
            <a:off x="2745125" y="2015923"/>
            <a:ext cx="2176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2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ذكاء اصطناعي</a:t>
            </a:r>
            <a:endParaRPr lang="en-US" sz="32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912AD6-C070-D1FA-68E3-188B33053ECF}"/>
              </a:ext>
            </a:extLst>
          </p:cNvPr>
          <p:cNvSpPr txBox="1"/>
          <p:nvPr/>
        </p:nvSpPr>
        <p:spPr>
          <a:xfrm>
            <a:off x="650107" y="2606228"/>
            <a:ext cx="487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إضافة اكتشاف شذوذ ذكي، إضافة عميل لكتابة الرسائل وشرح الرسائل الطويلة</a:t>
            </a:r>
            <a:endParaRPr lang="en-US" sz="24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7265BC-A4A8-D90D-7495-E49467BC1AE7}"/>
              </a:ext>
            </a:extLst>
          </p:cNvPr>
          <p:cNvSpPr/>
          <p:nvPr/>
        </p:nvSpPr>
        <p:spPr>
          <a:xfrm>
            <a:off x="6097928" y="3717401"/>
            <a:ext cx="5351362" cy="1565476"/>
          </a:xfrm>
          <a:prstGeom prst="roundRect">
            <a:avLst/>
          </a:prstGeom>
          <a:solidFill>
            <a:srgbClr val="FFFFFF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5CE4C78-43CE-2882-69A6-83D8E44D873D}"/>
              </a:ext>
            </a:extLst>
          </p:cNvPr>
          <p:cNvSpPr/>
          <p:nvPr/>
        </p:nvSpPr>
        <p:spPr>
          <a:xfrm>
            <a:off x="10835832" y="3867872"/>
            <a:ext cx="457200" cy="457200"/>
          </a:xfrm>
          <a:prstGeom prst="ellipse">
            <a:avLst/>
          </a:prstGeom>
          <a:solidFill>
            <a:srgbClr val="BEA77E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endParaRPr lang="en-US" dirty="0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9F8D99-DC47-2927-E8A2-190EC2A46B0E}"/>
              </a:ext>
            </a:extLst>
          </p:cNvPr>
          <p:cNvSpPr txBox="1"/>
          <p:nvPr/>
        </p:nvSpPr>
        <p:spPr>
          <a:xfrm>
            <a:off x="8416723" y="3867872"/>
            <a:ext cx="2176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2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محادثة </a:t>
            </a:r>
            <a:endParaRPr lang="en-US" sz="32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D04628-57DE-722C-6730-D509BDD9EA5D}"/>
              </a:ext>
            </a:extLst>
          </p:cNvPr>
          <p:cNvSpPr txBox="1"/>
          <p:nvPr/>
        </p:nvSpPr>
        <p:spPr>
          <a:xfrm>
            <a:off x="6321705" y="4585502"/>
            <a:ext cx="4875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إضافة الدردشة بين شخصين والدردشات الجماعية</a:t>
            </a:r>
            <a:endParaRPr lang="en-US" sz="24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C280988-E754-815A-A1F7-A2DD122CBD9F}"/>
              </a:ext>
            </a:extLst>
          </p:cNvPr>
          <p:cNvSpPr/>
          <p:nvPr/>
        </p:nvSpPr>
        <p:spPr>
          <a:xfrm>
            <a:off x="437908" y="3728978"/>
            <a:ext cx="5351362" cy="1565476"/>
          </a:xfrm>
          <a:prstGeom prst="roundRect">
            <a:avLst/>
          </a:prstGeom>
          <a:solidFill>
            <a:srgbClr val="FFFFFF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dirty="0">
              <a:solidFill>
                <a:sysClr val="windowText" lastClr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75079B1-2A2C-C2A2-3F10-0604CDA2B7E0}"/>
              </a:ext>
            </a:extLst>
          </p:cNvPr>
          <p:cNvSpPr/>
          <p:nvPr/>
        </p:nvSpPr>
        <p:spPr>
          <a:xfrm>
            <a:off x="5175812" y="3879449"/>
            <a:ext cx="457200" cy="457200"/>
          </a:xfrm>
          <a:prstGeom prst="ellipse">
            <a:avLst/>
          </a:prstGeom>
          <a:solidFill>
            <a:srgbClr val="BEA77E"/>
          </a:solidFill>
          <a:ln>
            <a:solidFill>
              <a:srgbClr val="BEA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4</a:t>
            </a:r>
            <a:endParaRPr lang="en-US" dirty="0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38927B-9DF8-4A2C-3112-DA0D1CC44C3B}"/>
              </a:ext>
            </a:extLst>
          </p:cNvPr>
          <p:cNvSpPr txBox="1"/>
          <p:nvPr/>
        </p:nvSpPr>
        <p:spPr>
          <a:xfrm>
            <a:off x="2756703" y="3879449"/>
            <a:ext cx="2176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200" b="1" dirty="0">
                <a:solidFill>
                  <a:srgbClr val="385F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فصل وتوزيع أذكى</a:t>
            </a:r>
            <a:endParaRPr lang="en-US" sz="3200" b="1" dirty="0">
              <a:solidFill>
                <a:srgbClr val="385F58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D7E433-5226-6578-92F7-B713B73BB683}"/>
              </a:ext>
            </a:extLst>
          </p:cNvPr>
          <p:cNvSpPr txBox="1"/>
          <p:nvPr/>
        </p:nvSpPr>
        <p:spPr>
          <a:xfrm>
            <a:off x="661685" y="4504481"/>
            <a:ext cx="487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فصل تخزين سجل الأحداث وسلامته في قاعدة بيانات منفصلة</a:t>
            </a:r>
            <a:endParaRPr lang="en-US" sz="24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76080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F0F6E-EE7F-88FE-1451-26C6D5E61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DB20AEF-28CD-348C-50EA-7EB6106D6600}"/>
              </a:ext>
            </a:extLst>
          </p:cNvPr>
          <p:cNvSpPr/>
          <p:nvPr/>
        </p:nvSpPr>
        <p:spPr>
          <a:xfrm>
            <a:off x="2979567" y="845361"/>
            <a:ext cx="491208" cy="384048"/>
          </a:xfrm>
          <a:prstGeom prst="ellipse">
            <a:avLst/>
          </a:prstGeom>
          <a:solidFill>
            <a:srgbClr val="0B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D900D-32A3-C046-4432-0583382CD11A}"/>
              </a:ext>
            </a:extLst>
          </p:cNvPr>
          <p:cNvSpPr txBox="1"/>
          <p:nvPr/>
        </p:nvSpPr>
        <p:spPr>
          <a:xfrm>
            <a:off x="3699485" y="870319"/>
            <a:ext cx="537989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dirty="0">
                <a:solidFill>
                  <a:srgbClr val="B595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Message delivered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9273E-AC61-FB33-4E26-A4B862D35A2B}"/>
              </a:ext>
            </a:extLst>
          </p:cNvPr>
          <p:cNvSpPr txBox="1"/>
          <p:nvPr/>
        </p:nvSpPr>
        <p:spPr>
          <a:xfrm>
            <a:off x="2979567" y="1751161"/>
            <a:ext cx="6549441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0" dirty="0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Hope you got the </a:t>
            </a:r>
            <a:r>
              <a:rPr sz="4000" b="1" dirty="0">
                <a:solidFill>
                  <a:srgbClr val="B59558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message</a:t>
            </a:r>
            <a:r>
              <a:rPr sz="4000" b="1" dirty="0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Y" sz="4000" b="1" dirty="0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4000" b="1" dirty="0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A56E2-C773-E5E8-A6C8-A20285C889DE}"/>
              </a:ext>
            </a:extLst>
          </p:cNvPr>
          <p:cNvSpPr txBox="1"/>
          <p:nvPr/>
        </p:nvSpPr>
        <p:spPr>
          <a:xfrm>
            <a:off x="1516625" y="3240713"/>
            <a:ext cx="5346291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sz="6600" b="1" i="0" dirty="0" err="1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شكراً</a:t>
            </a:r>
            <a:r>
              <a:rPr sz="6600" b="1" i="0" dirty="0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6600" b="1" i="0" dirty="0" err="1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لحسن</a:t>
            </a:r>
            <a:r>
              <a:rPr sz="6600" b="1" i="0" dirty="0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6600" b="1" i="0" dirty="0" err="1">
                <a:solidFill>
                  <a:srgbClr val="0B605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استماعكم</a:t>
            </a:r>
            <a:endParaRPr sz="6600" b="1" i="0" dirty="0">
              <a:solidFill>
                <a:srgbClr val="0B605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3959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1422</Words>
  <Application>Microsoft Office PowerPoint</Application>
  <PresentationFormat>Widescreen</PresentationFormat>
  <Paragraphs>629</Paragraphs>
  <Slides>40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Traditional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 Almajeed Al-Awad</dc:creator>
  <cp:lastModifiedBy>Abd Almajeed Al-Awad</cp:lastModifiedBy>
  <cp:revision>64</cp:revision>
  <dcterms:created xsi:type="dcterms:W3CDTF">2026-08-21T22:50:26Z</dcterms:created>
  <dcterms:modified xsi:type="dcterms:W3CDTF">2026-08-24T09:25:37Z</dcterms:modified>
</cp:coreProperties>
</file>